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59" r:id="rId5"/>
    <p:sldId id="260" r:id="rId6"/>
    <p:sldId id="268" r:id="rId7"/>
    <p:sldId id="270" r:id="rId8"/>
    <p:sldId id="269" r:id="rId9"/>
    <p:sldId id="271" r:id="rId10"/>
    <p:sldId id="263" r:id="rId11"/>
    <p:sldId id="264" r:id="rId12"/>
    <p:sldId id="265" r:id="rId13"/>
    <p:sldId id="266" r:id="rId14"/>
    <p:sldId id="267"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BCB5ECB-9635-4D4D-BFFC-FAFA97710DCD}">
          <p14:sldIdLst>
            <p14:sldId id="256"/>
          </p14:sldIdLst>
        </p14:section>
        <p14:section name="Untitled Section" id="{FFE1534C-AF10-475A-A4DE-F596F85DC3EF}">
          <p14:sldIdLst>
            <p14:sldId id="257"/>
            <p14:sldId id="258"/>
            <p14:sldId id="259"/>
            <p14:sldId id="260"/>
            <p14:sldId id="268"/>
            <p14:sldId id="270"/>
            <p14:sldId id="269"/>
            <p14:sldId id="271"/>
            <p14:sldId id="263"/>
            <p14:sldId id="264"/>
            <p14:sldId id="265"/>
            <p14:sldId id="266"/>
            <p14:sldId id="267"/>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906" y="6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2839755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108495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2388660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3C717B-BCF6-4ACF-9212-78DA937FFB87}"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2532031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3C717B-BCF6-4ACF-9212-78DA937FFB87}" type="datetimeFigureOut">
              <a:rPr lang="en-US" smtClean="0"/>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1197640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3C717B-BCF6-4ACF-9212-78DA937FFB87}" type="datetimeFigureOut">
              <a:rPr lang="en-US" smtClean="0"/>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2727788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3C717B-BCF6-4ACF-9212-78DA937FFB87}" type="datetimeFigureOut">
              <a:rPr lang="en-US" smtClean="0"/>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145614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3C717B-BCF6-4ACF-9212-78DA937FFB87}"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1987682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D7647C-288F-4B75-A823-098BC47F8125}" type="slidenum">
              <a:rPr lang="en-US" smtClean="0"/>
              <a:t>‹#›</a:t>
            </a:fld>
            <a:endParaRPr lang="en-US"/>
          </a:p>
        </p:txBody>
      </p:sp>
      <p:sp>
        <p:nvSpPr>
          <p:cNvPr id="5" name="Date Placeholder 4"/>
          <p:cNvSpPr>
            <a:spLocks noGrp="1"/>
          </p:cNvSpPr>
          <p:nvPr>
            <p:ph type="dt" sz="half" idx="10"/>
          </p:nvPr>
        </p:nvSpPr>
        <p:spPr/>
        <p:txBody>
          <a:bodyPr/>
          <a:lstStyle/>
          <a:p>
            <a:fld id="{A53C717B-BCF6-4ACF-9212-78DA937FFB87}" type="datetimeFigureOut">
              <a:rPr lang="en-US" smtClean="0"/>
              <a:t>7/11/2026</a:t>
            </a:fld>
            <a:endParaRPr lang="en-US"/>
          </a:p>
        </p:txBody>
      </p:sp>
    </p:spTree>
    <p:extLst>
      <p:ext uri="{BB962C8B-B14F-4D97-AF65-F5344CB8AC3E}">
        <p14:creationId xmlns:p14="http://schemas.microsoft.com/office/powerpoint/2010/main" val="1522583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3670336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43156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2736280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13675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4028326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1397775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3C717B-BCF6-4ACF-9212-78DA937FFB87}"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7647C-288F-4B75-A823-098BC47F8125}" type="slidenum">
              <a:rPr lang="en-US" smtClean="0"/>
              <a:t>‹#›</a:t>
            </a:fld>
            <a:endParaRPr lang="en-US"/>
          </a:p>
        </p:txBody>
      </p:sp>
    </p:spTree>
    <p:extLst>
      <p:ext uri="{BB962C8B-B14F-4D97-AF65-F5344CB8AC3E}">
        <p14:creationId xmlns:p14="http://schemas.microsoft.com/office/powerpoint/2010/main" val="1491177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53C717B-BCF6-4ACF-9212-78DA937FFB87}" type="datetimeFigureOut">
              <a:rPr lang="en-US" smtClean="0"/>
              <a:t>7/11/2026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1D7647C-288F-4B75-A823-098BC47F8125}" type="slidenum">
              <a:rPr lang="en-US" smtClean="0"/>
              <a:t>‹#›</a:t>
            </a:fld>
            <a:endParaRPr lang="en-US"/>
          </a:p>
        </p:txBody>
      </p:sp>
    </p:spTree>
    <p:extLst>
      <p:ext uri="{BB962C8B-B14F-4D97-AF65-F5344CB8AC3E}">
        <p14:creationId xmlns:p14="http://schemas.microsoft.com/office/powerpoint/2010/main" val="243455471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AF7A12-4021-C741-8CF3-EDA12EBCA791}"/>
              </a:ext>
            </a:extLst>
          </p:cNvPr>
          <p:cNvSpPr/>
          <p:nvPr/>
        </p:nvSpPr>
        <p:spPr>
          <a:xfrm>
            <a:off x="2941951" y="2251055"/>
            <a:ext cx="5501010" cy="1938992"/>
          </a:xfrm>
          <a:prstGeom prst="rect">
            <a:avLst/>
          </a:prstGeom>
          <a:noFill/>
        </p:spPr>
        <p:txBody>
          <a:bodyPr wrap="square" lIns="91440" tIns="45720" rIns="91440" bIns="45720">
            <a:spAutoFit/>
          </a:bodyPr>
          <a:lstStyle/>
          <a:p>
            <a:pPr algn="ctr"/>
            <a:r>
              <a:rPr lang="en-US" sz="6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SCOPE IN JAVASCRIPT</a:t>
            </a:r>
          </a:p>
        </p:txBody>
      </p:sp>
    </p:spTree>
    <p:extLst>
      <p:ext uri="{BB962C8B-B14F-4D97-AF65-F5344CB8AC3E}">
        <p14:creationId xmlns:p14="http://schemas.microsoft.com/office/powerpoint/2010/main" val="2595043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3AA34B-0233-857F-F926-BFE69C701B9F}"/>
              </a:ext>
            </a:extLst>
          </p:cNvPr>
          <p:cNvSpPr txBox="1"/>
          <p:nvPr/>
        </p:nvSpPr>
        <p:spPr>
          <a:xfrm>
            <a:off x="825908" y="1021479"/>
            <a:ext cx="8445912" cy="4593565"/>
          </a:xfrm>
          <a:prstGeom prst="rect">
            <a:avLst/>
          </a:prstGeom>
          <a:noFill/>
        </p:spPr>
        <p:txBody>
          <a:bodyPr wrap="square" rtlCol="0">
            <a:spAutoFit/>
          </a:bodyPr>
          <a:lstStyle/>
          <a:p>
            <a:pPr marL="342900" indent="-342900">
              <a:buFont typeface="Wingdings" panose="05000000000000000000" pitchFamily="2" charset="2"/>
              <a:buChar char="v"/>
            </a:pPr>
            <a:r>
              <a:rPr lang="en-US" sz="1950" dirty="0">
                <a:solidFill>
                  <a:schemeClr val="accent2">
                    <a:lumMod val="75000"/>
                  </a:schemeClr>
                </a:solidFill>
              </a:rPr>
              <a:t>What is a Scope?</a:t>
            </a:r>
          </a:p>
          <a:p>
            <a:r>
              <a:rPr lang="en-US" sz="1950" dirty="0"/>
              <a:t>It is a region of a program where a defined variable exists and can be recognized and beyond that region it cannot be recognized.</a:t>
            </a:r>
          </a:p>
          <a:p>
            <a:endParaRPr lang="en-US" sz="1950" dirty="0"/>
          </a:p>
          <a:p>
            <a:pPr marL="342900" indent="-342900">
              <a:buFont typeface="Wingdings" panose="05000000000000000000" pitchFamily="2" charset="2"/>
              <a:buChar char="v"/>
            </a:pPr>
            <a:r>
              <a:rPr lang="en-US" sz="1950" dirty="0">
                <a:solidFill>
                  <a:schemeClr val="accent2">
                    <a:lumMod val="75000"/>
                  </a:schemeClr>
                </a:solidFill>
              </a:rPr>
              <a:t>Types of Scope:</a:t>
            </a:r>
          </a:p>
          <a:p>
            <a:pPr marL="457200" indent="-457200">
              <a:buFont typeface="+mj-lt"/>
              <a:buAutoNum type="arabicPeriod"/>
            </a:pPr>
            <a:r>
              <a:rPr lang="en-US" sz="1950" b="1" dirty="0"/>
              <a:t>Global Scope:</a:t>
            </a:r>
            <a:r>
              <a:rPr lang="en-US" sz="1950" dirty="0"/>
              <a:t> A variable declared outside any function or block that can be accessed from anywhere in the program. </a:t>
            </a:r>
          </a:p>
          <a:p>
            <a:pPr marL="457200" indent="-457200">
              <a:buFont typeface="+mj-lt"/>
              <a:buAutoNum type="arabicPeriod"/>
            </a:pPr>
            <a:r>
              <a:rPr lang="en-US" sz="1950" b="1" dirty="0"/>
              <a:t>Function Scope (Local Scope):</a:t>
            </a:r>
            <a:r>
              <a:rPr lang="en-US" sz="1950" dirty="0"/>
              <a:t> A variable declared inside a function that can only be accessed within that function. </a:t>
            </a:r>
          </a:p>
          <a:p>
            <a:pPr marL="457200" indent="-457200">
              <a:buFont typeface="+mj-lt"/>
              <a:buAutoNum type="arabicPeriod"/>
            </a:pPr>
            <a:r>
              <a:rPr lang="en-US" sz="1950" b="1" dirty="0"/>
              <a:t>Block Scope:</a:t>
            </a:r>
            <a:r>
              <a:rPr lang="en-US" sz="1950" dirty="0"/>
              <a:t> A variable declared inside a block { }.</a:t>
            </a:r>
          </a:p>
          <a:p>
            <a:endParaRPr lang="en-US" sz="1950" dirty="0"/>
          </a:p>
          <a:p>
            <a:endParaRPr lang="en-US" sz="1950" dirty="0"/>
          </a:p>
          <a:p>
            <a:pPr marL="342900" indent="-342900">
              <a:buFont typeface="Wingdings" panose="05000000000000000000" pitchFamily="2" charset="2"/>
              <a:buChar char="v"/>
            </a:pPr>
            <a:r>
              <a:rPr lang="en-US" sz="1950" dirty="0">
                <a:solidFill>
                  <a:schemeClr val="accent2">
                    <a:lumMod val="75000"/>
                  </a:schemeClr>
                </a:solidFill>
              </a:rPr>
              <a:t>What is a Variable?</a:t>
            </a:r>
          </a:p>
          <a:p>
            <a:r>
              <a:rPr lang="en-US" sz="1950" dirty="0"/>
              <a:t>A variable is a container that stores data so it can be used later in the program. </a:t>
            </a:r>
          </a:p>
        </p:txBody>
      </p:sp>
    </p:spTree>
    <p:extLst>
      <p:ext uri="{BB962C8B-B14F-4D97-AF65-F5344CB8AC3E}">
        <p14:creationId xmlns:p14="http://schemas.microsoft.com/office/powerpoint/2010/main" val="822383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DA5A-8B3F-33AF-329D-4E83803BAE7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0F2B7EF-1C85-AD93-246A-29C9515E09EB}"/>
              </a:ext>
            </a:extLst>
          </p:cNvPr>
          <p:cNvSpPr txBox="1"/>
          <p:nvPr/>
        </p:nvSpPr>
        <p:spPr>
          <a:xfrm>
            <a:off x="796411" y="521109"/>
            <a:ext cx="8681885" cy="5793894"/>
          </a:xfrm>
          <a:prstGeom prst="rect">
            <a:avLst/>
          </a:prstGeom>
          <a:noFill/>
        </p:spPr>
        <p:txBody>
          <a:bodyPr wrap="square" rtlCol="0">
            <a:spAutoFit/>
          </a:bodyPr>
          <a:lstStyle/>
          <a:p>
            <a:pPr marL="342900" indent="-342900">
              <a:buFont typeface="Wingdings" panose="05000000000000000000" pitchFamily="2" charset="2"/>
              <a:buChar char="v"/>
            </a:pPr>
            <a:r>
              <a:rPr lang="en-US" sz="1950" dirty="0">
                <a:solidFill>
                  <a:schemeClr val="accent2">
                    <a:lumMod val="75000"/>
                  </a:schemeClr>
                </a:solidFill>
              </a:rPr>
              <a:t>Types of Scope:</a:t>
            </a:r>
          </a:p>
          <a:p>
            <a:pPr marL="342900" indent="-342900">
              <a:buFont typeface="+mj-lt"/>
              <a:buAutoNum type="arabicPeriod"/>
            </a:pPr>
            <a:r>
              <a:rPr lang="en-US" sz="1950" dirty="0"/>
              <a:t>var</a:t>
            </a:r>
          </a:p>
          <a:p>
            <a:pPr marL="342900" indent="-342900">
              <a:buFont typeface="+mj-lt"/>
              <a:buAutoNum type="arabicPeriod"/>
            </a:pPr>
            <a:r>
              <a:rPr lang="en-US" sz="1950" dirty="0"/>
              <a:t>let</a:t>
            </a:r>
          </a:p>
          <a:p>
            <a:pPr marL="342900" indent="-342900">
              <a:buFont typeface="+mj-lt"/>
              <a:buAutoNum type="arabicPeriod"/>
            </a:pPr>
            <a:r>
              <a:rPr lang="en-US" sz="1950" dirty="0"/>
              <a:t>const</a:t>
            </a:r>
          </a:p>
          <a:p>
            <a:endParaRPr lang="en-US" sz="1950" dirty="0">
              <a:solidFill>
                <a:schemeClr val="accent2">
                  <a:lumMod val="75000"/>
                </a:schemeClr>
              </a:solidFill>
            </a:endParaRPr>
          </a:p>
          <a:p>
            <a:endParaRPr lang="en-US" sz="1950" dirty="0">
              <a:solidFill>
                <a:schemeClr val="accent2">
                  <a:lumMod val="75000"/>
                </a:schemeClr>
              </a:solidFill>
            </a:endParaRPr>
          </a:p>
          <a:p>
            <a:r>
              <a:rPr lang="en-US" sz="1950" dirty="0">
                <a:solidFill>
                  <a:schemeClr val="accent2">
                    <a:lumMod val="75000"/>
                  </a:schemeClr>
                </a:solidFill>
              </a:rPr>
              <a:t>1. var</a:t>
            </a:r>
          </a:p>
          <a:p>
            <a:r>
              <a:rPr lang="en-US" sz="1950" dirty="0"/>
              <a:t>var is the old way of declaring a variable where the value can be changed, and the variable can also be declared again.</a:t>
            </a:r>
          </a:p>
          <a:p>
            <a:endParaRPr lang="en-US" sz="1950" dirty="0"/>
          </a:p>
          <a:p>
            <a:endParaRPr lang="en-US" sz="1950" dirty="0"/>
          </a:p>
          <a:p>
            <a:endParaRPr lang="en-US" sz="1950" dirty="0"/>
          </a:p>
          <a:p>
            <a:endParaRPr lang="en-US" sz="1950" dirty="0"/>
          </a:p>
          <a:p>
            <a:endParaRPr lang="en-US" sz="1950" dirty="0"/>
          </a:p>
          <a:p>
            <a:endParaRPr lang="en-US" sz="1950" dirty="0"/>
          </a:p>
          <a:p>
            <a:endParaRPr lang="en-US" sz="1950" dirty="0"/>
          </a:p>
          <a:p>
            <a:endParaRPr lang="en-US" sz="1950" dirty="0"/>
          </a:p>
          <a:p>
            <a:endParaRPr lang="en-US" sz="1950" dirty="0"/>
          </a:p>
          <a:p>
            <a:endParaRPr lang="en-US" sz="1950" dirty="0"/>
          </a:p>
        </p:txBody>
      </p:sp>
      <p:grpSp>
        <p:nvGrpSpPr>
          <p:cNvPr id="18" name="Group 17">
            <a:extLst>
              <a:ext uri="{FF2B5EF4-FFF2-40B4-BE49-F238E27FC236}">
                <a16:creationId xmlns:a16="http://schemas.microsoft.com/office/drawing/2014/main" id="{DAE58550-E75D-8E45-542B-D7ADA01DBF73}"/>
              </a:ext>
            </a:extLst>
          </p:cNvPr>
          <p:cNvGrpSpPr/>
          <p:nvPr/>
        </p:nvGrpSpPr>
        <p:grpSpPr>
          <a:xfrm>
            <a:off x="1812211" y="3681445"/>
            <a:ext cx="6043762" cy="2109765"/>
            <a:chOff x="1128296" y="1813305"/>
            <a:chExt cx="6675842" cy="2262092"/>
          </a:xfrm>
        </p:grpSpPr>
        <p:pic>
          <p:nvPicPr>
            <p:cNvPr id="8" name="Picture 7">
              <a:extLst>
                <a:ext uri="{FF2B5EF4-FFF2-40B4-BE49-F238E27FC236}">
                  <a16:creationId xmlns:a16="http://schemas.microsoft.com/office/drawing/2014/main" id="{1BD6B4AC-4583-F306-791C-D35FB4BA6EB4}"/>
                </a:ext>
              </a:extLst>
            </p:cNvPr>
            <p:cNvPicPr>
              <a:picLocks noChangeAspect="1"/>
            </p:cNvPicPr>
            <p:nvPr/>
          </p:nvPicPr>
          <p:blipFill>
            <a:blip r:embed="rId2"/>
            <a:srcRect t="28198"/>
            <a:stretch>
              <a:fillRect/>
            </a:stretch>
          </p:blipFill>
          <p:spPr>
            <a:xfrm>
              <a:off x="5470024" y="3060748"/>
              <a:ext cx="2334114" cy="1014649"/>
            </a:xfrm>
            <a:prstGeom prst="rect">
              <a:avLst/>
            </a:prstGeom>
          </p:spPr>
        </p:pic>
        <p:pic>
          <p:nvPicPr>
            <p:cNvPr id="15" name="Picture 14">
              <a:extLst>
                <a:ext uri="{FF2B5EF4-FFF2-40B4-BE49-F238E27FC236}">
                  <a16:creationId xmlns:a16="http://schemas.microsoft.com/office/drawing/2014/main" id="{7F1D920E-20B1-8213-8E04-9D2F61337A61}"/>
                </a:ext>
              </a:extLst>
            </p:cNvPr>
            <p:cNvPicPr>
              <a:picLocks noChangeAspect="1"/>
            </p:cNvPicPr>
            <p:nvPr/>
          </p:nvPicPr>
          <p:blipFill>
            <a:blip r:embed="rId3"/>
            <a:stretch>
              <a:fillRect/>
            </a:stretch>
          </p:blipFill>
          <p:spPr>
            <a:xfrm>
              <a:off x="1128296" y="2969962"/>
              <a:ext cx="3755734" cy="1105435"/>
            </a:xfrm>
            <a:prstGeom prst="rect">
              <a:avLst/>
            </a:prstGeom>
          </p:spPr>
        </p:pic>
        <p:pic>
          <p:nvPicPr>
            <p:cNvPr id="16" name="Picture 15">
              <a:extLst>
                <a:ext uri="{FF2B5EF4-FFF2-40B4-BE49-F238E27FC236}">
                  <a16:creationId xmlns:a16="http://schemas.microsoft.com/office/drawing/2014/main" id="{5195E895-99E7-CEBC-3631-AD9E3538E2C7}"/>
                </a:ext>
              </a:extLst>
            </p:cNvPr>
            <p:cNvPicPr>
              <a:picLocks noChangeAspect="1"/>
            </p:cNvPicPr>
            <p:nvPr/>
          </p:nvPicPr>
          <p:blipFill>
            <a:blip r:embed="rId4"/>
            <a:stretch>
              <a:fillRect/>
            </a:stretch>
          </p:blipFill>
          <p:spPr>
            <a:xfrm>
              <a:off x="1128297" y="1813305"/>
              <a:ext cx="3755734" cy="995233"/>
            </a:xfrm>
            <a:prstGeom prst="rect">
              <a:avLst/>
            </a:prstGeom>
          </p:spPr>
        </p:pic>
        <p:pic>
          <p:nvPicPr>
            <p:cNvPr id="17" name="Picture 16">
              <a:extLst>
                <a:ext uri="{FF2B5EF4-FFF2-40B4-BE49-F238E27FC236}">
                  <a16:creationId xmlns:a16="http://schemas.microsoft.com/office/drawing/2014/main" id="{340267C7-6960-78FC-4C01-6D20547221D2}"/>
                </a:ext>
              </a:extLst>
            </p:cNvPr>
            <p:cNvPicPr>
              <a:picLocks noChangeAspect="1"/>
            </p:cNvPicPr>
            <p:nvPr/>
          </p:nvPicPr>
          <p:blipFill>
            <a:blip r:embed="rId5"/>
            <a:srcRect t="27843"/>
            <a:stretch>
              <a:fillRect/>
            </a:stretch>
          </p:blipFill>
          <p:spPr>
            <a:xfrm>
              <a:off x="5470024" y="1813305"/>
              <a:ext cx="2334114" cy="995233"/>
            </a:xfrm>
            <a:prstGeom prst="rect">
              <a:avLst/>
            </a:prstGeom>
          </p:spPr>
        </p:pic>
      </p:grpSp>
    </p:spTree>
    <p:extLst>
      <p:ext uri="{BB962C8B-B14F-4D97-AF65-F5344CB8AC3E}">
        <p14:creationId xmlns:p14="http://schemas.microsoft.com/office/powerpoint/2010/main" val="3367930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0319F-6B2E-B65A-D60D-FB413767C3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D7A911-36E6-2B9E-A88F-DCD881D9FDAF}"/>
              </a:ext>
            </a:extLst>
          </p:cNvPr>
          <p:cNvSpPr txBox="1"/>
          <p:nvPr/>
        </p:nvSpPr>
        <p:spPr>
          <a:xfrm>
            <a:off x="737419" y="521109"/>
            <a:ext cx="8681885" cy="5386090"/>
          </a:xfrm>
          <a:prstGeom prst="rect">
            <a:avLst/>
          </a:prstGeom>
          <a:noFill/>
        </p:spPr>
        <p:txBody>
          <a:bodyPr wrap="square" rtlCol="0">
            <a:spAutoFit/>
          </a:bodyPr>
          <a:lstStyle/>
          <a:p>
            <a:r>
              <a:rPr lang="en-US" sz="1950" dirty="0">
                <a:solidFill>
                  <a:schemeClr val="accent2">
                    <a:lumMod val="75000"/>
                  </a:schemeClr>
                </a:solidFill>
              </a:rPr>
              <a:t>2. let</a:t>
            </a:r>
          </a:p>
          <a:p>
            <a:r>
              <a:rPr lang="en-US" sz="1950" dirty="0"/>
              <a:t>let was introduced in ES6 in 2015 is used to declare a variable whose value can be changed later, but it cannot be declared again in the same scope.</a:t>
            </a:r>
          </a:p>
          <a:p>
            <a:endParaRPr lang="en-US" sz="1950" dirty="0"/>
          </a:p>
          <a:p>
            <a:endParaRPr lang="en-US" sz="1950" dirty="0">
              <a:solidFill>
                <a:schemeClr val="accent2">
                  <a:lumMod val="75000"/>
                </a:schemeClr>
              </a:solidFill>
            </a:endParaRPr>
          </a:p>
          <a:p>
            <a:endParaRPr lang="en-US" sz="1950" dirty="0">
              <a:solidFill>
                <a:schemeClr val="accent2">
                  <a:lumMod val="75000"/>
                </a:schemeClr>
              </a:solidFill>
            </a:endParaRPr>
          </a:p>
          <a:p>
            <a:endParaRPr lang="en-US" sz="1950" dirty="0">
              <a:solidFill>
                <a:schemeClr val="accent2">
                  <a:lumMod val="75000"/>
                </a:schemeClr>
              </a:solidFill>
            </a:endParaRPr>
          </a:p>
          <a:p>
            <a:endParaRPr lang="en-US" sz="1950" dirty="0">
              <a:solidFill>
                <a:schemeClr val="accent2">
                  <a:lumMod val="75000"/>
                </a:schemeClr>
              </a:solidFill>
            </a:endParaRPr>
          </a:p>
          <a:p>
            <a:endParaRPr lang="en-US" sz="1950" dirty="0">
              <a:solidFill>
                <a:schemeClr val="accent2">
                  <a:lumMod val="75000"/>
                </a:schemeClr>
              </a:solidFill>
            </a:endParaRPr>
          </a:p>
          <a:p>
            <a:r>
              <a:rPr lang="en-US" sz="1950" dirty="0">
                <a:solidFill>
                  <a:schemeClr val="accent2">
                    <a:lumMod val="75000"/>
                  </a:schemeClr>
                </a:solidFill>
              </a:rPr>
              <a:t>3. const</a:t>
            </a:r>
          </a:p>
          <a:p>
            <a:r>
              <a:rPr lang="en-US" sz="1950" dirty="0"/>
              <a:t>const was also introduced in ES6 in 2015 is used to declare a variable whose value cannot be changed after it is assigned.</a:t>
            </a:r>
          </a:p>
          <a:p>
            <a:endParaRPr lang="en-US" sz="1950" dirty="0">
              <a:solidFill>
                <a:schemeClr val="accent2">
                  <a:lumMod val="75000"/>
                </a:schemeClr>
              </a:solidFill>
            </a:endParaRPr>
          </a:p>
          <a:p>
            <a:endParaRPr lang="en-US" sz="1950" dirty="0">
              <a:solidFill>
                <a:schemeClr val="accent2">
                  <a:lumMod val="75000"/>
                </a:schemeClr>
              </a:solidFill>
            </a:endParaRPr>
          </a:p>
          <a:p>
            <a:endParaRPr lang="en-US" sz="1950" dirty="0">
              <a:solidFill>
                <a:schemeClr val="accent2">
                  <a:lumMod val="75000"/>
                </a:schemeClr>
              </a:solidFill>
            </a:endParaRPr>
          </a:p>
          <a:p>
            <a:endParaRPr lang="en-US" sz="1950" dirty="0">
              <a:solidFill>
                <a:schemeClr val="accent2">
                  <a:lumMod val="75000"/>
                </a:schemeClr>
              </a:solidFill>
            </a:endParaRPr>
          </a:p>
          <a:p>
            <a:endParaRPr lang="en-US" sz="1950" dirty="0">
              <a:solidFill>
                <a:schemeClr val="accent2">
                  <a:lumMod val="75000"/>
                </a:schemeClr>
              </a:solidFill>
            </a:endParaRPr>
          </a:p>
        </p:txBody>
      </p:sp>
      <p:grpSp>
        <p:nvGrpSpPr>
          <p:cNvPr id="7" name="Group 6">
            <a:extLst>
              <a:ext uri="{FF2B5EF4-FFF2-40B4-BE49-F238E27FC236}">
                <a16:creationId xmlns:a16="http://schemas.microsoft.com/office/drawing/2014/main" id="{F345557C-34CF-9911-1CD9-C57A922553FD}"/>
              </a:ext>
            </a:extLst>
          </p:cNvPr>
          <p:cNvGrpSpPr/>
          <p:nvPr/>
        </p:nvGrpSpPr>
        <p:grpSpPr>
          <a:xfrm>
            <a:off x="1801999" y="4588435"/>
            <a:ext cx="5948842" cy="917630"/>
            <a:chOff x="1949479" y="1687919"/>
            <a:chExt cx="5948842" cy="917630"/>
          </a:xfrm>
        </p:grpSpPr>
        <p:pic>
          <p:nvPicPr>
            <p:cNvPr id="3" name="Picture 2">
              <a:extLst>
                <a:ext uri="{FF2B5EF4-FFF2-40B4-BE49-F238E27FC236}">
                  <a16:creationId xmlns:a16="http://schemas.microsoft.com/office/drawing/2014/main" id="{312DE3AB-B10D-8018-E6CE-9F89438C7397}"/>
                </a:ext>
              </a:extLst>
            </p:cNvPr>
            <p:cNvPicPr>
              <a:picLocks noChangeAspect="1"/>
            </p:cNvPicPr>
            <p:nvPr/>
          </p:nvPicPr>
          <p:blipFill>
            <a:blip r:embed="rId2"/>
            <a:stretch>
              <a:fillRect/>
            </a:stretch>
          </p:blipFill>
          <p:spPr>
            <a:xfrm>
              <a:off x="1949479" y="1687919"/>
              <a:ext cx="3523353" cy="917630"/>
            </a:xfrm>
            <a:prstGeom prst="rect">
              <a:avLst/>
            </a:prstGeom>
          </p:spPr>
        </p:pic>
        <p:pic>
          <p:nvPicPr>
            <p:cNvPr id="6" name="Picture 5">
              <a:extLst>
                <a:ext uri="{FF2B5EF4-FFF2-40B4-BE49-F238E27FC236}">
                  <a16:creationId xmlns:a16="http://schemas.microsoft.com/office/drawing/2014/main" id="{E1F4671B-788E-0920-C96F-8FF85CDDE0A1}"/>
                </a:ext>
              </a:extLst>
            </p:cNvPr>
            <p:cNvPicPr>
              <a:picLocks noChangeAspect="1"/>
            </p:cNvPicPr>
            <p:nvPr/>
          </p:nvPicPr>
          <p:blipFill>
            <a:blip r:embed="rId3"/>
            <a:stretch>
              <a:fillRect/>
            </a:stretch>
          </p:blipFill>
          <p:spPr>
            <a:xfrm>
              <a:off x="5843080" y="1687919"/>
              <a:ext cx="2055241" cy="917630"/>
            </a:xfrm>
            <a:prstGeom prst="rect">
              <a:avLst/>
            </a:prstGeom>
          </p:spPr>
        </p:pic>
      </p:grpSp>
      <p:grpSp>
        <p:nvGrpSpPr>
          <p:cNvPr id="23" name="Group 22">
            <a:extLst>
              <a:ext uri="{FF2B5EF4-FFF2-40B4-BE49-F238E27FC236}">
                <a16:creationId xmlns:a16="http://schemas.microsoft.com/office/drawing/2014/main" id="{E3B8F596-60D0-75F3-A141-429038422C96}"/>
              </a:ext>
            </a:extLst>
          </p:cNvPr>
          <p:cNvGrpSpPr/>
          <p:nvPr/>
        </p:nvGrpSpPr>
        <p:grpSpPr>
          <a:xfrm>
            <a:off x="1812211" y="1893431"/>
            <a:ext cx="6018922" cy="1028789"/>
            <a:chOff x="1812211" y="5098750"/>
            <a:chExt cx="6018922" cy="1028789"/>
          </a:xfrm>
        </p:grpSpPr>
        <p:pic>
          <p:nvPicPr>
            <p:cNvPr id="9" name="Picture 8">
              <a:extLst>
                <a:ext uri="{FF2B5EF4-FFF2-40B4-BE49-F238E27FC236}">
                  <a16:creationId xmlns:a16="http://schemas.microsoft.com/office/drawing/2014/main" id="{88ABF2C3-21CA-A6F6-7AEC-FCFCA7493CD8}"/>
                </a:ext>
              </a:extLst>
            </p:cNvPr>
            <p:cNvPicPr>
              <a:picLocks noChangeAspect="1"/>
            </p:cNvPicPr>
            <p:nvPr/>
          </p:nvPicPr>
          <p:blipFill>
            <a:blip r:embed="rId4"/>
            <a:stretch>
              <a:fillRect/>
            </a:stretch>
          </p:blipFill>
          <p:spPr>
            <a:xfrm>
              <a:off x="1812211" y="5098750"/>
              <a:ext cx="3543607" cy="1028789"/>
            </a:xfrm>
            <a:prstGeom prst="rect">
              <a:avLst/>
            </a:prstGeom>
          </p:spPr>
        </p:pic>
        <p:pic>
          <p:nvPicPr>
            <p:cNvPr id="10" name="Picture 9">
              <a:extLst>
                <a:ext uri="{FF2B5EF4-FFF2-40B4-BE49-F238E27FC236}">
                  <a16:creationId xmlns:a16="http://schemas.microsoft.com/office/drawing/2014/main" id="{9682C8DF-99CE-D3F5-AA7E-667E1EA4B747}"/>
                </a:ext>
              </a:extLst>
            </p:cNvPr>
            <p:cNvPicPr>
              <a:picLocks noChangeAspect="1"/>
            </p:cNvPicPr>
            <p:nvPr/>
          </p:nvPicPr>
          <p:blipFill>
            <a:blip r:embed="rId5"/>
            <a:srcRect t="28710"/>
            <a:stretch>
              <a:fillRect/>
            </a:stretch>
          </p:blipFill>
          <p:spPr>
            <a:xfrm>
              <a:off x="5742857" y="5164547"/>
              <a:ext cx="2088276" cy="928214"/>
            </a:xfrm>
            <a:prstGeom prst="rect">
              <a:avLst/>
            </a:prstGeom>
          </p:spPr>
        </p:pic>
      </p:grpSp>
    </p:spTree>
    <p:extLst>
      <p:ext uri="{BB962C8B-B14F-4D97-AF65-F5344CB8AC3E}">
        <p14:creationId xmlns:p14="http://schemas.microsoft.com/office/powerpoint/2010/main" val="3396050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A6B35-4D36-1452-B2A8-FB1043F1B0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CF6A99E-CF46-A849-31A4-D61AB8DF911F}"/>
              </a:ext>
            </a:extLst>
          </p:cNvPr>
          <p:cNvSpPr txBox="1"/>
          <p:nvPr/>
        </p:nvSpPr>
        <p:spPr>
          <a:xfrm>
            <a:off x="737419" y="550605"/>
            <a:ext cx="8908026" cy="1508105"/>
          </a:xfrm>
          <a:prstGeom prst="rect">
            <a:avLst/>
          </a:prstGeom>
          <a:noFill/>
        </p:spPr>
        <p:txBody>
          <a:bodyPr wrap="square" rtlCol="0">
            <a:spAutoFit/>
          </a:bodyPr>
          <a:lstStyle/>
          <a:p>
            <a:pPr algn="ctr"/>
            <a:r>
              <a:rPr lang="en-US" sz="2000" b="1" u="sng" dirty="0">
                <a:solidFill>
                  <a:schemeClr val="accent2">
                    <a:lumMod val="75000"/>
                  </a:schemeClr>
                </a:solidFill>
              </a:rPr>
              <a:t>Scope Application in Var</a:t>
            </a:r>
          </a:p>
          <a:p>
            <a:endParaRPr lang="en-US" dirty="0"/>
          </a:p>
          <a:p>
            <a:pPr marL="342900" indent="-342900">
              <a:buAutoNum type="arabicPeriod"/>
            </a:pPr>
            <a:r>
              <a:rPr lang="en-US" dirty="0"/>
              <a:t>Global Scope</a:t>
            </a:r>
          </a:p>
          <a:p>
            <a:endParaRPr lang="en-US" dirty="0"/>
          </a:p>
          <a:p>
            <a:endParaRPr lang="en-US" dirty="0"/>
          </a:p>
        </p:txBody>
      </p:sp>
      <p:pic>
        <p:nvPicPr>
          <p:cNvPr id="2" name="Picture 1">
            <a:extLst>
              <a:ext uri="{FF2B5EF4-FFF2-40B4-BE49-F238E27FC236}">
                <a16:creationId xmlns:a16="http://schemas.microsoft.com/office/drawing/2014/main" id="{479B6E46-2E48-EE89-3092-3CB3BA62DC61}"/>
              </a:ext>
            </a:extLst>
          </p:cNvPr>
          <p:cNvPicPr>
            <a:picLocks noChangeAspect="1"/>
          </p:cNvPicPr>
          <p:nvPr/>
        </p:nvPicPr>
        <p:blipFill>
          <a:blip r:embed="rId2"/>
          <a:srcRect r="9403"/>
          <a:stretch>
            <a:fillRect/>
          </a:stretch>
        </p:blipFill>
        <p:spPr>
          <a:xfrm>
            <a:off x="985989" y="1736051"/>
            <a:ext cx="4348011" cy="2483023"/>
          </a:xfrm>
          <a:prstGeom prst="rect">
            <a:avLst/>
          </a:prstGeom>
        </p:spPr>
      </p:pic>
      <p:sp>
        <p:nvSpPr>
          <p:cNvPr id="3" name="TextBox 2">
            <a:extLst>
              <a:ext uri="{FF2B5EF4-FFF2-40B4-BE49-F238E27FC236}">
                <a16:creationId xmlns:a16="http://schemas.microsoft.com/office/drawing/2014/main" id="{AF84912B-C0F5-EE99-A898-334A98BCD6CC}"/>
              </a:ext>
            </a:extLst>
          </p:cNvPr>
          <p:cNvSpPr txBox="1"/>
          <p:nvPr/>
        </p:nvSpPr>
        <p:spPr>
          <a:xfrm>
            <a:off x="5715001" y="1756861"/>
            <a:ext cx="3930444" cy="2400657"/>
          </a:xfrm>
          <a:prstGeom prst="rect">
            <a:avLst/>
          </a:prstGeom>
          <a:noFill/>
        </p:spPr>
        <p:txBody>
          <a:bodyPr wrap="square" rtlCol="0">
            <a:spAutoFit/>
          </a:bodyPr>
          <a:lstStyle/>
          <a:p>
            <a:r>
              <a:rPr lang="en-US" sz="1500" dirty="0"/>
              <a:t>As shown in the code above, when the variables are declared and initialized before the function using </a:t>
            </a:r>
            <a:r>
              <a:rPr lang="en-US" sz="1500" b="1" dirty="0"/>
              <a:t>var</a:t>
            </a:r>
            <a:r>
              <a:rPr lang="en-US" sz="1500" dirty="0"/>
              <a:t>, they are declared in the global scope. This means they can be accessed anywhere in the program. Whether they are called inside the function or outside the function, they will print the required output successfully because global variables are accessible throughout the program.</a:t>
            </a:r>
          </a:p>
        </p:txBody>
      </p:sp>
      <p:pic>
        <p:nvPicPr>
          <p:cNvPr id="4" name="Picture 3">
            <a:extLst>
              <a:ext uri="{FF2B5EF4-FFF2-40B4-BE49-F238E27FC236}">
                <a16:creationId xmlns:a16="http://schemas.microsoft.com/office/drawing/2014/main" id="{DC6E5AA8-1FAF-F3B9-A75D-5F89303F79AD}"/>
              </a:ext>
            </a:extLst>
          </p:cNvPr>
          <p:cNvPicPr>
            <a:picLocks noChangeAspect="1"/>
          </p:cNvPicPr>
          <p:nvPr/>
        </p:nvPicPr>
        <p:blipFill>
          <a:blip r:embed="rId3"/>
          <a:stretch>
            <a:fillRect/>
          </a:stretch>
        </p:blipFill>
        <p:spPr>
          <a:xfrm>
            <a:off x="985989" y="4503673"/>
            <a:ext cx="5286475" cy="1720202"/>
          </a:xfrm>
          <a:prstGeom prst="rect">
            <a:avLst/>
          </a:prstGeom>
        </p:spPr>
      </p:pic>
    </p:spTree>
    <p:extLst>
      <p:ext uri="{BB962C8B-B14F-4D97-AF65-F5344CB8AC3E}">
        <p14:creationId xmlns:p14="http://schemas.microsoft.com/office/powerpoint/2010/main" val="1415553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F7C76-7363-FE6B-3729-B094595E0FB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C9BE310-FC54-5304-7B1C-5535A1172589}"/>
              </a:ext>
            </a:extLst>
          </p:cNvPr>
          <p:cNvSpPr txBox="1"/>
          <p:nvPr/>
        </p:nvSpPr>
        <p:spPr>
          <a:xfrm>
            <a:off x="737419" y="598212"/>
            <a:ext cx="8908026" cy="923330"/>
          </a:xfrm>
          <a:prstGeom prst="rect">
            <a:avLst/>
          </a:prstGeom>
          <a:noFill/>
        </p:spPr>
        <p:txBody>
          <a:bodyPr wrap="square" rtlCol="0">
            <a:spAutoFit/>
          </a:bodyPr>
          <a:lstStyle/>
          <a:p>
            <a:r>
              <a:rPr lang="en-US" b="1" dirty="0"/>
              <a:t>2. Functional Scope</a:t>
            </a:r>
          </a:p>
          <a:p>
            <a:endParaRPr lang="en-US" dirty="0"/>
          </a:p>
          <a:p>
            <a:endParaRPr lang="en-US" dirty="0"/>
          </a:p>
        </p:txBody>
      </p:sp>
      <p:pic>
        <p:nvPicPr>
          <p:cNvPr id="2" name="Picture 1">
            <a:extLst>
              <a:ext uri="{FF2B5EF4-FFF2-40B4-BE49-F238E27FC236}">
                <a16:creationId xmlns:a16="http://schemas.microsoft.com/office/drawing/2014/main" id="{CA78A886-F100-DD3C-516C-9BFB944F6C60}"/>
              </a:ext>
            </a:extLst>
          </p:cNvPr>
          <p:cNvPicPr>
            <a:picLocks noChangeAspect="1"/>
          </p:cNvPicPr>
          <p:nvPr/>
        </p:nvPicPr>
        <p:blipFill>
          <a:blip r:embed="rId2"/>
          <a:stretch>
            <a:fillRect/>
          </a:stretch>
        </p:blipFill>
        <p:spPr>
          <a:xfrm>
            <a:off x="830580" y="1125355"/>
            <a:ext cx="5265420" cy="2644140"/>
          </a:xfrm>
          <a:prstGeom prst="rect">
            <a:avLst/>
          </a:prstGeom>
        </p:spPr>
      </p:pic>
      <p:sp>
        <p:nvSpPr>
          <p:cNvPr id="3" name="TextBox 2">
            <a:extLst>
              <a:ext uri="{FF2B5EF4-FFF2-40B4-BE49-F238E27FC236}">
                <a16:creationId xmlns:a16="http://schemas.microsoft.com/office/drawing/2014/main" id="{E3581A22-D229-0AFE-99C7-1B9E0C126D03}"/>
              </a:ext>
            </a:extLst>
          </p:cNvPr>
          <p:cNvSpPr txBox="1"/>
          <p:nvPr/>
        </p:nvSpPr>
        <p:spPr>
          <a:xfrm>
            <a:off x="734328" y="4073693"/>
            <a:ext cx="7511314" cy="1892826"/>
          </a:xfrm>
          <a:prstGeom prst="rect">
            <a:avLst/>
          </a:prstGeom>
          <a:noFill/>
        </p:spPr>
        <p:txBody>
          <a:bodyPr wrap="square" rtlCol="0">
            <a:spAutoFit/>
          </a:bodyPr>
          <a:lstStyle/>
          <a:p>
            <a:pPr algn="just"/>
            <a:r>
              <a:rPr lang="en-US" sz="1950" dirty="0"/>
              <a:t>As shown in the code above, the variables </a:t>
            </a:r>
            <a:r>
              <a:rPr lang="en-US" sz="1950" dirty="0" err="1"/>
              <a:t>studentName</a:t>
            </a:r>
            <a:r>
              <a:rPr lang="en-US" sz="1950" dirty="0"/>
              <a:t> and marks are declared inside the </a:t>
            </a:r>
            <a:r>
              <a:rPr lang="en-US" sz="1950" dirty="0" err="1"/>
              <a:t>showStudent</a:t>
            </a:r>
            <a:r>
              <a:rPr lang="en-US" sz="1950" dirty="0"/>
              <a:t>() function using var. When the function is called, both variables are printed successfully because they are being accessed within the same function. However, when we try to print </a:t>
            </a:r>
            <a:r>
              <a:rPr lang="en-US" sz="1950" dirty="0" err="1"/>
              <a:t>studentName</a:t>
            </a:r>
            <a:r>
              <a:rPr lang="en-US" sz="1950" dirty="0"/>
              <a:t> and marks outside the function, JavaScript throws a ReferenceError. </a:t>
            </a:r>
          </a:p>
        </p:txBody>
      </p:sp>
    </p:spTree>
    <p:extLst>
      <p:ext uri="{BB962C8B-B14F-4D97-AF65-F5344CB8AC3E}">
        <p14:creationId xmlns:p14="http://schemas.microsoft.com/office/powerpoint/2010/main" val="777733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D21B4-8A25-D7E5-2704-C04F0A34705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B6BA8D0-6110-5ED3-2496-9ABA0604DDB4}"/>
              </a:ext>
            </a:extLst>
          </p:cNvPr>
          <p:cNvPicPr>
            <a:picLocks noChangeAspect="1"/>
          </p:cNvPicPr>
          <p:nvPr/>
        </p:nvPicPr>
        <p:blipFill>
          <a:blip r:embed="rId2"/>
          <a:stretch>
            <a:fillRect/>
          </a:stretch>
        </p:blipFill>
        <p:spPr>
          <a:xfrm>
            <a:off x="926833" y="3063842"/>
            <a:ext cx="7382978" cy="2337128"/>
          </a:xfrm>
          <a:prstGeom prst="rect">
            <a:avLst/>
          </a:prstGeom>
        </p:spPr>
      </p:pic>
      <p:sp>
        <p:nvSpPr>
          <p:cNvPr id="8" name="TextBox 7">
            <a:extLst>
              <a:ext uri="{FF2B5EF4-FFF2-40B4-BE49-F238E27FC236}">
                <a16:creationId xmlns:a16="http://schemas.microsoft.com/office/drawing/2014/main" id="{DDA5F00B-0B7F-B325-1BD0-F9275F18A23B}"/>
              </a:ext>
            </a:extLst>
          </p:cNvPr>
          <p:cNvSpPr txBox="1"/>
          <p:nvPr/>
        </p:nvSpPr>
        <p:spPr>
          <a:xfrm>
            <a:off x="926833" y="957031"/>
            <a:ext cx="7901940" cy="1592744"/>
          </a:xfrm>
          <a:prstGeom prst="rect">
            <a:avLst/>
          </a:prstGeom>
          <a:noFill/>
        </p:spPr>
        <p:txBody>
          <a:bodyPr wrap="square">
            <a:spAutoFit/>
          </a:bodyPr>
          <a:lstStyle/>
          <a:p>
            <a:r>
              <a:rPr lang="en-US" sz="1950" dirty="0"/>
              <a:t>From this behavior, we can identify that var follows </a:t>
            </a:r>
            <a:r>
              <a:rPr lang="en-US" sz="1950" b="1" dirty="0"/>
              <a:t>function scope</a:t>
            </a:r>
            <a:r>
              <a:rPr lang="en-US" sz="1950" dirty="0"/>
              <a:t>, meaning variables declared inside a function can only be accessed within that function. Additionally, JavaScript executes the code line by line, so when it encounters the error at </a:t>
            </a:r>
            <a:r>
              <a:rPr lang="en-US" sz="1950" dirty="0" err="1"/>
              <a:t>studentName</a:t>
            </a:r>
            <a:r>
              <a:rPr lang="en-US" sz="1950" dirty="0"/>
              <a:t>, the program stops immediately and the marks statement is not execute</a:t>
            </a:r>
          </a:p>
        </p:txBody>
      </p:sp>
    </p:spTree>
    <p:extLst>
      <p:ext uri="{BB962C8B-B14F-4D97-AF65-F5344CB8AC3E}">
        <p14:creationId xmlns:p14="http://schemas.microsoft.com/office/powerpoint/2010/main" val="4229643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4D80-FCEB-4B39-4671-22CE1B7166B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6A0CA0-E51B-048A-8A48-A5819C8D4A3B}"/>
              </a:ext>
            </a:extLst>
          </p:cNvPr>
          <p:cNvSpPr txBox="1"/>
          <p:nvPr/>
        </p:nvSpPr>
        <p:spPr>
          <a:xfrm>
            <a:off x="737419" y="678422"/>
            <a:ext cx="8908026" cy="369332"/>
          </a:xfrm>
          <a:prstGeom prst="rect">
            <a:avLst/>
          </a:prstGeom>
          <a:noFill/>
        </p:spPr>
        <p:txBody>
          <a:bodyPr wrap="square" rtlCol="0">
            <a:spAutoFit/>
          </a:bodyPr>
          <a:lstStyle/>
          <a:p>
            <a:r>
              <a:rPr lang="en-US" b="1"/>
              <a:t>3. Block scope</a:t>
            </a:r>
            <a:endParaRPr lang="en-US" dirty="0"/>
          </a:p>
        </p:txBody>
      </p:sp>
      <p:pic>
        <p:nvPicPr>
          <p:cNvPr id="2" name="Picture 1">
            <a:extLst>
              <a:ext uri="{FF2B5EF4-FFF2-40B4-BE49-F238E27FC236}">
                <a16:creationId xmlns:a16="http://schemas.microsoft.com/office/drawing/2014/main" id="{6DED77F8-8B4E-47A7-EFEC-C594FFF4C0BE}"/>
              </a:ext>
            </a:extLst>
          </p:cNvPr>
          <p:cNvPicPr>
            <a:picLocks noChangeAspect="1"/>
          </p:cNvPicPr>
          <p:nvPr/>
        </p:nvPicPr>
        <p:blipFill>
          <a:blip r:embed="rId2"/>
          <a:stretch>
            <a:fillRect/>
          </a:stretch>
        </p:blipFill>
        <p:spPr>
          <a:xfrm>
            <a:off x="866473" y="1389078"/>
            <a:ext cx="5742873" cy="3334805"/>
          </a:xfrm>
          <a:prstGeom prst="rect">
            <a:avLst/>
          </a:prstGeom>
        </p:spPr>
      </p:pic>
      <p:sp>
        <p:nvSpPr>
          <p:cNvPr id="4" name="TextBox 3">
            <a:extLst>
              <a:ext uri="{FF2B5EF4-FFF2-40B4-BE49-F238E27FC236}">
                <a16:creationId xmlns:a16="http://schemas.microsoft.com/office/drawing/2014/main" id="{06B56481-F0B1-17B0-0224-CAE77436DD3D}"/>
              </a:ext>
            </a:extLst>
          </p:cNvPr>
          <p:cNvSpPr txBox="1"/>
          <p:nvPr/>
        </p:nvSpPr>
        <p:spPr>
          <a:xfrm>
            <a:off x="866473" y="5065207"/>
            <a:ext cx="6946032" cy="692497"/>
          </a:xfrm>
          <a:prstGeom prst="rect">
            <a:avLst/>
          </a:prstGeom>
          <a:noFill/>
        </p:spPr>
        <p:txBody>
          <a:bodyPr wrap="square">
            <a:spAutoFit/>
          </a:bodyPr>
          <a:lstStyle/>
          <a:p>
            <a:r>
              <a:rPr lang="en-US" sz="1950" dirty="0"/>
              <a:t>As shown in the code above, the variables result and grade are declared inside the if block using var. </a:t>
            </a:r>
            <a:endParaRPr lang="en-US" dirty="0"/>
          </a:p>
        </p:txBody>
      </p:sp>
    </p:spTree>
    <p:extLst>
      <p:ext uri="{BB962C8B-B14F-4D97-AF65-F5344CB8AC3E}">
        <p14:creationId xmlns:p14="http://schemas.microsoft.com/office/powerpoint/2010/main" val="3709816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93FEF-3712-8274-B960-16C56E6357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2F72F3F-F7C8-CFDC-86D7-A12B4EF9D03B}"/>
              </a:ext>
            </a:extLst>
          </p:cNvPr>
          <p:cNvSpPr txBox="1"/>
          <p:nvPr/>
        </p:nvSpPr>
        <p:spPr>
          <a:xfrm>
            <a:off x="737419" y="678422"/>
            <a:ext cx="8908026" cy="1892826"/>
          </a:xfrm>
          <a:prstGeom prst="rect">
            <a:avLst/>
          </a:prstGeom>
          <a:noFill/>
        </p:spPr>
        <p:txBody>
          <a:bodyPr wrap="square" rtlCol="0">
            <a:spAutoFit/>
          </a:bodyPr>
          <a:lstStyle/>
          <a:p>
            <a:r>
              <a:rPr lang="en-US" sz="1950" dirty="0"/>
              <a:t>When the code is executed, they are printed successfully inside the block. They are also printed successfully outside the if block because var does not follow block scope. From this behavior, we can identify that variables declared with var inside an if block remain accessible outside the block. Therefore, marks, result, and grade can all be accessed and printed successfully without any error.</a:t>
            </a:r>
          </a:p>
        </p:txBody>
      </p:sp>
      <p:pic>
        <p:nvPicPr>
          <p:cNvPr id="3" name="Picture 2">
            <a:extLst>
              <a:ext uri="{FF2B5EF4-FFF2-40B4-BE49-F238E27FC236}">
                <a16:creationId xmlns:a16="http://schemas.microsoft.com/office/drawing/2014/main" id="{860B3B26-1F33-A877-877A-853E0F9C0332}"/>
              </a:ext>
            </a:extLst>
          </p:cNvPr>
          <p:cNvPicPr>
            <a:picLocks noChangeAspect="1"/>
          </p:cNvPicPr>
          <p:nvPr/>
        </p:nvPicPr>
        <p:blipFill>
          <a:blip r:embed="rId2"/>
          <a:stretch>
            <a:fillRect/>
          </a:stretch>
        </p:blipFill>
        <p:spPr>
          <a:xfrm>
            <a:off x="873492" y="2867728"/>
            <a:ext cx="6561361" cy="2838049"/>
          </a:xfrm>
          <a:prstGeom prst="rect">
            <a:avLst/>
          </a:prstGeom>
        </p:spPr>
      </p:pic>
    </p:spTree>
    <p:extLst>
      <p:ext uri="{BB962C8B-B14F-4D97-AF65-F5344CB8AC3E}">
        <p14:creationId xmlns:p14="http://schemas.microsoft.com/office/powerpoint/2010/main" val="446909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0C2CA-0C62-4514-B6D7-CE22DA20C57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5DA0427-0A5F-57B4-0E57-E4BDFB895606}"/>
              </a:ext>
            </a:extLst>
          </p:cNvPr>
          <p:cNvSpPr txBox="1"/>
          <p:nvPr/>
        </p:nvSpPr>
        <p:spPr>
          <a:xfrm>
            <a:off x="737419" y="550605"/>
            <a:ext cx="8908026" cy="1446550"/>
          </a:xfrm>
          <a:prstGeom prst="rect">
            <a:avLst/>
          </a:prstGeom>
          <a:noFill/>
        </p:spPr>
        <p:txBody>
          <a:bodyPr wrap="square" rtlCol="0">
            <a:spAutoFit/>
          </a:bodyPr>
          <a:lstStyle/>
          <a:p>
            <a:pPr algn="ctr"/>
            <a:r>
              <a:rPr lang="en-US" sz="2000" b="1" u="sng" dirty="0">
                <a:solidFill>
                  <a:schemeClr val="accent2">
                    <a:lumMod val="75000"/>
                  </a:schemeClr>
                </a:solidFill>
              </a:rPr>
              <a:t>Scope Application in let</a:t>
            </a:r>
          </a:p>
          <a:p>
            <a:endParaRPr lang="en-US" sz="1400" dirty="0"/>
          </a:p>
          <a:p>
            <a:pPr marL="342900" indent="-342900">
              <a:buFont typeface="+mj-lt"/>
              <a:buAutoNum type="arabicPeriod"/>
            </a:pPr>
            <a:r>
              <a:rPr lang="en-US" b="1" dirty="0"/>
              <a:t>Global Scope</a:t>
            </a:r>
          </a:p>
          <a:p>
            <a:endParaRPr lang="en-US" dirty="0"/>
          </a:p>
          <a:p>
            <a:endParaRPr lang="en-US" dirty="0"/>
          </a:p>
        </p:txBody>
      </p:sp>
      <p:pic>
        <p:nvPicPr>
          <p:cNvPr id="2" name="Picture 1">
            <a:extLst>
              <a:ext uri="{FF2B5EF4-FFF2-40B4-BE49-F238E27FC236}">
                <a16:creationId xmlns:a16="http://schemas.microsoft.com/office/drawing/2014/main" id="{50FE1A9F-B5FC-A06F-21D7-A631428B4DE1}"/>
              </a:ext>
            </a:extLst>
          </p:cNvPr>
          <p:cNvPicPr>
            <a:picLocks noChangeAspect="1"/>
          </p:cNvPicPr>
          <p:nvPr/>
        </p:nvPicPr>
        <p:blipFill>
          <a:blip r:embed="rId2"/>
          <a:srcRect l="16737" r="17351"/>
          <a:stretch>
            <a:fillRect/>
          </a:stretch>
        </p:blipFill>
        <p:spPr>
          <a:xfrm>
            <a:off x="914397" y="1585430"/>
            <a:ext cx="4630994" cy="2568730"/>
          </a:xfrm>
          <a:prstGeom prst="rect">
            <a:avLst/>
          </a:prstGeom>
        </p:spPr>
      </p:pic>
      <p:pic>
        <p:nvPicPr>
          <p:cNvPr id="3" name="Picture 2">
            <a:extLst>
              <a:ext uri="{FF2B5EF4-FFF2-40B4-BE49-F238E27FC236}">
                <a16:creationId xmlns:a16="http://schemas.microsoft.com/office/drawing/2014/main" id="{658DE14E-F00C-6D68-DD88-BF6ED6962BEB}"/>
              </a:ext>
            </a:extLst>
          </p:cNvPr>
          <p:cNvPicPr>
            <a:picLocks noChangeAspect="1"/>
          </p:cNvPicPr>
          <p:nvPr/>
        </p:nvPicPr>
        <p:blipFill>
          <a:blip r:embed="rId3"/>
          <a:srcRect b="20953"/>
          <a:stretch>
            <a:fillRect/>
          </a:stretch>
        </p:blipFill>
        <p:spPr>
          <a:xfrm>
            <a:off x="845572" y="4342817"/>
            <a:ext cx="7363567" cy="1556538"/>
          </a:xfrm>
          <a:prstGeom prst="rect">
            <a:avLst/>
          </a:prstGeom>
        </p:spPr>
      </p:pic>
      <p:sp>
        <p:nvSpPr>
          <p:cNvPr id="4" name="TextBox 3">
            <a:extLst>
              <a:ext uri="{FF2B5EF4-FFF2-40B4-BE49-F238E27FC236}">
                <a16:creationId xmlns:a16="http://schemas.microsoft.com/office/drawing/2014/main" id="{495DCFFA-9DA6-63BB-4431-B33BEB77B8AF}"/>
              </a:ext>
            </a:extLst>
          </p:cNvPr>
          <p:cNvSpPr txBox="1"/>
          <p:nvPr/>
        </p:nvSpPr>
        <p:spPr>
          <a:xfrm>
            <a:off x="5751870" y="1664086"/>
            <a:ext cx="3549445" cy="2446824"/>
          </a:xfrm>
          <a:prstGeom prst="rect">
            <a:avLst/>
          </a:prstGeom>
          <a:noFill/>
        </p:spPr>
        <p:txBody>
          <a:bodyPr wrap="square" rtlCol="0">
            <a:spAutoFit/>
          </a:bodyPr>
          <a:lstStyle/>
          <a:p>
            <a:r>
              <a:rPr lang="en-US" sz="1700" dirty="0">
                <a:latin typeface="+mj-lt"/>
                <a:ea typeface="Calibri Light" panose="020F0302020204030204" pitchFamily="34" charset="0"/>
                <a:cs typeface="Calibri Light" panose="020F0302020204030204" pitchFamily="34" charset="0"/>
              </a:rPr>
              <a:t>As it is shown the code on the left that when the variable is declared and initializes before the function means </a:t>
            </a:r>
            <a:r>
              <a:rPr lang="en-US" sz="1700" i="1" dirty="0">
                <a:latin typeface="+mj-lt"/>
                <a:ea typeface="Calibri Light" panose="020F0302020204030204" pitchFamily="34" charset="0"/>
                <a:cs typeface="Calibri Light" panose="020F0302020204030204" pitchFamily="34" charset="0"/>
              </a:rPr>
              <a:t>globally</a:t>
            </a:r>
            <a:r>
              <a:rPr lang="en-US" sz="1700" dirty="0">
                <a:latin typeface="+mj-lt"/>
                <a:ea typeface="Calibri Light" panose="020F0302020204030204" pitchFamily="34" charset="0"/>
                <a:cs typeface="Calibri Light" panose="020F0302020204030204" pitchFamily="34" charset="0"/>
              </a:rPr>
              <a:t> it has been declare and can be used as many times as we can. Whether it is called in the function or outside the function it will still print the text we required.</a:t>
            </a:r>
          </a:p>
        </p:txBody>
      </p:sp>
    </p:spTree>
    <p:extLst>
      <p:ext uri="{BB962C8B-B14F-4D97-AF65-F5344CB8AC3E}">
        <p14:creationId xmlns:p14="http://schemas.microsoft.com/office/powerpoint/2010/main" val="56944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DBEAC-5176-6C35-1AFA-F116719944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286BFC-8222-566C-DC24-61723B6DFC0D}"/>
              </a:ext>
            </a:extLst>
          </p:cNvPr>
          <p:cNvSpPr txBox="1"/>
          <p:nvPr/>
        </p:nvSpPr>
        <p:spPr>
          <a:xfrm>
            <a:off x="737419" y="678422"/>
            <a:ext cx="8908026" cy="923330"/>
          </a:xfrm>
          <a:prstGeom prst="rect">
            <a:avLst/>
          </a:prstGeom>
          <a:noFill/>
        </p:spPr>
        <p:txBody>
          <a:bodyPr wrap="square" rtlCol="0">
            <a:spAutoFit/>
          </a:bodyPr>
          <a:lstStyle/>
          <a:p>
            <a:r>
              <a:rPr lang="en-US" b="1" dirty="0"/>
              <a:t>2. Functional Scope</a:t>
            </a:r>
          </a:p>
          <a:p>
            <a:endParaRPr lang="en-US" dirty="0"/>
          </a:p>
          <a:p>
            <a:endParaRPr lang="en-US" dirty="0"/>
          </a:p>
        </p:txBody>
      </p:sp>
      <p:sp>
        <p:nvSpPr>
          <p:cNvPr id="4" name="TextBox 3">
            <a:extLst>
              <a:ext uri="{FF2B5EF4-FFF2-40B4-BE49-F238E27FC236}">
                <a16:creationId xmlns:a16="http://schemas.microsoft.com/office/drawing/2014/main" id="{026FB048-002D-DD28-A83D-162CCDEC1591}"/>
              </a:ext>
            </a:extLst>
          </p:cNvPr>
          <p:cNvSpPr txBox="1"/>
          <p:nvPr/>
        </p:nvSpPr>
        <p:spPr>
          <a:xfrm>
            <a:off x="6017341" y="1197617"/>
            <a:ext cx="3264312" cy="2554545"/>
          </a:xfrm>
          <a:prstGeom prst="rect">
            <a:avLst/>
          </a:prstGeom>
          <a:noFill/>
        </p:spPr>
        <p:txBody>
          <a:bodyPr wrap="square" rtlCol="0">
            <a:spAutoFit/>
          </a:bodyPr>
          <a:lstStyle/>
          <a:p>
            <a:r>
              <a:rPr lang="en-US" sz="1600" dirty="0"/>
              <a:t>As shown in the code, when the variable is declared inside the function via ‘let’ and is called afterwards it will print the text inside it. But if we tried to print the text outside the function it will give us error that the variable you are trying to print is undefined. This shows that the let has a functional scope.</a:t>
            </a:r>
          </a:p>
        </p:txBody>
      </p:sp>
      <p:pic>
        <p:nvPicPr>
          <p:cNvPr id="6" name="Picture 5">
            <a:extLst>
              <a:ext uri="{FF2B5EF4-FFF2-40B4-BE49-F238E27FC236}">
                <a16:creationId xmlns:a16="http://schemas.microsoft.com/office/drawing/2014/main" id="{1E44AA9E-3E8E-E81C-BF17-6B1EF4B90C49}"/>
              </a:ext>
            </a:extLst>
          </p:cNvPr>
          <p:cNvPicPr>
            <a:picLocks noChangeAspect="1"/>
          </p:cNvPicPr>
          <p:nvPr/>
        </p:nvPicPr>
        <p:blipFill>
          <a:blip r:embed="rId2"/>
          <a:srcRect l="18245" r="16390"/>
          <a:stretch>
            <a:fillRect/>
          </a:stretch>
        </p:blipFill>
        <p:spPr>
          <a:xfrm>
            <a:off x="904566" y="1263197"/>
            <a:ext cx="4906296" cy="2423384"/>
          </a:xfrm>
          <a:prstGeom prst="rect">
            <a:avLst/>
          </a:prstGeom>
        </p:spPr>
      </p:pic>
      <p:pic>
        <p:nvPicPr>
          <p:cNvPr id="7" name="Picture 6">
            <a:extLst>
              <a:ext uri="{FF2B5EF4-FFF2-40B4-BE49-F238E27FC236}">
                <a16:creationId xmlns:a16="http://schemas.microsoft.com/office/drawing/2014/main" id="{98EAA3A0-3FE6-CE7B-DA72-01B15C30EDCB}"/>
              </a:ext>
            </a:extLst>
          </p:cNvPr>
          <p:cNvPicPr>
            <a:picLocks noChangeAspect="1"/>
          </p:cNvPicPr>
          <p:nvPr/>
        </p:nvPicPr>
        <p:blipFill>
          <a:blip r:embed="rId3"/>
          <a:srcRect b="16646"/>
          <a:stretch>
            <a:fillRect/>
          </a:stretch>
        </p:blipFill>
        <p:spPr>
          <a:xfrm>
            <a:off x="855406" y="3979390"/>
            <a:ext cx="8140900" cy="1792143"/>
          </a:xfrm>
          <a:prstGeom prst="rect">
            <a:avLst/>
          </a:prstGeom>
        </p:spPr>
      </p:pic>
    </p:spTree>
    <p:extLst>
      <p:ext uri="{BB962C8B-B14F-4D97-AF65-F5344CB8AC3E}">
        <p14:creationId xmlns:p14="http://schemas.microsoft.com/office/powerpoint/2010/main" val="3018792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F9EDB-50F2-7B4F-BBBD-488A37249F5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444C741-D600-DED5-BE87-5A1DBB9487ED}"/>
              </a:ext>
            </a:extLst>
          </p:cNvPr>
          <p:cNvSpPr txBox="1"/>
          <p:nvPr/>
        </p:nvSpPr>
        <p:spPr>
          <a:xfrm>
            <a:off x="737419" y="678422"/>
            <a:ext cx="8908026" cy="923330"/>
          </a:xfrm>
          <a:prstGeom prst="rect">
            <a:avLst/>
          </a:prstGeom>
          <a:noFill/>
        </p:spPr>
        <p:txBody>
          <a:bodyPr wrap="square" rtlCol="0">
            <a:spAutoFit/>
          </a:bodyPr>
          <a:lstStyle/>
          <a:p>
            <a:r>
              <a:rPr lang="en-US" b="1" dirty="0"/>
              <a:t>3. Block Scope</a:t>
            </a:r>
          </a:p>
          <a:p>
            <a:endParaRPr lang="en-US" dirty="0"/>
          </a:p>
          <a:p>
            <a:endParaRPr lang="en-US" dirty="0"/>
          </a:p>
        </p:txBody>
      </p:sp>
      <p:sp>
        <p:nvSpPr>
          <p:cNvPr id="4" name="TextBox 3">
            <a:extLst>
              <a:ext uri="{FF2B5EF4-FFF2-40B4-BE49-F238E27FC236}">
                <a16:creationId xmlns:a16="http://schemas.microsoft.com/office/drawing/2014/main" id="{632B2EAE-EEE4-1E6C-87E3-57F09E913EE1}"/>
              </a:ext>
            </a:extLst>
          </p:cNvPr>
          <p:cNvSpPr txBox="1"/>
          <p:nvPr/>
        </p:nvSpPr>
        <p:spPr>
          <a:xfrm>
            <a:off x="5179753" y="1246777"/>
            <a:ext cx="4131396" cy="4278094"/>
          </a:xfrm>
          <a:prstGeom prst="rect">
            <a:avLst/>
          </a:prstGeom>
          <a:noFill/>
        </p:spPr>
        <p:txBody>
          <a:bodyPr wrap="square" rtlCol="0">
            <a:spAutoFit/>
          </a:bodyPr>
          <a:lstStyle/>
          <a:p>
            <a:r>
              <a:rPr lang="en-US" sz="1700" dirty="0"/>
              <a:t>As shown in the code, when the variables result and grade are declared inside the if else block using let, they can only be accessed within that block. Therefore, they are printed successfully inside the block. However, when we try to print the result variable outside the if else block, JavaScript gives a ReferenceError: result is not defined. This shows that a variable declared inside { } can only be accessed within that block. The marks variable is printed successfully outside the block because it was declared outside the if else statement, making it accessible throughout the program.</a:t>
            </a:r>
          </a:p>
        </p:txBody>
      </p:sp>
      <p:pic>
        <p:nvPicPr>
          <p:cNvPr id="2" name="Picture 1">
            <a:extLst>
              <a:ext uri="{FF2B5EF4-FFF2-40B4-BE49-F238E27FC236}">
                <a16:creationId xmlns:a16="http://schemas.microsoft.com/office/drawing/2014/main" id="{B47A6ECF-377D-EE3B-26EC-E6F1611246B9}"/>
              </a:ext>
            </a:extLst>
          </p:cNvPr>
          <p:cNvPicPr>
            <a:picLocks noChangeAspect="1"/>
          </p:cNvPicPr>
          <p:nvPr/>
        </p:nvPicPr>
        <p:blipFill>
          <a:blip r:embed="rId2"/>
          <a:srcRect l="10794" r="44376"/>
          <a:stretch>
            <a:fillRect/>
          </a:stretch>
        </p:blipFill>
        <p:spPr>
          <a:xfrm>
            <a:off x="875067" y="1234501"/>
            <a:ext cx="4131396" cy="4625523"/>
          </a:xfrm>
          <a:prstGeom prst="rect">
            <a:avLst/>
          </a:prstGeom>
        </p:spPr>
      </p:pic>
    </p:spTree>
    <p:extLst>
      <p:ext uri="{BB962C8B-B14F-4D97-AF65-F5344CB8AC3E}">
        <p14:creationId xmlns:p14="http://schemas.microsoft.com/office/powerpoint/2010/main" val="2316663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71B3A-389E-72B6-BDCE-85152A2E4E2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85D651-8FA8-5925-87F3-87F2482516AB}"/>
              </a:ext>
            </a:extLst>
          </p:cNvPr>
          <p:cNvSpPr txBox="1"/>
          <p:nvPr/>
        </p:nvSpPr>
        <p:spPr>
          <a:xfrm>
            <a:off x="737419" y="845566"/>
            <a:ext cx="8377084"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Furthermore, if we move all the console.log() statements outside the if else block and then run the code. The </a:t>
            </a:r>
            <a:r>
              <a:rPr lang="en-US" i="1" u="sng" dirty="0"/>
              <a:t>marks</a:t>
            </a:r>
            <a:r>
              <a:rPr lang="en-US" dirty="0"/>
              <a:t> variable will print successfully because it was declared outside the block and is accessible throughout the program but it stops execution at the </a:t>
            </a:r>
            <a:r>
              <a:rPr lang="en-US" i="1" u="sng" dirty="0"/>
              <a:t>result</a:t>
            </a:r>
            <a:r>
              <a:rPr lang="en-US" dirty="0"/>
              <a:t> variable because JavaScript follows a synchronous execution order. </a:t>
            </a:r>
          </a:p>
        </p:txBody>
      </p:sp>
      <p:pic>
        <p:nvPicPr>
          <p:cNvPr id="6" name="Picture 5">
            <a:extLst>
              <a:ext uri="{FF2B5EF4-FFF2-40B4-BE49-F238E27FC236}">
                <a16:creationId xmlns:a16="http://schemas.microsoft.com/office/drawing/2014/main" id="{FD44160F-8ADA-0C2C-E619-24952D4AFA03}"/>
              </a:ext>
            </a:extLst>
          </p:cNvPr>
          <p:cNvPicPr>
            <a:picLocks noChangeAspect="1"/>
          </p:cNvPicPr>
          <p:nvPr/>
        </p:nvPicPr>
        <p:blipFill>
          <a:blip r:embed="rId2"/>
          <a:stretch>
            <a:fillRect/>
          </a:stretch>
        </p:blipFill>
        <p:spPr>
          <a:xfrm>
            <a:off x="737419" y="786577"/>
            <a:ext cx="7737988" cy="2960444"/>
          </a:xfrm>
          <a:prstGeom prst="rect">
            <a:avLst/>
          </a:prstGeom>
        </p:spPr>
      </p:pic>
    </p:spTree>
    <p:extLst>
      <p:ext uri="{BB962C8B-B14F-4D97-AF65-F5344CB8AC3E}">
        <p14:creationId xmlns:p14="http://schemas.microsoft.com/office/powerpoint/2010/main" val="3367664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5B0F-3DEB-2353-B863-FD7731BB058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F2C6084-7355-C766-2EE0-7A102C4CC9B6}"/>
              </a:ext>
            </a:extLst>
          </p:cNvPr>
          <p:cNvPicPr>
            <a:picLocks noChangeAspect="1"/>
          </p:cNvPicPr>
          <p:nvPr/>
        </p:nvPicPr>
        <p:blipFill>
          <a:blip r:embed="rId2"/>
          <a:srcRect l="15101" r="30191"/>
          <a:stretch>
            <a:fillRect/>
          </a:stretch>
        </p:blipFill>
        <p:spPr>
          <a:xfrm>
            <a:off x="1091382" y="855398"/>
            <a:ext cx="4414683" cy="2859734"/>
          </a:xfrm>
          <a:prstGeom prst="rect">
            <a:avLst/>
          </a:prstGeom>
        </p:spPr>
      </p:pic>
      <p:pic>
        <p:nvPicPr>
          <p:cNvPr id="3" name="Picture 2">
            <a:extLst>
              <a:ext uri="{FF2B5EF4-FFF2-40B4-BE49-F238E27FC236}">
                <a16:creationId xmlns:a16="http://schemas.microsoft.com/office/drawing/2014/main" id="{1C386D69-814C-7C95-98AF-866A2E52B5B1}"/>
              </a:ext>
            </a:extLst>
          </p:cNvPr>
          <p:cNvPicPr>
            <a:picLocks noChangeAspect="1"/>
          </p:cNvPicPr>
          <p:nvPr/>
        </p:nvPicPr>
        <p:blipFill>
          <a:blip r:embed="rId3"/>
          <a:stretch>
            <a:fillRect/>
          </a:stretch>
        </p:blipFill>
        <p:spPr>
          <a:xfrm>
            <a:off x="1012723" y="4090460"/>
            <a:ext cx="7336916" cy="1715501"/>
          </a:xfrm>
          <a:prstGeom prst="rect">
            <a:avLst/>
          </a:prstGeom>
        </p:spPr>
      </p:pic>
      <p:sp>
        <p:nvSpPr>
          <p:cNvPr id="4" name="TextBox 3">
            <a:extLst>
              <a:ext uri="{FF2B5EF4-FFF2-40B4-BE49-F238E27FC236}">
                <a16:creationId xmlns:a16="http://schemas.microsoft.com/office/drawing/2014/main" id="{33D93D35-5720-1411-8CC5-603D8A77363C}"/>
              </a:ext>
            </a:extLst>
          </p:cNvPr>
          <p:cNvSpPr txBox="1"/>
          <p:nvPr/>
        </p:nvSpPr>
        <p:spPr>
          <a:xfrm>
            <a:off x="6096000" y="1120676"/>
            <a:ext cx="2603497" cy="2308324"/>
          </a:xfrm>
          <a:prstGeom prst="rect">
            <a:avLst/>
          </a:prstGeom>
          <a:noFill/>
        </p:spPr>
        <p:txBody>
          <a:bodyPr wrap="square" rtlCol="0">
            <a:spAutoFit/>
          </a:bodyPr>
          <a:lstStyle/>
          <a:p>
            <a:r>
              <a:rPr lang="en-US" dirty="0"/>
              <a:t>It runs the code line by line, and when it encounters an error at result, the program stops immediately, so the remaining statements are not executed.</a:t>
            </a:r>
          </a:p>
        </p:txBody>
      </p:sp>
    </p:spTree>
    <p:extLst>
      <p:ext uri="{BB962C8B-B14F-4D97-AF65-F5344CB8AC3E}">
        <p14:creationId xmlns:p14="http://schemas.microsoft.com/office/powerpoint/2010/main" val="1211284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F47BF-0A8C-3CC5-D783-3D622DDB383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34D004-F300-8523-A31B-E1C59FEAF9C7}"/>
              </a:ext>
            </a:extLst>
          </p:cNvPr>
          <p:cNvSpPr txBox="1"/>
          <p:nvPr/>
        </p:nvSpPr>
        <p:spPr>
          <a:xfrm>
            <a:off x="737419" y="550605"/>
            <a:ext cx="8908026" cy="1446550"/>
          </a:xfrm>
          <a:prstGeom prst="rect">
            <a:avLst/>
          </a:prstGeom>
          <a:noFill/>
        </p:spPr>
        <p:txBody>
          <a:bodyPr wrap="square" rtlCol="0">
            <a:spAutoFit/>
          </a:bodyPr>
          <a:lstStyle/>
          <a:p>
            <a:pPr algn="ctr"/>
            <a:r>
              <a:rPr lang="en-US" sz="2000" b="1" u="sng">
                <a:solidFill>
                  <a:schemeClr val="accent2">
                    <a:lumMod val="75000"/>
                  </a:schemeClr>
                </a:solidFill>
              </a:rPr>
              <a:t>Scope Application in const</a:t>
            </a:r>
          </a:p>
          <a:p>
            <a:endParaRPr lang="en-US" sz="1400"/>
          </a:p>
          <a:p>
            <a:pPr marL="342900" indent="-342900">
              <a:buFont typeface="+mj-lt"/>
              <a:buAutoNum type="arabicPeriod"/>
            </a:pPr>
            <a:r>
              <a:rPr lang="en-US" b="1"/>
              <a:t>Global Scope</a:t>
            </a:r>
          </a:p>
          <a:p>
            <a:endParaRPr lang="en-US"/>
          </a:p>
          <a:p>
            <a:endParaRPr lang="en-US" dirty="0"/>
          </a:p>
        </p:txBody>
      </p:sp>
      <p:sp>
        <p:nvSpPr>
          <p:cNvPr id="4" name="TextBox 3">
            <a:extLst>
              <a:ext uri="{FF2B5EF4-FFF2-40B4-BE49-F238E27FC236}">
                <a16:creationId xmlns:a16="http://schemas.microsoft.com/office/drawing/2014/main" id="{77F2C31F-CB2F-6A8B-F05C-485D94B23528}"/>
              </a:ext>
            </a:extLst>
          </p:cNvPr>
          <p:cNvSpPr txBox="1"/>
          <p:nvPr/>
        </p:nvSpPr>
        <p:spPr>
          <a:xfrm>
            <a:off x="5671660" y="1632002"/>
            <a:ext cx="3893575" cy="2462213"/>
          </a:xfrm>
          <a:prstGeom prst="rect">
            <a:avLst/>
          </a:prstGeom>
          <a:noFill/>
        </p:spPr>
        <p:txBody>
          <a:bodyPr wrap="square" rtlCol="0">
            <a:spAutoFit/>
          </a:bodyPr>
          <a:lstStyle/>
          <a:p>
            <a:r>
              <a:rPr lang="en-US" sz="1400" dirty="0"/>
              <a:t>The variables </a:t>
            </a:r>
            <a:r>
              <a:rPr lang="en-US" sz="1400" dirty="0" err="1"/>
              <a:t>studentName</a:t>
            </a:r>
            <a:r>
              <a:rPr lang="en-US" sz="1400" dirty="0"/>
              <a:t> and marks are declared and initialized before the function using const. When we execute the code, both variables are printed successfully inside the </a:t>
            </a:r>
            <a:r>
              <a:rPr lang="en-US" sz="1400" dirty="0" err="1"/>
              <a:t>showStudent</a:t>
            </a:r>
            <a:r>
              <a:rPr lang="en-US" sz="1400" dirty="0"/>
              <a:t>() function as well as outside the function. From this behavior, we identify that variables declared with const outside any function have global scope and can be accessed throughout the program. However, const variables cannot be reassigned after their declaration.</a:t>
            </a:r>
          </a:p>
        </p:txBody>
      </p:sp>
      <p:pic>
        <p:nvPicPr>
          <p:cNvPr id="7" name="Picture 6">
            <a:extLst>
              <a:ext uri="{FF2B5EF4-FFF2-40B4-BE49-F238E27FC236}">
                <a16:creationId xmlns:a16="http://schemas.microsoft.com/office/drawing/2014/main" id="{65D16769-F365-1630-0D22-2365A1788411}"/>
              </a:ext>
            </a:extLst>
          </p:cNvPr>
          <p:cNvPicPr>
            <a:picLocks noChangeAspect="1"/>
          </p:cNvPicPr>
          <p:nvPr/>
        </p:nvPicPr>
        <p:blipFill>
          <a:blip r:embed="rId2"/>
          <a:srcRect r="24193"/>
          <a:stretch>
            <a:fillRect/>
          </a:stretch>
        </p:blipFill>
        <p:spPr>
          <a:xfrm>
            <a:off x="902110" y="1551860"/>
            <a:ext cx="4505630" cy="2559050"/>
          </a:xfrm>
          <a:prstGeom prst="rect">
            <a:avLst/>
          </a:prstGeom>
        </p:spPr>
      </p:pic>
      <p:pic>
        <p:nvPicPr>
          <p:cNvPr id="8" name="Picture 7">
            <a:extLst>
              <a:ext uri="{FF2B5EF4-FFF2-40B4-BE49-F238E27FC236}">
                <a16:creationId xmlns:a16="http://schemas.microsoft.com/office/drawing/2014/main" id="{9437007E-14BF-5229-24CD-BC4F844B2524}"/>
              </a:ext>
            </a:extLst>
          </p:cNvPr>
          <p:cNvPicPr>
            <a:picLocks noChangeAspect="1"/>
          </p:cNvPicPr>
          <p:nvPr/>
        </p:nvPicPr>
        <p:blipFill>
          <a:blip r:embed="rId3"/>
          <a:srcRect b="13912"/>
          <a:stretch>
            <a:fillRect/>
          </a:stretch>
        </p:blipFill>
        <p:spPr>
          <a:xfrm>
            <a:off x="902110" y="4302032"/>
            <a:ext cx="7083650" cy="1868925"/>
          </a:xfrm>
          <a:prstGeom prst="rect">
            <a:avLst/>
          </a:prstGeom>
        </p:spPr>
      </p:pic>
    </p:spTree>
    <p:extLst>
      <p:ext uri="{BB962C8B-B14F-4D97-AF65-F5344CB8AC3E}">
        <p14:creationId xmlns:p14="http://schemas.microsoft.com/office/powerpoint/2010/main" val="3115218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9AAE9-7CFA-8BBD-B83F-D1F76A6C4C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C03337-51A0-F721-02F6-B973FF20A65A}"/>
              </a:ext>
            </a:extLst>
          </p:cNvPr>
          <p:cNvSpPr txBox="1"/>
          <p:nvPr/>
        </p:nvSpPr>
        <p:spPr>
          <a:xfrm>
            <a:off x="737419" y="678422"/>
            <a:ext cx="8908026" cy="923330"/>
          </a:xfrm>
          <a:prstGeom prst="rect">
            <a:avLst/>
          </a:prstGeom>
          <a:noFill/>
        </p:spPr>
        <p:txBody>
          <a:bodyPr wrap="square" rtlCol="0">
            <a:spAutoFit/>
          </a:bodyPr>
          <a:lstStyle/>
          <a:p>
            <a:r>
              <a:rPr lang="en-US" b="1" dirty="0"/>
              <a:t>2. Functional Scope</a:t>
            </a:r>
          </a:p>
          <a:p>
            <a:endParaRPr lang="en-US" dirty="0"/>
          </a:p>
          <a:p>
            <a:endParaRPr lang="en-US" dirty="0"/>
          </a:p>
        </p:txBody>
      </p:sp>
      <p:sp>
        <p:nvSpPr>
          <p:cNvPr id="4" name="TextBox 3">
            <a:extLst>
              <a:ext uri="{FF2B5EF4-FFF2-40B4-BE49-F238E27FC236}">
                <a16:creationId xmlns:a16="http://schemas.microsoft.com/office/drawing/2014/main" id="{18235250-1373-8592-594F-351173B774DE}"/>
              </a:ext>
            </a:extLst>
          </p:cNvPr>
          <p:cNvSpPr txBox="1"/>
          <p:nvPr/>
        </p:nvSpPr>
        <p:spPr>
          <a:xfrm>
            <a:off x="737419" y="4077977"/>
            <a:ext cx="8544234" cy="1892826"/>
          </a:xfrm>
          <a:prstGeom prst="rect">
            <a:avLst/>
          </a:prstGeom>
          <a:noFill/>
        </p:spPr>
        <p:txBody>
          <a:bodyPr wrap="square" rtlCol="0">
            <a:spAutoFit/>
          </a:bodyPr>
          <a:lstStyle/>
          <a:p>
            <a:r>
              <a:rPr lang="en-US" sz="1950" dirty="0"/>
              <a:t>As shown in the code above, the variables </a:t>
            </a:r>
            <a:r>
              <a:rPr lang="en-US" sz="1950" dirty="0" err="1"/>
              <a:t>studentName</a:t>
            </a:r>
            <a:r>
              <a:rPr lang="en-US" sz="1950" dirty="0"/>
              <a:t> and marks are declared inside the </a:t>
            </a:r>
            <a:r>
              <a:rPr lang="en-US" sz="1950" dirty="0" err="1"/>
              <a:t>showStudent</a:t>
            </a:r>
            <a:r>
              <a:rPr lang="en-US" sz="1950" dirty="0"/>
              <a:t>() function using const. When we execute the code, both variables are printed successfully inside the function because they are accessed within the same function where they are declared. However, when we try to print them outside the function, JavaScript gives a ReferenceError. </a:t>
            </a:r>
          </a:p>
        </p:txBody>
      </p:sp>
      <p:pic>
        <p:nvPicPr>
          <p:cNvPr id="2" name="Picture 1">
            <a:extLst>
              <a:ext uri="{FF2B5EF4-FFF2-40B4-BE49-F238E27FC236}">
                <a16:creationId xmlns:a16="http://schemas.microsoft.com/office/drawing/2014/main" id="{71EC0EAD-2519-7F75-8189-0BCAAD659465}"/>
              </a:ext>
            </a:extLst>
          </p:cNvPr>
          <p:cNvPicPr>
            <a:picLocks noChangeAspect="1"/>
          </p:cNvPicPr>
          <p:nvPr/>
        </p:nvPicPr>
        <p:blipFill>
          <a:blip r:embed="rId2"/>
          <a:stretch>
            <a:fillRect/>
          </a:stretch>
        </p:blipFill>
        <p:spPr>
          <a:xfrm>
            <a:off x="859338" y="1220694"/>
            <a:ext cx="7034981" cy="2659163"/>
          </a:xfrm>
          <a:prstGeom prst="rect">
            <a:avLst/>
          </a:prstGeom>
        </p:spPr>
      </p:pic>
    </p:spTree>
    <p:extLst>
      <p:ext uri="{BB962C8B-B14F-4D97-AF65-F5344CB8AC3E}">
        <p14:creationId xmlns:p14="http://schemas.microsoft.com/office/powerpoint/2010/main" val="2098830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98283-85B1-DAE6-94AB-40AFCF76D3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5902D49-5B3E-C159-ACEC-49D3DE8D98C3}"/>
              </a:ext>
            </a:extLst>
          </p:cNvPr>
          <p:cNvPicPr>
            <a:picLocks noChangeAspect="1"/>
          </p:cNvPicPr>
          <p:nvPr/>
        </p:nvPicPr>
        <p:blipFill>
          <a:blip r:embed="rId2"/>
          <a:stretch>
            <a:fillRect/>
          </a:stretch>
        </p:blipFill>
        <p:spPr>
          <a:xfrm>
            <a:off x="1074420" y="3157213"/>
            <a:ext cx="7764780" cy="2211230"/>
          </a:xfrm>
          <a:prstGeom prst="rect">
            <a:avLst/>
          </a:prstGeom>
        </p:spPr>
      </p:pic>
      <p:sp>
        <p:nvSpPr>
          <p:cNvPr id="7" name="TextBox 6">
            <a:extLst>
              <a:ext uri="{FF2B5EF4-FFF2-40B4-BE49-F238E27FC236}">
                <a16:creationId xmlns:a16="http://schemas.microsoft.com/office/drawing/2014/main" id="{53CCA6C7-0484-543D-869D-8D6A49DCFCBB}"/>
              </a:ext>
            </a:extLst>
          </p:cNvPr>
          <p:cNvSpPr txBox="1"/>
          <p:nvPr/>
        </p:nvSpPr>
        <p:spPr>
          <a:xfrm>
            <a:off x="1074420" y="785686"/>
            <a:ext cx="8130540" cy="1592744"/>
          </a:xfrm>
          <a:prstGeom prst="rect">
            <a:avLst/>
          </a:prstGeom>
          <a:noFill/>
        </p:spPr>
        <p:txBody>
          <a:bodyPr wrap="square">
            <a:spAutoFit/>
          </a:bodyPr>
          <a:lstStyle/>
          <a:p>
            <a:r>
              <a:rPr lang="en-US" sz="1950" dirty="0"/>
              <a:t>From this behavior, we identify that const follows function scope when declared inside a function, meaning these variables can only be accessed within that function. Additionally, JavaScript executes code line by line, so when it encounters the error at </a:t>
            </a:r>
            <a:r>
              <a:rPr lang="en-US" sz="1950" dirty="0" err="1"/>
              <a:t>studentName</a:t>
            </a:r>
            <a:r>
              <a:rPr lang="en-US" sz="1950" dirty="0"/>
              <a:t>, the program stops immediately and the marks statement is not executed.</a:t>
            </a:r>
            <a:endParaRPr lang="en-US" dirty="0"/>
          </a:p>
        </p:txBody>
      </p:sp>
    </p:spTree>
    <p:extLst>
      <p:ext uri="{BB962C8B-B14F-4D97-AF65-F5344CB8AC3E}">
        <p14:creationId xmlns:p14="http://schemas.microsoft.com/office/powerpoint/2010/main" val="2202364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DB457-A914-EC9A-310E-1862BC50C8C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2456D9-D079-2F81-C1A0-B891E8A8DFA6}"/>
              </a:ext>
            </a:extLst>
          </p:cNvPr>
          <p:cNvSpPr txBox="1"/>
          <p:nvPr/>
        </p:nvSpPr>
        <p:spPr>
          <a:xfrm>
            <a:off x="737419" y="678422"/>
            <a:ext cx="8908026" cy="923330"/>
          </a:xfrm>
          <a:prstGeom prst="rect">
            <a:avLst/>
          </a:prstGeom>
          <a:noFill/>
        </p:spPr>
        <p:txBody>
          <a:bodyPr wrap="square" rtlCol="0">
            <a:spAutoFit/>
          </a:bodyPr>
          <a:lstStyle/>
          <a:p>
            <a:r>
              <a:rPr lang="en-US" b="1" dirty="0"/>
              <a:t>3. Block Scope</a:t>
            </a:r>
          </a:p>
          <a:p>
            <a:endParaRPr lang="en-US" dirty="0"/>
          </a:p>
          <a:p>
            <a:endParaRPr lang="en-US" dirty="0"/>
          </a:p>
        </p:txBody>
      </p:sp>
      <p:sp>
        <p:nvSpPr>
          <p:cNvPr id="4" name="TextBox 3">
            <a:extLst>
              <a:ext uri="{FF2B5EF4-FFF2-40B4-BE49-F238E27FC236}">
                <a16:creationId xmlns:a16="http://schemas.microsoft.com/office/drawing/2014/main" id="{86017234-9B8A-F009-BCAB-A3D630187F7E}"/>
              </a:ext>
            </a:extLst>
          </p:cNvPr>
          <p:cNvSpPr txBox="1"/>
          <p:nvPr/>
        </p:nvSpPr>
        <p:spPr>
          <a:xfrm>
            <a:off x="5514049" y="1459547"/>
            <a:ext cx="3828071" cy="3093154"/>
          </a:xfrm>
          <a:prstGeom prst="rect">
            <a:avLst/>
          </a:prstGeom>
          <a:noFill/>
        </p:spPr>
        <p:txBody>
          <a:bodyPr wrap="square" rtlCol="0">
            <a:spAutoFit/>
          </a:bodyPr>
          <a:lstStyle/>
          <a:p>
            <a:r>
              <a:rPr lang="en-US" sz="1950" dirty="0"/>
              <a:t>As shown in the code, the variables result and grade are declared inside the if block using const. When we execute the code, they are printed successfully inside the block. However, when we try to access them outside the block, JavaScript gives a ReferenceError. </a:t>
            </a:r>
          </a:p>
        </p:txBody>
      </p:sp>
      <p:pic>
        <p:nvPicPr>
          <p:cNvPr id="3" name="Picture 2">
            <a:extLst>
              <a:ext uri="{FF2B5EF4-FFF2-40B4-BE49-F238E27FC236}">
                <a16:creationId xmlns:a16="http://schemas.microsoft.com/office/drawing/2014/main" id="{E77ADB52-1CBE-8B9E-6D7D-2D5B5E3159D9}"/>
              </a:ext>
            </a:extLst>
          </p:cNvPr>
          <p:cNvPicPr>
            <a:picLocks noChangeAspect="1"/>
          </p:cNvPicPr>
          <p:nvPr/>
        </p:nvPicPr>
        <p:blipFill>
          <a:blip r:embed="rId2"/>
          <a:srcRect r="56162"/>
          <a:stretch>
            <a:fillRect/>
          </a:stretch>
        </p:blipFill>
        <p:spPr>
          <a:xfrm>
            <a:off x="737420" y="1459547"/>
            <a:ext cx="4442334" cy="4065324"/>
          </a:xfrm>
          <a:prstGeom prst="rect">
            <a:avLst/>
          </a:prstGeom>
        </p:spPr>
      </p:pic>
    </p:spTree>
    <p:extLst>
      <p:ext uri="{BB962C8B-B14F-4D97-AF65-F5344CB8AC3E}">
        <p14:creationId xmlns:p14="http://schemas.microsoft.com/office/powerpoint/2010/main" val="2200506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B808-A380-6AE9-ED8C-16D3CE13A9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58235F8-0D73-B802-55C8-3D35CED43AC3}"/>
              </a:ext>
            </a:extLst>
          </p:cNvPr>
          <p:cNvSpPr txBox="1"/>
          <p:nvPr/>
        </p:nvSpPr>
        <p:spPr>
          <a:xfrm>
            <a:off x="902970" y="890007"/>
            <a:ext cx="7997190" cy="1592744"/>
          </a:xfrm>
          <a:prstGeom prst="rect">
            <a:avLst/>
          </a:prstGeom>
          <a:noFill/>
        </p:spPr>
        <p:txBody>
          <a:bodyPr wrap="square">
            <a:spAutoFit/>
          </a:bodyPr>
          <a:lstStyle/>
          <a:p>
            <a:r>
              <a:rPr lang="en-US" sz="1950" dirty="0"/>
              <a:t>From this behavior, we identify that const follows block scope, meaning variables declared inside { } can only be accessed within that block. The marks variable is printed successfully outside the block because it was declared outside the if statement and is accessible throughout the program</a:t>
            </a:r>
            <a:endParaRPr lang="en-US" dirty="0"/>
          </a:p>
        </p:txBody>
      </p:sp>
      <p:pic>
        <p:nvPicPr>
          <p:cNvPr id="7" name="Picture 6">
            <a:extLst>
              <a:ext uri="{FF2B5EF4-FFF2-40B4-BE49-F238E27FC236}">
                <a16:creationId xmlns:a16="http://schemas.microsoft.com/office/drawing/2014/main" id="{42F2CF4E-50EC-3E1C-9DAF-F21B2C685EE7}"/>
              </a:ext>
            </a:extLst>
          </p:cNvPr>
          <p:cNvPicPr>
            <a:picLocks noChangeAspect="1"/>
          </p:cNvPicPr>
          <p:nvPr/>
        </p:nvPicPr>
        <p:blipFill>
          <a:blip r:embed="rId2"/>
          <a:stretch>
            <a:fillRect/>
          </a:stretch>
        </p:blipFill>
        <p:spPr>
          <a:xfrm>
            <a:off x="1017270" y="2766059"/>
            <a:ext cx="6846570" cy="3274053"/>
          </a:xfrm>
          <a:prstGeom prst="rect">
            <a:avLst/>
          </a:prstGeom>
        </p:spPr>
      </p:pic>
    </p:spTree>
    <p:extLst>
      <p:ext uri="{BB962C8B-B14F-4D97-AF65-F5344CB8AC3E}">
        <p14:creationId xmlns:p14="http://schemas.microsoft.com/office/powerpoint/2010/main" val="3263542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D161E73-2087-8028-36B6-86B38E8512FA}"/>
              </a:ext>
            </a:extLst>
          </p:cNvPr>
          <p:cNvSpPr/>
          <p:nvPr/>
        </p:nvSpPr>
        <p:spPr>
          <a:xfrm>
            <a:off x="4329682" y="2632055"/>
            <a:ext cx="3532635"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p:txBody>
      </p:sp>
    </p:spTree>
    <p:extLst>
      <p:ext uri="{BB962C8B-B14F-4D97-AF65-F5344CB8AC3E}">
        <p14:creationId xmlns:p14="http://schemas.microsoft.com/office/powerpoint/2010/main" val="427890416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192</TotalTime>
  <Words>1152</Words>
  <Application>Microsoft Office PowerPoint</Application>
  <PresentationFormat>Widescreen</PresentationFormat>
  <Paragraphs>84</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Romaisa Shahbaz</dc:creator>
  <cp:lastModifiedBy>Romaisa Shahbaz</cp:lastModifiedBy>
  <cp:revision>8</cp:revision>
  <dcterms:created xsi:type="dcterms:W3CDTF">2026-07-10T11:58:33Z</dcterms:created>
  <dcterms:modified xsi:type="dcterms:W3CDTF">2026-07-11T06:32:14Z</dcterms:modified>
</cp:coreProperties>
</file>