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A6CF30-EAC9-4C96-8D3D-733F92206E15}" type="datetimeFigureOut">
              <a:rPr lang="en-US" smtClean="0"/>
              <a:t>7/13/2026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9B9B90-AAFD-4B8B-9EAA-9842381AE646}" type="slidenum">
              <a:rPr lang="en-US" smtClean="0"/>
              <a:t>‹#›</a:t>
            </a:fld>
            <a:endParaRPr lang="en-US"/>
          </a:p>
        </p:txBody>
      </p:sp>
    </p:spTree>
    <p:extLst>
      <p:ext uri="{BB962C8B-B14F-4D97-AF65-F5344CB8AC3E}">
        <p14:creationId xmlns:p14="http://schemas.microsoft.com/office/powerpoint/2010/main" val="18022243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9B9B90-AAFD-4B8B-9EAA-9842381AE646}" type="slidenum">
              <a:rPr lang="en-US" smtClean="0"/>
              <a:t>11</a:t>
            </a:fld>
            <a:endParaRPr lang="en-US"/>
          </a:p>
        </p:txBody>
      </p:sp>
    </p:spTree>
    <p:extLst>
      <p:ext uri="{BB962C8B-B14F-4D97-AF65-F5344CB8AC3E}">
        <p14:creationId xmlns:p14="http://schemas.microsoft.com/office/powerpoint/2010/main" val="37437784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1539F-C0E1-90E0-DF47-31C55E355B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ED6B37-4290-57A8-C421-89E76FC419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81E6EE-DCCC-C2E8-8495-4157EBFF42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CF173C-7CB7-9BF2-51B7-52119F86D067}"/>
              </a:ext>
            </a:extLst>
          </p:cNvPr>
          <p:cNvSpPr>
            <a:spLocks noGrp="1"/>
          </p:cNvSpPr>
          <p:nvPr>
            <p:ph type="sldNum" sz="quarter" idx="5"/>
          </p:nvPr>
        </p:nvSpPr>
        <p:spPr/>
        <p:txBody>
          <a:bodyPr/>
          <a:lstStyle/>
          <a:p>
            <a:fld id="{AF9B9B90-AAFD-4B8B-9EAA-9842381AE646}" type="slidenum">
              <a:rPr lang="en-US" smtClean="0"/>
              <a:t>12</a:t>
            </a:fld>
            <a:endParaRPr lang="en-US"/>
          </a:p>
        </p:txBody>
      </p:sp>
    </p:spTree>
    <p:extLst>
      <p:ext uri="{BB962C8B-B14F-4D97-AF65-F5344CB8AC3E}">
        <p14:creationId xmlns:p14="http://schemas.microsoft.com/office/powerpoint/2010/main" val="3149939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3295463-E464-4512-BD3F-0B23332F002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33714589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3295463-E464-4512-BD3F-0B23332F002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3349803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3295463-E464-4512-BD3F-0B23332F002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35318169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3295463-E464-4512-BD3F-0B23332F002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39622235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3295463-E464-4512-BD3F-0B23332F0024}" type="datetimeFigureOut">
              <a:rPr lang="en-US" smtClean="0"/>
              <a:t>7/13/2026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42366716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3295463-E464-4512-BD3F-0B23332F0024}" type="datetimeFigureOut">
              <a:rPr lang="en-US" smtClean="0"/>
              <a:t>7/13/2026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3021665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3295463-E464-4512-BD3F-0B23332F0024}" type="datetimeFigureOut">
              <a:rPr lang="en-US" smtClean="0"/>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40007558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3295463-E464-4512-BD3F-0B23332F002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29846184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3295463-E464-4512-BD3F-0B23332F002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32342683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3295463-E464-4512-BD3F-0B23332F002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35049205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3295463-E464-4512-BD3F-0B23332F002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BE07A9-1294-42E1-B301-E418173EDE0B}"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9766305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3295463-E464-4512-BD3F-0B23332F002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26456930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3295463-E464-4512-BD3F-0B23332F002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BE07A9-1294-42E1-B301-E418173EDE0B}"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5138332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3295463-E464-4512-BD3F-0B23332F002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39686180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3295463-E464-4512-BD3F-0B23332F002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16376627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3295463-E464-4512-BD3F-0B23332F002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BE07A9-1294-42E1-B301-E418173EDE0B}" type="slidenum">
              <a:rPr lang="en-US" smtClean="0"/>
              <a:t>‹#›</a:t>
            </a:fld>
            <a:endParaRPr lang="en-US"/>
          </a:p>
        </p:txBody>
      </p:sp>
    </p:spTree>
    <p:extLst>
      <p:ext uri="{BB962C8B-B14F-4D97-AF65-F5344CB8AC3E}">
        <p14:creationId xmlns:p14="http://schemas.microsoft.com/office/powerpoint/2010/main" val="41974533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A3295463-E464-4512-BD3F-0B23332F0024}" type="datetimeFigureOut">
              <a:rPr lang="en-US" smtClean="0"/>
              <a:t>7/13/2026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E3BE07A9-1294-42E1-B301-E418173EDE0B}" type="slidenum">
              <a:rPr lang="en-US" smtClean="0"/>
              <a:t>‹#›</a:t>
            </a:fld>
            <a:endParaRPr lang="en-US"/>
          </a:p>
        </p:txBody>
      </p:sp>
    </p:spTree>
    <p:extLst>
      <p:ext uri="{BB962C8B-B14F-4D97-AF65-F5344CB8AC3E}">
        <p14:creationId xmlns:p14="http://schemas.microsoft.com/office/powerpoint/2010/main" val="355313943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0B663C5-E3BD-CA9A-CB1C-7D90F901AF12}"/>
              </a:ext>
            </a:extLst>
          </p:cNvPr>
          <p:cNvSpPr/>
          <p:nvPr/>
        </p:nvSpPr>
        <p:spPr>
          <a:xfrm>
            <a:off x="3967117" y="2657177"/>
            <a:ext cx="3575018" cy="1015663"/>
          </a:xfrm>
          <a:prstGeom prst="rect">
            <a:avLst/>
          </a:prstGeom>
          <a:noFill/>
        </p:spPr>
        <p:txBody>
          <a:bodyPr wrap="none" lIns="91440" tIns="45720" rIns="91440" bIns="45720">
            <a:spAutoFit/>
          </a:bodyPr>
          <a:lstStyle/>
          <a:p>
            <a:pPr algn="ctr"/>
            <a:r>
              <a:rPr lang="en-US" sz="6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HOISTING</a:t>
            </a:r>
            <a:endParaRPr lang="en-US" sz="60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endParaRPr>
          </a:p>
        </p:txBody>
      </p:sp>
    </p:spTree>
    <p:extLst>
      <p:ext uri="{BB962C8B-B14F-4D97-AF65-F5344CB8AC3E}">
        <p14:creationId xmlns:p14="http://schemas.microsoft.com/office/powerpoint/2010/main" val="34395677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9AECDAE-7015-3BFC-BFC4-FD6AA1056934}"/>
              </a:ext>
            </a:extLst>
          </p:cNvPr>
          <p:cNvSpPr txBox="1"/>
          <p:nvPr/>
        </p:nvSpPr>
        <p:spPr>
          <a:xfrm>
            <a:off x="900294" y="917962"/>
            <a:ext cx="8160152" cy="4108817"/>
          </a:xfrm>
          <a:prstGeom prst="rect">
            <a:avLst/>
          </a:prstGeom>
          <a:noFill/>
        </p:spPr>
        <p:txBody>
          <a:bodyPr wrap="square" rtlCol="0">
            <a:spAutoFit/>
          </a:bodyPr>
          <a:lstStyle/>
          <a:p>
            <a:pPr marL="285750" indent="-285750">
              <a:buFont typeface="Wingdings" panose="05000000000000000000" pitchFamily="2" charset="2"/>
              <a:buChar char="v"/>
            </a:pPr>
            <a:r>
              <a:rPr lang="en-US" sz="2000" dirty="0">
                <a:solidFill>
                  <a:schemeClr val="accent2"/>
                </a:solidFill>
              </a:rPr>
              <a:t>WHAT IS HOISTING?</a:t>
            </a:r>
          </a:p>
          <a:p>
            <a:r>
              <a:rPr lang="en-US" b="1" dirty="0"/>
              <a:t>Hoisting</a:t>
            </a:r>
            <a:r>
              <a:rPr lang="en-US" dirty="0"/>
              <a:t> is a JavaScript behavior where variable and function declarations are moved to the top before the code runs. It </a:t>
            </a:r>
            <a:r>
              <a:rPr lang="en-US" b="1" dirty="0"/>
              <a:t>does not mean JavaScript changes the code</a:t>
            </a:r>
            <a:r>
              <a:rPr lang="en-US" dirty="0"/>
              <a:t> or rewrites it. Instead, </a:t>
            </a:r>
            <a:r>
              <a:rPr lang="en-US" b="1" dirty="0"/>
              <a:t>JavaScript processes the declarations first</a:t>
            </a:r>
            <a:r>
              <a:rPr lang="en-US" dirty="0"/>
              <a:t> before it starts executing the code line by line.</a:t>
            </a:r>
          </a:p>
          <a:p>
            <a:endParaRPr lang="en-US" sz="1850" dirty="0"/>
          </a:p>
          <a:p>
            <a:endParaRPr lang="en-US" sz="1850" dirty="0"/>
          </a:p>
          <a:p>
            <a:endParaRPr lang="en-US" sz="1850" dirty="0"/>
          </a:p>
          <a:p>
            <a:endParaRPr lang="en-US" sz="1850" dirty="0"/>
          </a:p>
          <a:p>
            <a:endParaRPr lang="en-US" sz="1850" dirty="0"/>
          </a:p>
          <a:p>
            <a:endParaRPr lang="en-US" sz="1850" dirty="0"/>
          </a:p>
          <a:p>
            <a:endParaRPr lang="en-US" sz="2000" dirty="0"/>
          </a:p>
          <a:p>
            <a:endParaRPr lang="en-US" sz="1850" dirty="0"/>
          </a:p>
          <a:p>
            <a:endParaRPr lang="en-US" sz="1850" dirty="0"/>
          </a:p>
        </p:txBody>
      </p:sp>
      <p:pic>
        <p:nvPicPr>
          <p:cNvPr id="6" name="Picture 5">
            <a:extLst>
              <a:ext uri="{FF2B5EF4-FFF2-40B4-BE49-F238E27FC236}">
                <a16:creationId xmlns:a16="http://schemas.microsoft.com/office/drawing/2014/main" id="{168943AE-9B86-70F7-72F1-8631605B7831}"/>
              </a:ext>
            </a:extLst>
          </p:cNvPr>
          <p:cNvPicPr>
            <a:picLocks noChangeAspect="1"/>
          </p:cNvPicPr>
          <p:nvPr/>
        </p:nvPicPr>
        <p:blipFill>
          <a:blip r:embed="rId2"/>
          <a:srcRect r="9678"/>
          <a:stretch>
            <a:fillRect/>
          </a:stretch>
        </p:blipFill>
        <p:spPr>
          <a:xfrm>
            <a:off x="5666119" y="2650850"/>
            <a:ext cx="3223882" cy="1120601"/>
          </a:xfrm>
          <a:prstGeom prst="rect">
            <a:avLst/>
          </a:prstGeom>
        </p:spPr>
      </p:pic>
      <p:pic>
        <p:nvPicPr>
          <p:cNvPr id="8" name="Picture 7">
            <a:extLst>
              <a:ext uri="{FF2B5EF4-FFF2-40B4-BE49-F238E27FC236}">
                <a16:creationId xmlns:a16="http://schemas.microsoft.com/office/drawing/2014/main" id="{0087E6D0-8552-25FF-7F6C-480D2676302F}"/>
              </a:ext>
            </a:extLst>
          </p:cNvPr>
          <p:cNvPicPr>
            <a:picLocks noChangeAspect="1"/>
          </p:cNvPicPr>
          <p:nvPr/>
        </p:nvPicPr>
        <p:blipFill>
          <a:blip r:embed="rId3"/>
          <a:stretch>
            <a:fillRect/>
          </a:stretch>
        </p:blipFill>
        <p:spPr>
          <a:xfrm>
            <a:off x="5666119" y="4267358"/>
            <a:ext cx="3223882" cy="1236981"/>
          </a:xfrm>
          <a:prstGeom prst="rect">
            <a:avLst/>
          </a:prstGeom>
        </p:spPr>
      </p:pic>
      <p:sp>
        <p:nvSpPr>
          <p:cNvPr id="9" name="TextBox 8">
            <a:extLst>
              <a:ext uri="{FF2B5EF4-FFF2-40B4-BE49-F238E27FC236}">
                <a16:creationId xmlns:a16="http://schemas.microsoft.com/office/drawing/2014/main" id="{BB2FBB42-7C8A-A078-2D00-484C35A5978C}"/>
              </a:ext>
            </a:extLst>
          </p:cNvPr>
          <p:cNvSpPr txBox="1"/>
          <p:nvPr/>
        </p:nvSpPr>
        <p:spPr>
          <a:xfrm>
            <a:off x="900294" y="2597642"/>
            <a:ext cx="4328944" cy="1200329"/>
          </a:xfrm>
          <a:prstGeom prst="rect">
            <a:avLst/>
          </a:prstGeom>
          <a:noFill/>
        </p:spPr>
        <p:txBody>
          <a:bodyPr wrap="square" rtlCol="0">
            <a:spAutoFit/>
          </a:bodyPr>
          <a:lstStyle/>
          <a:p>
            <a:r>
              <a:rPr lang="en-US" dirty="0"/>
              <a:t>Let’s look at an example. As shown in the code, </a:t>
            </a:r>
            <a:r>
              <a:rPr lang="en-US" b="1" dirty="0"/>
              <a:t>console.log(name) </a:t>
            </a:r>
            <a:r>
              <a:rPr lang="en-US" dirty="0"/>
              <a:t>is executed before the variable </a:t>
            </a:r>
            <a:r>
              <a:rPr lang="en-US" b="1" dirty="0"/>
              <a:t>name</a:t>
            </a:r>
            <a:r>
              <a:rPr lang="en-US" dirty="0"/>
              <a:t> is assigned the value </a:t>
            </a:r>
            <a:r>
              <a:rPr lang="en-US" b="1" dirty="0"/>
              <a:t>"Aleena"</a:t>
            </a:r>
          </a:p>
        </p:txBody>
      </p:sp>
      <p:sp>
        <p:nvSpPr>
          <p:cNvPr id="11" name="TextBox 10">
            <a:extLst>
              <a:ext uri="{FF2B5EF4-FFF2-40B4-BE49-F238E27FC236}">
                <a16:creationId xmlns:a16="http://schemas.microsoft.com/office/drawing/2014/main" id="{5B033906-5EE5-8ACF-437E-8B4F368F5D11}"/>
              </a:ext>
            </a:extLst>
          </p:cNvPr>
          <p:cNvSpPr txBox="1"/>
          <p:nvPr/>
        </p:nvSpPr>
        <p:spPr>
          <a:xfrm>
            <a:off x="900294" y="4027011"/>
            <a:ext cx="4328944" cy="1477328"/>
          </a:xfrm>
          <a:prstGeom prst="rect">
            <a:avLst/>
          </a:prstGeom>
          <a:noFill/>
        </p:spPr>
        <p:txBody>
          <a:bodyPr wrap="square" rtlCol="0">
            <a:spAutoFit/>
          </a:bodyPr>
          <a:lstStyle/>
          <a:p>
            <a:r>
              <a:rPr lang="en-US" dirty="0"/>
              <a:t>This is how JavaScript treats the code after hoisting. The variable </a:t>
            </a:r>
            <a:r>
              <a:rPr lang="en-US" b="1" dirty="0"/>
              <a:t>name </a:t>
            </a:r>
            <a:r>
              <a:rPr lang="en-US" dirty="0"/>
              <a:t>is declared first, then it is accessed using </a:t>
            </a:r>
            <a:r>
              <a:rPr lang="en-US" b="1" dirty="0"/>
              <a:t>console.log()</a:t>
            </a:r>
            <a:r>
              <a:rPr lang="en-US" dirty="0"/>
              <a:t>, and finally the value </a:t>
            </a:r>
            <a:r>
              <a:rPr lang="en-US" b="1" dirty="0"/>
              <a:t>"Aleena" </a:t>
            </a:r>
            <a:r>
              <a:rPr lang="en-US" dirty="0"/>
              <a:t>is assigned to it.</a:t>
            </a:r>
            <a:endParaRPr lang="en-US" b="1" dirty="0"/>
          </a:p>
        </p:txBody>
      </p:sp>
    </p:spTree>
    <p:extLst>
      <p:ext uri="{BB962C8B-B14F-4D97-AF65-F5344CB8AC3E}">
        <p14:creationId xmlns:p14="http://schemas.microsoft.com/office/powerpoint/2010/main" val="4020397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BCC31-BF57-04EF-37E2-28159A9D41D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1A0A9D4-895D-76FD-7A44-1642754491E7}"/>
              </a:ext>
            </a:extLst>
          </p:cNvPr>
          <p:cNvSpPr txBox="1"/>
          <p:nvPr/>
        </p:nvSpPr>
        <p:spPr>
          <a:xfrm>
            <a:off x="900294" y="704602"/>
            <a:ext cx="8160152" cy="5193729"/>
          </a:xfrm>
          <a:prstGeom prst="rect">
            <a:avLst/>
          </a:prstGeom>
          <a:noFill/>
        </p:spPr>
        <p:txBody>
          <a:bodyPr wrap="square" rtlCol="0">
            <a:spAutoFit/>
          </a:bodyPr>
          <a:lstStyle/>
          <a:p>
            <a:pPr algn="ctr"/>
            <a:r>
              <a:rPr lang="en-US" sz="2000" u="sng" dirty="0">
                <a:solidFill>
                  <a:schemeClr val="accent2"/>
                </a:solidFill>
              </a:rPr>
              <a:t>Hoisting with var</a:t>
            </a:r>
          </a:p>
          <a:p>
            <a:pPr algn="ctr"/>
            <a:endParaRPr lang="en-US" u="sng" dirty="0">
              <a:solidFill>
                <a:schemeClr val="accent2"/>
              </a:solidFill>
            </a:endParaRPr>
          </a:p>
          <a:p>
            <a:r>
              <a:rPr lang="en-US" dirty="0"/>
              <a:t>In the example below, we are applying the concept of </a:t>
            </a:r>
            <a:r>
              <a:rPr lang="en-US" b="1" dirty="0"/>
              <a:t>hoisting on a var variable</a:t>
            </a:r>
            <a:r>
              <a:rPr lang="en-US" dirty="0"/>
              <a:t>. The var keyword allows JavaScript to move the variable declaration to the top of its scope before executing the code. However, only the declaration is moved, not the assigned value.</a:t>
            </a:r>
          </a:p>
          <a:p>
            <a:endParaRPr lang="en-US" u="sng" dirty="0">
              <a:solidFill>
                <a:schemeClr val="accent2"/>
              </a:solidFill>
            </a:endParaRPr>
          </a:p>
          <a:p>
            <a:endParaRPr lang="en-US" u="sng" dirty="0">
              <a:solidFill>
                <a:schemeClr val="accent2"/>
              </a:solidFill>
            </a:endParaRPr>
          </a:p>
          <a:p>
            <a:endParaRPr lang="en-US" sz="1950" dirty="0"/>
          </a:p>
          <a:p>
            <a:endParaRPr lang="en-US" sz="1950" b="1" dirty="0"/>
          </a:p>
          <a:p>
            <a:endParaRPr lang="en-US" sz="1950" dirty="0"/>
          </a:p>
          <a:p>
            <a:endParaRPr lang="en-US" sz="1850" dirty="0"/>
          </a:p>
          <a:p>
            <a:endParaRPr lang="en-US" sz="800" dirty="0"/>
          </a:p>
          <a:p>
            <a:r>
              <a:rPr lang="en-US" dirty="0"/>
              <a:t>Before executing the code, JavaScript performs hoisting. It moves the declaration </a:t>
            </a:r>
            <a:r>
              <a:rPr lang="en-US" b="1" dirty="0"/>
              <a:t>var name;</a:t>
            </a:r>
            <a:r>
              <a:rPr lang="en-US" dirty="0"/>
              <a:t> to the top and automatically assigns it the value </a:t>
            </a:r>
            <a:r>
              <a:rPr lang="en-US" b="1" dirty="0"/>
              <a:t>undefined. </a:t>
            </a:r>
            <a:r>
              <a:rPr lang="en-US" dirty="0"/>
              <a:t>The (name = "Aleena") remains at its original position. Therefore, when the </a:t>
            </a:r>
            <a:r>
              <a:rPr lang="en-US" b="1" dirty="0"/>
              <a:t>console.log() </a:t>
            </a:r>
            <a:r>
              <a:rPr lang="en-US" dirty="0"/>
              <a:t>runs, the variable exists but does not have a value yet, so it prints </a:t>
            </a:r>
            <a:r>
              <a:rPr lang="en-US" b="1" dirty="0"/>
              <a:t>undefined.</a:t>
            </a:r>
            <a:r>
              <a:rPr lang="en-US" dirty="0"/>
              <a:t> </a:t>
            </a:r>
          </a:p>
        </p:txBody>
      </p:sp>
      <p:pic>
        <p:nvPicPr>
          <p:cNvPr id="6" name="Picture 5">
            <a:extLst>
              <a:ext uri="{FF2B5EF4-FFF2-40B4-BE49-F238E27FC236}">
                <a16:creationId xmlns:a16="http://schemas.microsoft.com/office/drawing/2014/main" id="{732F56A0-775F-879B-2B3B-3072AE544220}"/>
              </a:ext>
            </a:extLst>
          </p:cNvPr>
          <p:cNvPicPr>
            <a:picLocks noChangeAspect="1"/>
          </p:cNvPicPr>
          <p:nvPr/>
        </p:nvPicPr>
        <p:blipFill>
          <a:blip r:embed="rId2"/>
          <a:stretch>
            <a:fillRect/>
          </a:stretch>
        </p:blipFill>
        <p:spPr>
          <a:xfrm>
            <a:off x="1006676" y="2745158"/>
            <a:ext cx="6226080" cy="1112616"/>
          </a:xfrm>
          <a:prstGeom prst="rect">
            <a:avLst/>
          </a:prstGeom>
        </p:spPr>
      </p:pic>
    </p:spTree>
    <p:extLst>
      <p:ext uri="{BB962C8B-B14F-4D97-AF65-F5344CB8AC3E}">
        <p14:creationId xmlns:p14="http://schemas.microsoft.com/office/powerpoint/2010/main" val="927455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9FED27-08E6-49C8-4F61-A0479947717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1EF3C2C-9ECF-D07C-6F0F-978ECA9D551F}"/>
              </a:ext>
            </a:extLst>
          </p:cNvPr>
          <p:cNvSpPr txBox="1"/>
          <p:nvPr/>
        </p:nvSpPr>
        <p:spPr>
          <a:xfrm>
            <a:off x="900294" y="704602"/>
            <a:ext cx="8160152" cy="369332"/>
          </a:xfrm>
          <a:prstGeom prst="rect">
            <a:avLst/>
          </a:prstGeom>
          <a:noFill/>
        </p:spPr>
        <p:txBody>
          <a:bodyPr wrap="square" rtlCol="0">
            <a:spAutoFit/>
          </a:bodyPr>
          <a:lstStyle/>
          <a:p>
            <a:endParaRPr lang="en-US" dirty="0"/>
          </a:p>
        </p:txBody>
      </p:sp>
      <p:sp>
        <p:nvSpPr>
          <p:cNvPr id="5" name="TextBox 4">
            <a:extLst>
              <a:ext uri="{FF2B5EF4-FFF2-40B4-BE49-F238E27FC236}">
                <a16:creationId xmlns:a16="http://schemas.microsoft.com/office/drawing/2014/main" id="{C33980A6-BB70-14D1-F042-771903D36AD5}"/>
              </a:ext>
            </a:extLst>
          </p:cNvPr>
          <p:cNvSpPr txBox="1"/>
          <p:nvPr/>
        </p:nvSpPr>
        <p:spPr>
          <a:xfrm>
            <a:off x="1066438" y="874767"/>
            <a:ext cx="5879690" cy="383458"/>
          </a:xfrm>
          <a:prstGeom prst="rect">
            <a:avLst/>
          </a:prstGeom>
          <a:noFill/>
        </p:spPr>
        <p:txBody>
          <a:bodyPr wrap="square" rtlCol="0">
            <a:spAutoFit/>
          </a:bodyPr>
          <a:lstStyle/>
          <a:p>
            <a:r>
              <a:rPr lang="en-US" dirty="0"/>
              <a:t>This is how JavaScript will read it:</a:t>
            </a:r>
          </a:p>
        </p:txBody>
      </p:sp>
      <p:sp>
        <p:nvSpPr>
          <p:cNvPr id="7" name="TextBox 6">
            <a:extLst>
              <a:ext uri="{FF2B5EF4-FFF2-40B4-BE49-F238E27FC236}">
                <a16:creationId xmlns:a16="http://schemas.microsoft.com/office/drawing/2014/main" id="{186AD45B-6604-2A06-222C-9C47A9BBA95F}"/>
              </a:ext>
            </a:extLst>
          </p:cNvPr>
          <p:cNvSpPr txBox="1"/>
          <p:nvPr/>
        </p:nvSpPr>
        <p:spPr>
          <a:xfrm>
            <a:off x="1066438" y="3045542"/>
            <a:ext cx="5879690" cy="383458"/>
          </a:xfrm>
          <a:prstGeom prst="rect">
            <a:avLst/>
          </a:prstGeom>
          <a:noFill/>
        </p:spPr>
        <p:txBody>
          <a:bodyPr wrap="square" rtlCol="0">
            <a:spAutoFit/>
          </a:bodyPr>
          <a:lstStyle/>
          <a:p>
            <a:r>
              <a:rPr lang="en-US" dirty="0"/>
              <a:t>Output:</a:t>
            </a:r>
          </a:p>
        </p:txBody>
      </p:sp>
      <p:pic>
        <p:nvPicPr>
          <p:cNvPr id="9" name="Picture 8">
            <a:extLst>
              <a:ext uri="{FF2B5EF4-FFF2-40B4-BE49-F238E27FC236}">
                <a16:creationId xmlns:a16="http://schemas.microsoft.com/office/drawing/2014/main" id="{19F4DAA1-F221-43DC-F70C-D6D16E6E8B06}"/>
              </a:ext>
            </a:extLst>
          </p:cNvPr>
          <p:cNvPicPr>
            <a:picLocks noChangeAspect="1"/>
          </p:cNvPicPr>
          <p:nvPr/>
        </p:nvPicPr>
        <p:blipFill>
          <a:blip r:embed="rId2"/>
          <a:stretch>
            <a:fillRect/>
          </a:stretch>
        </p:blipFill>
        <p:spPr>
          <a:xfrm>
            <a:off x="1197778" y="1408171"/>
            <a:ext cx="6492803" cy="1303133"/>
          </a:xfrm>
          <a:prstGeom prst="rect">
            <a:avLst/>
          </a:prstGeom>
        </p:spPr>
      </p:pic>
    </p:spTree>
    <p:extLst>
      <p:ext uri="{BB962C8B-B14F-4D97-AF65-F5344CB8AC3E}">
        <p14:creationId xmlns:p14="http://schemas.microsoft.com/office/powerpoint/2010/main" val="3028312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D4E25-2DD2-740E-370A-2FB81CC8AE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CF2A7F5-5E03-F6DE-A39F-8D3ABB594ABE}"/>
              </a:ext>
            </a:extLst>
          </p:cNvPr>
          <p:cNvSpPr txBox="1"/>
          <p:nvPr/>
        </p:nvSpPr>
        <p:spPr>
          <a:xfrm>
            <a:off x="900294" y="623322"/>
            <a:ext cx="7781590" cy="4793620"/>
          </a:xfrm>
          <a:prstGeom prst="rect">
            <a:avLst/>
          </a:prstGeom>
          <a:noFill/>
        </p:spPr>
        <p:txBody>
          <a:bodyPr wrap="square" rtlCol="0">
            <a:spAutoFit/>
          </a:bodyPr>
          <a:lstStyle/>
          <a:p>
            <a:pPr algn="ctr"/>
            <a:r>
              <a:rPr lang="en-US" sz="2000" u="sng" dirty="0">
                <a:solidFill>
                  <a:schemeClr val="accent2"/>
                </a:solidFill>
              </a:rPr>
              <a:t>Hoisting with let</a:t>
            </a:r>
          </a:p>
          <a:p>
            <a:pPr algn="ctr"/>
            <a:endParaRPr lang="en-US" u="sng" dirty="0">
              <a:solidFill>
                <a:schemeClr val="accent2"/>
              </a:solidFill>
            </a:endParaRPr>
          </a:p>
          <a:p>
            <a:r>
              <a:rPr lang="en-US" dirty="0"/>
              <a:t>In this example, we are applying the concept of </a:t>
            </a:r>
            <a:r>
              <a:rPr lang="en-US" b="1" dirty="0"/>
              <a:t>hoisting with the let keyword</a:t>
            </a:r>
            <a:r>
              <a:rPr lang="en-US" dirty="0"/>
              <a:t>. </a:t>
            </a:r>
          </a:p>
          <a:p>
            <a:endParaRPr lang="en-US" sz="1950" dirty="0"/>
          </a:p>
          <a:p>
            <a:endParaRPr lang="en-US" sz="1950" dirty="0"/>
          </a:p>
          <a:p>
            <a:endParaRPr lang="en-US" sz="1950" dirty="0"/>
          </a:p>
          <a:p>
            <a:endParaRPr lang="en-US" sz="1950" dirty="0"/>
          </a:p>
          <a:p>
            <a:endParaRPr lang="en-US" sz="1950" dirty="0"/>
          </a:p>
          <a:p>
            <a:r>
              <a:rPr lang="en-US" dirty="0"/>
              <a:t>During hoisting, JavaScript creates the variable </a:t>
            </a:r>
            <a:r>
              <a:rPr lang="en-US" b="1" dirty="0"/>
              <a:t>age</a:t>
            </a:r>
            <a:r>
              <a:rPr lang="en-US" dirty="0"/>
              <a:t>, but it does not assign any value to it. The variable stays in the </a:t>
            </a:r>
            <a:r>
              <a:rPr lang="en-US" b="1" dirty="0"/>
              <a:t>Temporal Dead Zone (TDZ). </a:t>
            </a:r>
            <a:r>
              <a:rPr lang="en-US" dirty="0"/>
              <a:t>Since JavaScript executes code synchronously, it runs the program line by line from top to bottom. When it reaches </a:t>
            </a:r>
            <a:r>
              <a:rPr lang="en-US" b="1" dirty="0"/>
              <a:t>console.log(age)</a:t>
            </a:r>
            <a:r>
              <a:rPr lang="en-US" dirty="0"/>
              <a:t>, the variable is still in the </a:t>
            </a:r>
            <a:r>
              <a:rPr lang="en-US" b="1" dirty="0"/>
              <a:t>TDZ</a:t>
            </a:r>
            <a:r>
              <a:rPr lang="en-US" dirty="0"/>
              <a:t> because the declaration has not been executed yet. As a result, JavaScript shows a </a:t>
            </a:r>
            <a:r>
              <a:rPr lang="en-US" b="1" dirty="0"/>
              <a:t>ReferenceError</a:t>
            </a:r>
            <a:r>
              <a:rPr lang="en-US" dirty="0"/>
              <a:t> and stops executing the remaining code.</a:t>
            </a:r>
            <a:endParaRPr lang="en-US" sz="1850" dirty="0"/>
          </a:p>
          <a:p>
            <a:endParaRPr lang="en-US" sz="800" dirty="0"/>
          </a:p>
        </p:txBody>
      </p:sp>
      <p:pic>
        <p:nvPicPr>
          <p:cNvPr id="3" name="Picture 2">
            <a:extLst>
              <a:ext uri="{FF2B5EF4-FFF2-40B4-BE49-F238E27FC236}">
                <a16:creationId xmlns:a16="http://schemas.microsoft.com/office/drawing/2014/main" id="{A5CC5D4A-56FD-0846-5500-4554B3454A3D}"/>
              </a:ext>
            </a:extLst>
          </p:cNvPr>
          <p:cNvPicPr>
            <a:picLocks noChangeAspect="1"/>
          </p:cNvPicPr>
          <p:nvPr/>
        </p:nvPicPr>
        <p:blipFill>
          <a:blip r:embed="rId2"/>
          <a:stretch>
            <a:fillRect/>
          </a:stretch>
        </p:blipFill>
        <p:spPr>
          <a:xfrm>
            <a:off x="996371" y="1937996"/>
            <a:ext cx="6643621" cy="1140913"/>
          </a:xfrm>
          <a:prstGeom prst="rect">
            <a:avLst/>
          </a:prstGeom>
        </p:spPr>
      </p:pic>
    </p:spTree>
    <p:extLst>
      <p:ext uri="{BB962C8B-B14F-4D97-AF65-F5344CB8AC3E}">
        <p14:creationId xmlns:p14="http://schemas.microsoft.com/office/powerpoint/2010/main" val="7951045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E2E6A-81B9-A036-440E-33B01A172C6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AA351B9-AE3D-6660-F798-31CA7952469D}"/>
              </a:ext>
            </a:extLst>
          </p:cNvPr>
          <p:cNvPicPr>
            <a:picLocks noChangeAspect="1"/>
          </p:cNvPicPr>
          <p:nvPr/>
        </p:nvPicPr>
        <p:blipFill>
          <a:blip r:embed="rId2"/>
          <a:stretch>
            <a:fillRect/>
          </a:stretch>
        </p:blipFill>
        <p:spPr>
          <a:xfrm>
            <a:off x="1095935" y="2664243"/>
            <a:ext cx="6477561" cy="1265030"/>
          </a:xfrm>
          <a:prstGeom prst="rect">
            <a:avLst/>
          </a:prstGeom>
        </p:spPr>
      </p:pic>
      <p:sp>
        <p:nvSpPr>
          <p:cNvPr id="3" name="TextBox 2">
            <a:extLst>
              <a:ext uri="{FF2B5EF4-FFF2-40B4-BE49-F238E27FC236}">
                <a16:creationId xmlns:a16="http://schemas.microsoft.com/office/drawing/2014/main" id="{828B9D0E-8517-8E32-9495-60D0E64E1F0E}"/>
              </a:ext>
            </a:extLst>
          </p:cNvPr>
          <p:cNvSpPr txBox="1"/>
          <p:nvPr/>
        </p:nvSpPr>
        <p:spPr>
          <a:xfrm>
            <a:off x="1056605" y="786093"/>
            <a:ext cx="7654776" cy="1138773"/>
          </a:xfrm>
          <a:prstGeom prst="rect">
            <a:avLst/>
          </a:prstGeom>
          <a:solidFill>
            <a:schemeClr val="accent1">
              <a:lumMod val="20000"/>
              <a:lumOff val="80000"/>
            </a:schemeClr>
          </a:solidFill>
        </p:spPr>
        <p:txBody>
          <a:bodyPr wrap="square" rtlCol="0">
            <a:spAutoFit/>
          </a:bodyPr>
          <a:lstStyle/>
          <a:p>
            <a:pPr marL="285750" indent="-285750">
              <a:buFont typeface="Wingdings" panose="05000000000000000000" pitchFamily="2" charset="2"/>
              <a:buChar char="ü"/>
            </a:pPr>
            <a:r>
              <a:rPr lang="en-US" sz="1700" b="1" dirty="0">
                <a:solidFill>
                  <a:schemeClr val="accent1">
                    <a:lumMod val="75000"/>
                  </a:schemeClr>
                </a:solidFill>
              </a:rPr>
              <a:t>What is a Temporal Dead Zone (TDZ)?</a:t>
            </a:r>
          </a:p>
          <a:p>
            <a:r>
              <a:rPr lang="en-US" sz="1700" dirty="0"/>
              <a:t>It is the time between when a </a:t>
            </a:r>
            <a:r>
              <a:rPr lang="en-US" sz="1700" b="1" dirty="0"/>
              <a:t>let</a:t>
            </a:r>
            <a:r>
              <a:rPr lang="en-US" sz="1700" dirty="0"/>
              <a:t> or </a:t>
            </a:r>
            <a:r>
              <a:rPr lang="en-US" sz="1700" b="1" dirty="0"/>
              <a:t>const</a:t>
            </a:r>
            <a:r>
              <a:rPr lang="en-US" sz="1700" dirty="0"/>
              <a:t> variable is created and when it gets its value. During this time, the variables cannot be used and If we try to access it before its declaration, JavaScript gives a </a:t>
            </a:r>
            <a:r>
              <a:rPr lang="en-US" sz="1700" b="1" dirty="0"/>
              <a:t>ReferenceError</a:t>
            </a:r>
            <a:r>
              <a:rPr lang="en-US" sz="1700" dirty="0"/>
              <a:t>.</a:t>
            </a:r>
          </a:p>
        </p:txBody>
      </p:sp>
      <p:sp>
        <p:nvSpPr>
          <p:cNvPr id="7" name="TextBox 6">
            <a:extLst>
              <a:ext uri="{FF2B5EF4-FFF2-40B4-BE49-F238E27FC236}">
                <a16:creationId xmlns:a16="http://schemas.microsoft.com/office/drawing/2014/main" id="{3A27F2F6-1AFB-7A21-CDF6-1E39C83DE800}"/>
              </a:ext>
            </a:extLst>
          </p:cNvPr>
          <p:cNvSpPr txBox="1"/>
          <p:nvPr/>
        </p:nvSpPr>
        <p:spPr>
          <a:xfrm>
            <a:off x="987779" y="2251289"/>
            <a:ext cx="5879690" cy="383458"/>
          </a:xfrm>
          <a:prstGeom prst="rect">
            <a:avLst/>
          </a:prstGeom>
          <a:noFill/>
        </p:spPr>
        <p:txBody>
          <a:bodyPr wrap="square" rtlCol="0">
            <a:spAutoFit/>
          </a:bodyPr>
          <a:lstStyle/>
          <a:p>
            <a:r>
              <a:rPr lang="en-US" dirty="0"/>
              <a:t>This is how JavaScript will read it:</a:t>
            </a:r>
          </a:p>
        </p:txBody>
      </p:sp>
      <p:sp>
        <p:nvSpPr>
          <p:cNvPr id="9" name="TextBox 8">
            <a:extLst>
              <a:ext uri="{FF2B5EF4-FFF2-40B4-BE49-F238E27FC236}">
                <a16:creationId xmlns:a16="http://schemas.microsoft.com/office/drawing/2014/main" id="{02FFF34D-16BD-D700-5EC6-40BE83173004}"/>
              </a:ext>
            </a:extLst>
          </p:cNvPr>
          <p:cNvSpPr txBox="1"/>
          <p:nvPr/>
        </p:nvSpPr>
        <p:spPr>
          <a:xfrm>
            <a:off x="987779" y="4084821"/>
            <a:ext cx="5879690" cy="383458"/>
          </a:xfrm>
          <a:prstGeom prst="rect">
            <a:avLst/>
          </a:prstGeom>
          <a:noFill/>
        </p:spPr>
        <p:txBody>
          <a:bodyPr wrap="square" rtlCol="0">
            <a:spAutoFit/>
          </a:bodyPr>
          <a:lstStyle/>
          <a:p>
            <a:r>
              <a:rPr lang="en-US" dirty="0"/>
              <a:t>Output:</a:t>
            </a:r>
          </a:p>
        </p:txBody>
      </p:sp>
      <p:pic>
        <p:nvPicPr>
          <p:cNvPr id="11" name="Picture 10">
            <a:extLst>
              <a:ext uri="{FF2B5EF4-FFF2-40B4-BE49-F238E27FC236}">
                <a16:creationId xmlns:a16="http://schemas.microsoft.com/office/drawing/2014/main" id="{2A3A28A7-0F58-76CE-7D30-356F7DFAD1B4}"/>
              </a:ext>
            </a:extLst>
          </p:cNvPr>
          <p:cNvPicPr>
            <a:picLocks noChangeAspect="1"/>
          </p:cNvPicPr>
          <p:nvPr/>
        </p:nvPicPr>
        <p:blipFill>
          <a:blip r:embed="rId3"/>
          <a:stretch>
            <a:fillRect/>
          </a:stretch>
        </p:blipFill>
        <p:spPr>
          <a:xfrm>
            <a:off x="1076271" y="4546935"/>
            <a:ext cx="6590197" cy="1532199"/>
          </a:xfrm>
          <a:prstGeom prst="rect">
            <a:avLst/>
          </a:prstGeom>
        </p:spPr>
      </p:pic>
    </p:spTree>
    <p:extLst>
      <p:ext uri="{BB962C8B-B14F-4D97-AF65-F5344CB8AC3E}">
        <p14:creationId xmlns:p14="http://schemas.microsoft.com/office/powerpoint/2010/main" val="28795805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61C13-8BFD-A167-DB62-6E059EE14FD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43CEDAA-B44E-31B4-0882-78A9F976A9FA}"/>
              </a:ext>
            </a:extLst>
          </p:cNvPr>
          <p:cNvSpPr txBox="1"/>
          <p:nvPr/>
        </p:nvSpPr>
        <p:spPr>
          <a:xfrm>
            <a:off x="900294" y="704602"/>
            <a:ext cx="8160152" cy="4893647"/>
          </a:xfrm>
          <a:prstGeom prst="rect">
            <a:avLst/>
          </a:prstGeom>
          <a:noFill/>
        </p:spPr>
        <p:txBody>
          <a:bodyPr wrap="square" rtlCol="0">
            <a:spAutoFit/>
          </a:bodyPr>
          <a:lstStyle/>
          <a:p>
            <a:pPr algn="ctr"/>
            <a:r>
              <a:rPr lang="en-US" sz="2000" u="sng" dirty="0">
                <a:solidFill>
                  <a:schemeClr val="accent2"/>
                </a:solidFill>
              </a:rPr>
              <a:t>Hoisting with const</a:t>
            </a:r>
          </a:p>
          <a:p>
            <a:pPr algn="ctr"/>
            <a:endParaRPr lang="en-US" u="sng" dirty="0">
              <a:solidFill>
                <a:schemeClr val="accent2"/>
              </a:solidFill>
            </a:endParaRPr>
          </a:p>
          <a:p>
            <a:r>
              <a:rPr lang="en-US" dirty="0"/>
              <a:t>In this example, we are applying the concept of </a:t>
            </a:r>
            <a:r>
              <a:rPr lang="en-US" b="1" dirty="0"/>
              <a:t>hoisting with the const keyword</a:t>
            </a:r>
            <a:r>
              <a:rPr lang="en-US" dirty="0"/>
              <a:t>. Similar to let, variables declared with const are hoisted but are not initialized with a value.</a:t>
            </a:r>
            <a:endParaRPr lang="en-US" u="sng" dirty="0">
              <a:solidFill>
                <a:schemeClr val="accent2"/>
              </a:solidFill>
            </a:endParaRPr>
          </a:p>
          <a:p>
            <a:endParaRPr lang="en-US" u="sng" dirty="0">
              <a:solidFill>
                <a:schemeClr val="accent2"/>
              </a:solidFill>
            </a:endParaRPr>
          </a:p>
          <a:p>
            <a:endParaRPr lang="en-US" sz="1950" dirty="0"/>
          </a:p>
          <a:p>
            <a:endParaRPr lang="en-US" sz="1950" dirty="0"/>
          </a:p>
          <a:p>
            <a:endParaRPr lang="en-US" sz="1950" dirty="0"/>
          </a:p>
          <a:p>
            <a:endParaRPr lang="en-US" sz="1950" dirty="0"/>
          </a:p>
          <a:p>
            <a:endParaRPr lang="en-US" sz="800" dirty="0"/>
          </a:p>
          <a:p>
            <a:endParaRPr lang="en-US" sz="800" dirty="0"/>
          </a:p>
          <a:p>
            <a:r>
              <a:rPr lang="en-US" dirty="0"/>
              <a:t>Similar to let, JavaScript moves the declaration of const pi to the top, but the value 3.14 is not assigned immediately. The variable stays in the </a:t>
            </a:r>
            <a:r>
              <a:rPr lang="en-US" b="1" dirty="0"/>
              <a:t>Temporal Dead Zone (TDZ)</a:t>
            </a:r>
            <a:r>
              <a:rPr lang="en-US" dirty="0"/>
              <a:t>. When the program runs line by line from top to bottom and it reaches console.log(pi), pi it will still be in the TDZ because its declaration has not been executed yet. As a result, JavaScript shows a </a:t>
            </a:r>
            <a:r>
              <a:rPr lang="en-US" b="1" dirty="0"/>
              <a:t>ReferenceError</a:t>
            </a:r>
            <a:r>
              <a:rPr lang="en-US" dirty="0"/>
              <a:t> and stops executing the remaining code.</a:t>
            </a:r>
          </a:p>
        </p:txBody>
      </p:sp>
      <p:pic>
        <p:nvPicPr>
          <p:cNvPr id="3" name="Picture 2">
            <a:extLst>
              <a:ext uri="{FF2B5EF4-FFF2-40B4-BE49-F238E27FC236}">
                <a16:creationId xmlns:a16="http://schemas.microsoft.com/office/drawing/2014/main" id="{8B846182-7785-2F92-EB79-B6849CF4D3BC}"/>
              </a:ext>
            </a:extLst>
          </p:cNvPr>
          <p:cNvPicPr>
            <a:picLocks noChangeAspect="1"/>
          </p:cNvPicPr>
          <p:nvPr/>
        </p:nvPicPr>
        <p:blipFill>
          <a:blip r:embed="rId2"/>
          <a:stretch>
            <a:fillRect/>
          </a:stretch>
        </p:blipFill>
        <p:spPr>
          <a:xfrm>
            <a:off x="998614" y="2341127"/>
            <a:ext cx="5757130" cy="1306639"/>
          </a:xfrm>
          <a:prstGeom prst="rect">
            <a:avLst/>
          </a:prstGeom>
        </p:spPr>
      </p:pic>
    </p:spTree>
    <p:extLst>
      <p:ext uri="{BB962C8B-B14F-4D97-AF65-F5344CB8AC3E}">
        <p14:creationId xmlns:p14="http://schemas.microsoft.com/office/powerpoint/2010/main" val="42565733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28AE1-820F-DE7A-76F8-965AAAAC36C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E6A878-2D8A-CBD2-5722-DE1A9C0AFB57}"/>
              </a:ext>
            </a:extLst>
          </p:cNvPr>
          <p:cNvSpPr txBox="1"/>
          <p:nvPr/>
        </p:nvSpPr>
        <p:spPr>
          <a:xfrm>
            <a:off x="1230911" y="3508227"/>
            <a:ext cx="8160152" cy="369332"/>
          </a:xfrm>
          <a:prstGeom prst="rect">
            <a:avLst/>
          </a:prstGeom>
          <a:noFill/>
        </p:spPr>
        <p:txBody>
          <a:bodyPr wrap="square" rtlCol="0">
            <a:spAutoFit/>
          </a:bodyPr>
          <a:lstStyle/>
          <a:p>
            <a:r>
              <a:rPr lang="en-US" dirty="0"/>
              <a:t>Output:</a:t>
            </a:r>
          </a:p>
        </p:txBody>
      </p:sp>
      <p:pic>
        <p:nvPicPr>
          <p:cNvPr id="3" name="Picture 2">
            <a:extLst>
              <a:ext uri="{FF2B5EF4-FFF2-40B4-BE49-F238E27FC236}">
                <a16:creationId xmlns:a16="http://schemas.microsoft.com/office/drawing/2014/main" id="{499B1EC5-450E-8689-66AD-EBF0193036EA}"/>
              </a:ext>
            </a:extLst>
          </p:cNvPr>
          <p:cNvPicPr>
            <a:picLocks noChangeAspect="1"/>
          </p:cNvPicPr>
          <p:nvPr/>
        </p:nvPicPr>
        <p:blipFill>
          <a:blip r:embed="rId2"/>
          <a:stretch>
            <a:fillRect/>
          </a:stretch>
        </p:blipFill>
        <p:spPr>
          <a:xfrm>
            <a:off x="1230911" y="1441069"/>
            <a:ext cx="6759526" cy="1539373"/>
          </a:xfrm>
          <a:prstGeom prst="rect">
            <a:avLst/>
          </a:prstGeom>
        </p:spPr>
      </p:pic>
      <p:pic>
        <p:nvPicPr>
          <p:cNvPr id="5" name="Picture 4">
            <a:extLst>
              <a:ext uri="{FF2B5EF4-FFF2-40B4-BE49-F238E27FC236}">
                <a16:creationId xmlns:a16="http://schemas.microsoft.com/office/drawing/2014/main" id="{B19463AC-19E3-7FE6-521C-6EDF789E963A}"/>
              </a:ext>
            </a:extLst>
          </p:cNvPr>
          <p:cNvPicPr>
            <a:picLocks noChangeAspect="1"/>
          </p:cNvPicPr>
          <p:nvPr/>
        </p:nvPicPr>
        <p:blipFill>
          <a:blip r:embed="rId3"/>
          <a:stretch>
            <a:fillRect/>
          </a:stretch>
        </p:blipFill>
        <p:spPr>
          <a:xfrm>
            <a:off x="1171917" y="3999839"/>
            <a:ext cx="7195634" cy="1624212"/>
          </a:xfrm>
          <a:prstGeom prst="rect">
            <a:avLst/>
          </a:prstGeom>
        </p:spPr>
      </p:pic>
      <p:sp>
        <p:nvSpPr>
          <p:cNvPr id="6" name="TextBox 5">
            <a:extLst>
              <a:ext uri="{FF2B5EF4-FFF2-40B4-BE49-F238E27FC236}">
                <a16:creationId xmlns:a16="http://schemas.microsoft.com/office/drawing/2014/main" id="{14EE85F5-5978-B49F-FC6A-9D9A3985E0CF}"/>
              </a:ext>
            </a:extLst>
          </p:cNvPr>
          <p:cNvSpPr txBox="1"/>
          <p:nvPr/>
        </p:nvSpPr>
        <p:spPr>
          <a:xfrm>
            <a:off x="1171917" y="880008"/>
            <a:ext cx="5879690" cy="383458"/>
          </a:xfrm>
          <a:prstGeom prst="rect">
            <a:avLst/>
          </a:prstGeom>
          <a:noFill/>
        </p:spPr>
        <p:txBody>
          <a:bodyPr wrap="square" rtlCol="0">
            <a:spAutoFit/>
          </a:bodyPr>
          <a:lstStyle/>
          <a:p>
            <a:r>
              <a:rPr lang="en-US" dirty="0"/>
              <a:t>This is how JavaScript will read it:</a:t>
            </a:r>
          </a:p>
        </p:txBody>
      </p:sp>
    </p:spTree>
    <p:extLst>
      <p:ext uri="{BB962C8B-B14F-4D97-AF65-F5344CB8AC3E}">
        <p14:creationId xmlns:p14="http://schemas.microsoft.com/office/powerpoint/2010/main" val="42348733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57A0E2-560F-A51F-5AAF-D653A5CB4B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3D5A6C-B36B-9906-BEBC-36C996DD5FFA}"/>
              </a:ext>
            </a:extLst>
          </p:cNvPr>
          <p:cNvSpPr txBox="1"/>
          <p:nvPr/>
        </p:nvSpPr>
        <p:spPr>
          <a:xfrm>
            <a:off x="900294" y="704602"/>
            <a:ext cx="8160152" cy="3724096"/>
          </a:xfrm>
          <a:prstGeom prst="rect">
            <a:avLst/>
          </a:prstGeom>
          <a:noFill/>
        </p:spPr>
        <p:txBody>
          <a:bodyPr wrap="square" rtlCol="0">
            <a:spAutoFit/>
          </a:bodyPr>
          <a:lstStyle/>
          <a:p>
            <a:pPr algn="ctr"/>
            <a:r>
              <a:rPr lang="en-US" sz="2000" u="sng" dirty="0">
                <a:solidFill>
                  <a:schemeClr val="accent2"/>
                </a:solidFill>
              </a:rPr>
              <a:t>Hoisting with Function</a:t>
            </a:r>
          </a:p>
          <a:p>
            <a:pPr algn="ctr"/>
            <a:endParaRPr lang="en-US" u="sng" dirty="0">
              <a:solidFill>
                <a:schemeClr val="accent2"/>
              </a:solidFill>
            </a:endParaRPr>
          </a:p>
          <a:p>
            <a:endParaRPr lang="en-US" dirty="0"/>
          </a:p>
          <a:p>
            <a:endParaRPr lang="en-US" dirty="0"/>
          </a:p>
          <a:p>
            <a:endParaRPr lang="en-US" dirty="0"/>
          </a:p>
          <a:p>
            <a:endParaRPr lang="en-US" dirty="0"/>
          </a:p>
          <a:p>
            <a:endParaRPr lang="en-US" sz="2800" dirty="0"/>
          </a:p>
          <a:p>
            <a:endParaRPr lang="en-US" dirty="0"/>
          </a:p>
          <a:p>
            <a:r>
              <a:rPr lang="en-US" dirty="0"/>
              <a:t>In this example, we are applying the concept of </a:t>
            </a:r>
            <a:r>
              <a:rPr lang="en-US" b="1" dirty="0"/>
              <a:t>hoisting with a function declaration</a:t>
            </a:r>
            <a:r>
              <a:rPr lang="en-US" dirty="0"/>
              <a:t>. Unlike variables, JavaScript hoists the complete function, including its name and code block, to the top of its scope. We can call a function before writing its actual declaration in the program.</a:t>
            </a:r>
            <a:endParaRPr lang="en-US" u="sng" dirty="0">
              <a:solidFill>
                <a:schemeClr val="accent2"/>
              </a:solidFill>
            </a:endParaRPr>
          </a:p>
          <a:p>
            <a:endParaRPr lang="en-US" sz="800" dirty="0"/>
          </a:p>
        </p:txBody>
      </p:sp>
      <p:pic>
        <p:nvPicPr>
          <p:cNvPr id="5" name="Picture 4">
            <a:extLst>
              <a:ext uri="{FF2B5EF4-FFF2-40B4-BE49-F238E27FC236}">
                <a16:creationId xmlns:a16="http://schemas.microsoft.com/office/drawing/2014/main" id="{B3C16273-AF83-03F6-A279-328DBC99D3EE}"/>
              </a:ext>
            </a:extLst>
          </p:cNvPr>
          <p:cNvPicPr>
            <a:picLocks noChangeAspect="1"/>
          </p:cNvPicPr>
          <p:nvPr/>
        </p:nvPicPr>
        <p:blipFill>
          <a:blip r:embed="rId2"/>
          <a:stretch>
            <a:fillRect/>
          </a:stretch>
        </p:blipFill>
        <p:spPr>
          <a:xfrm>
            <a:off x="1002421" y="1447730"/>
            <a:ext cx="5707661" cy="1423558"/>
          </a:xfrm>
          <a:prstGeom prst="rect">
            <a:avLst/>
          </a:prstGeom>
        </p:spPr>
      </p:pic>
      <p:pic>
        <p:nvPicPr>
          <p:cNvPr id="7" name="Picture 6">
            <a:extLst>
              <a:ext uri="{FF2B5EF4-FFF2-40B4-BE49-F238E27FC236}">
                <a16:creationId xmlns:a16="http://schemas.microsoft.com/office/drawing/2014/main" id="{69E3043D-C434-05D2-6DA8-6EF7FB8984AD}"/>
              </a:ext>
            </a:extLst>
          </p:cNvPr>
          <p:cNvPicPr>
            <a:picLocks noChangeAspect="1"/>
          </p:cNvPicPr>
          <p:nvPr/>
        </p:nvPicPr>
        <p:blipFill>
          <a:blip r:embed="rId3"/>
          <a:stretch>
            <a:fillRect/>
          </a:stretch>
        </p:blipFill>
        <p:spPr>
          <a:xfrm>
            <a:off x="956701" y="4428698"/>
            <a:ext cx="5838686" cy="1550385"/>
          </a:xfrm>
          <a:prstGeom prst="rect">
            <a:avLst/>
          </a:prstGeom>
        </p:spPr>
      </p:pic>
      <p:sp>
        <p:nvSpPr>
          <p:cNvPr id="3" name="TextBox 2">
            <a:extLst>
              <a:ext uri="{FF2B5EF4-FFF2-40B4-BE49-F238E27FC236}">
                <a16:creationId xmlns:a16="http://schemas.microsoft.com/office/drawing/2014/main" id="{0179E826-4BE6-6148-936E-600CA2E92E31}"/>
              </a:ext>
            </a:extLst>
          </p:cNvPr>
          <p:cNvSpPr txBox="1"/>
          <p:nvPr/>
        </p:nvSpPr>
        <p:spPr>
          <a:xfrm>
            <a:off x="7025791" y="4742225"/>
            <a:ext cx="1469280" cy="923330"/>
          </a:xfrm>
          <a:prstGeom prst="rect">
            <a:avLst/>
          </a:prstGeom>
          <a:noFill/>
        </p:spPr>
        <p:txBody>
          <a:bodyPr wrap="square" rtlCol="0">
            <a:spAutoFit/>
          </a:bodyPr>
          <a:lstStyle/>
          <a:p>
            <a:r>
              <a:rPr lang="en-US" dirty="0"/>
              <a:t>This is how JavaScript will read it:</a:t>
            </a:r>
          </a:p>
        </p:txBody>
      </p:sp>
    </p:spTree>
    <p:extLst>
      <p:ext uri="{BB962C8B-B14F-4D97-AF65-F5344CB8AC3E}">
        <p14:creationId xmlns:p14="http://schemas.microsoft.com/office/powerpoint/2010/main" val="3586616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915C9-6E9D-72B5-CEA4-07DA364E757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F69EDB3-11AB-1580-B933-546B2B52C880}"/>
              </a:ext>
            </a:extLst>
          </p:cNvPr>
          <p:cNvSpPr txBox="1"/>
          <p:nvPr/>
        </p:nvSpPr>
        <p:spPr>
          <a:xfrm>
            <a:off x="900294" y="704602"/>
            <a:ext cx="8160152" cy="1323439"/>
          </a:xfrm>
          <a:prstGeom prst="rect">
            <a:avLst/>
          </a:prstGeom>
          <a:noFill/>
        </p:spPr>
        <p:txBody>
          <a:bodyPr wrap="square" rtlCol="0">
            <a:spAutoFit/>
          </a:bodyPr>
          <a:lstStyle/>
          <a:p>
            <a:r>
              <a:rPr lang="en-US" sz="2000" dirty="0"/>
              <a:t>Before execution, JavaScript moves the complete function declaration to the top. Since the function is already available in memory, the first </a:t>
            </a:r>
            <a:r>
              <a:rPr lang="en-US" dirty="0"/>
              <a:t>greet()</a:t>
            </a:r>
            <a:r>
              <a:rPr lang="en-US" sz="2000" dirty="0"/>
              <a:t> call works successfully even though the function is written later in the code.</a:t>
            </a:r>
            <a:endParaRPr lang="en-US" sz="800" dirty="0"/>
          </a:p>
        </p:txBody>
      </p:sp>
      <p:pic>
        <p:nvPicPr>
          <p:cNvPr id="8" name="Picture 7">
            <a:extLst>
              <a:ext uri="{FF2B5EF4-FFF2-40B4-BE49-F238E27FC236}">
                <a16:creationId xmlns:a16="http://schemas.microsoft.com/office/drawing/2014/main" id="{AA354B06-2435-B11C-7C9D-58009F26036A}"/>
              </a:ext>
            </a:extLst>
          </p:cNvPr>
          <p:cNvPicPr>
            <a:picLocks noChangeAspect="1"/>
          </p:cNvPicPr>
          <p:nvPr/>
        </p:nvPicPr>
        <p:blipFill>
          <a:blip r:embed="rId2"/>
          <a:stretch>
            <a:fillRect/>
          </a:stretch>
        </p:blipFill>
        <p:spPr>
          <a:xfrm>
            <a:off x="1013206" y="3228619"/>
            <a:ext cx="7277353" cy="1387067"/>
          </a:xfrm>
          <a:prstGeom prst="rect">
            <a:avLst/>
          </a:prstGeom>
        </p:spPr>
      </p:pic>
      <p:sp>
        <p:nvSpPr>
          <p:cNvPr id="3" name="TextBox 2">
            <a:extLst>
              <a:ext uri="{FF2B5EF4-FFF2-40B4-BE49-F238E27FC236}">
                <a16:creationId xmlns:a16="http://schemas.microsoft.com/office/drawing/2014/main" id="{0C35D4E5-4289-BD35-B29D-38BC72A7CD68}"/>
              </a:ext>
            </a:extLst>
          </p:cNvPr>
          <p:cNvSpPr txBox="1"/>
          <p:nvPr/>
        </p:nvSpPr>
        <p:spPr>
          <a:xfrm>
            <a:off x="1013206" y="2721636"/>
            <a:ext cx="8160152" cy="369332"/>
          </a:xfrm>
          <a:prstGeom prst="rect">
            <a:avLst/>
          </a:prstGeom>
          <a:noFill/>
        </p:spPr>
        <p:txBody>
          <a:bodyPr wrap="square" rtlCol="0">
            <a:spAutoFit/>
          </a:bodyPr>
          <a:lstStyle/>
          <a:p>
            <a:r>
              <a:rPr lang="en-US" dirty="0"/>
              <a:t>Output:</a:t>
            </a:r>
          </a:p>
        </p:txBody>
      </p:sp>
    </p:spTree>
    <p:extLst>
      <p:ext uri="{BB962C8B-B14F-4D97-AF65-F5344CB8AC3E}">
        <p14:creationId xmlns:p14="http://schemas.microsoft.com/office/powerpoint/2010/main" val="7694353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2B76B-ED25-1166-0DDC-E32C223CF5B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6E3843C-DBEE-114F-DC77-7D878E7AC359}"/>
              </a:ext>
            </a:extLst>
          </p:cNvPr>
          <p:cNvSpPr txBox="1"/>
          <p:nvPr/>
        </p:nvSpPr>
        <p:spPr>
          <a:xfrm>
            <a:off x="900294" y="911079"/>
            <a:ext cx="8160152" cy="4001095"/>
          </a:xfrm>
          <a:prstGeom prst="rect">
            <a:avLst/>
          </a:prstGeom>
          <a:noFill/>
        </p:spPr>
        <p:txBody>
          <a:bodyPr wrap="square" rtlCol="0">
            <a:spAutoFit/>
          </a:bodyPr>
          <a:lstStyle/>
          <a:p>
            <a:pPr algn="ctr"/>
            <a:r>
              <a:rPr lang="en-US" sz="2000" b="1" u="sng" dirty="0">
                <a:solidFill>
                  <a:schemeClr val="accent2"/>
                </a:solidFill>
              </a:rPr>
              <a:t>Why do we do hoisting?</a:t>
            </a:r>
          </a:p>
          <a:p>
            <a:pPr algn="ctr"/>
            <a:endParaRPr lang="en-US" u="sng" dirty="0">
              <a:solidFill>
                <a:schemeClr val="accent2"/>
              </a:solidFill>
            </a:endParaRPr>
          </a:p>
          <a:p>
            <a:r>
              <a:rPr lang="en-US" dirty="0"/>
              <a:t>Hoisting is the process where JavaScript reads variable and function declarations before running the code. It stores them in memory first, so JavaScript already knows they exist when it starts executing the program</a:t>
            </a:r>
            <a:r>
              <a:rPr lang="en-US" b="1" dirty="0"/>
              <a:t>.</a:t>
            </a:r>
          </a:p>
          <a:p>
            <a:endParaRPr lang="en-US" b="1" dirty="0"/>
          </a:p>
          <a:p>
            <a:endParaRPr lang="en-US" b="1" dirty="0"/>
          </a:p>
          <a:p>
            <a:endParaRPr lang="en-US" b="1" u="sng" dirty="0"/>
          </a:p>
          <a:p>
            <a:pPr algn="ctr"/>
            <a:r>
              <a:rPr lang="en-US" b="1" u="sng" dirty="0">
                <a:solidFill>
                  <a:schemeClr val="accent2"/>
                </a:solidFill>
              </a:rPr>
              <a:t>Benefits?</a:t>
            </a:r>
          </a:p>
          <a:p>
            <a:endParaRPr lang="en-US" dirty="0"/>
          </a:p>
          <a:p>
            <a:pPr marL="285750" indent="-285750">
              <a:buFont typeface="Arial" panose="020B0604020202020204" pitchFamily="34" charset="0"/>
              <a:buChar char="•"/>
            </a:pPr>
            <a:r>
              <a:rPr lang="en-US" dirty="0"/>
              <a:t>It helps JavaScript know which variables and functions exist before the code starts running.</a:t>
            </a:r>
          </a:p>
          <a:p>
            <a:pPr marL="285750" indent="-285750">
              <a:buFont typeface="Arial" panose="020B0604020202020204" pitchFamily="34" charset="0"/>
              <a:buChar char="•"/>
            </a:pPr>
            <a:r>
              <a:rPr lang="en-US" dirty="0"/>
              <a:t>It makes the code easier to organize and work with.</a:t>
            </a:r>
          </a:p>
          <a:p>
            <a:pPr marL="285750" indent="-285750">
              <a:buFont typeface="Arial" panose="020B0604020202020204" pitchFamily="34" charset="0"/>
              <a:buChar char="•"/>
            </a:pPr>
            <a:r>
              <a:rPr lang="en-US" dirty="0"/>
              <a:t>It helps us understand how JavaScript reads and executes the program.</a:t>
            </a:r>
          </a:p>
        </p:txBody>
      </p:sp>
    </p:spTree>
    <p:extLst>
      <p:ext uri="{BB962C8B-B14F-4D97-AF65-F5344CB8AC3E}">
        <p14:creationId xmlns:p14="http://schemas.microsoft.com/office/powerpoint/2010/main" val="4568947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D7F22-809D-544B-85F8-ADA43F3D241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4233058-0F92-7836-649C-13C001F37139}"/>
              </a:ext>
            </a:extLst>
          </p:cNvPr>
          <p:cNvSpPr/>
          <p:nvPr/>
        </p:nvSpPr>
        <p:spPr>
          <a:xfrm>
            <a:off x="3643884" y="2616815"/>
            <a:ext cx="3532635"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Thank You</a:t>
            </a:r>
          </a:p>
        </p:txBody>
      </p:sp>
    </p:spTree>
    <p:extLst>
      <p:ext uri="{BB962C8B-B14F-4D97-AF65-F5344CB8AC3E}">
        <p14:creationId xmlns:p14="http://schemas.microsoft.com/office/powerpoint/2010/main" val="1758517920"/>
      </p:ext>
    </p:extLst>
  </p:cSld>
  <p:clrMapOvr>
    <a:masterClrMapping/>
  </p:clrMapOvr>
</p:sld>
</file>

<file path=ppt/theme/theme1.xml><?xml version="1.0" encoding="utf-8"?>
<a:theme xmlns:a="http://schemas.openxmlformats.org/drawingml/2006/main" name="Facet">
  <a:themeElements>
    <a:clrScheme name="Violet">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173</TotalTime>
  <Words>750</Words>
  <Application>Microsoft Office PowerPoint</Application>
  <PresentationFormat>Widescreen</PresentationFormat>
  <Paragraphs>77</Paragraphs>
  <Slides>12</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Arial</vt:lpstr>
      <vt:lpstr>Trebuchet MS</vt:lpstr>
      <vt:lpstr>Wingdings</vt:lpstr>
      <vt:lpstr>Wingdings 3</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Romaisa Shahbaz</dc:creator>
  <cp:lastModifiedBy>Romaisa Shahbaz</cp:lastModifiedBy>
  <cp:revision>2</cp:revision>
  <dcterms:created xsi:type="dcterms:W3CDTF">2026-07-12T14:26:12Z</dcterms:created>
  <dcterms:modified xsi:type="dcterms:W3CDTF">2026-07-13T06:07:02Z</dcterms:modified>
</cp:coreProperties>
</file>