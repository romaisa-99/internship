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29" y="6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A6CF30-EAC9-4C96-8D3D-733F92206E15}" type="datetimeFigureOut">
              <a:rPr lang="en-US" smtClean="0"/>
              <a:t>7/12/2026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B9B90-AAFD-4B8B-9EAA-9842381AE646}" type="slidenum">
              <a:rPr lang="en-US" smtClean="0"/>
              <a:t>‹#›</a:t>
            </a:fld>
            <a:endParaRPr lang="en-US"/>
          </a:p>
        </p:txBody>
      </p:sp>
    </p:spTree>
    <p:extLst>
      <p:ext uri="{BB962C8B-B14F-4D97-AF65-F5344CB8AC3E}">
        <p14:creationId xmlns:p14="http://schemas.microsoft.com/office/powerpoint/2010/main" val="1802224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9B9B90-AAFD-4B8B-9EAA-9842381AE646}" type="slidenum">
              <a:rPr lang="en-US" smtClean="0"/>
              <a:t>11</a:t>
            </a:fld>
            <a:endParaRPr lang="en-US"/>
          </a:p>
        </p:txBody>
      </p:sp>
    </p:spTree>
    <p:extLst>
      <p:ext uri="{BB962C8B-B14F-4D97-AF65-F5344CB8AC3E}">
        <p14:creationId xmlns:p14="http://schemas.microsoft.com/office/powerpoint/2010/main" val="3743778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1539F-C0E1-90E0-DF47-31C55E355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D6B37-4290-57A8-C421-89E76FC419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1E6EE-DCCC-C2E8-8495-4157EBFF42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CF173C-7CB7-9BF2-51B7-52119F86D067}"/>
              </a:ext>
            </a:extLst>
          </p:cNvPr>
          <p:cNvSpPr>
            <a:spLocks noGrp="1"/>
          </p:cNvSpPr>
          <p:nvPr>
            <p:ph type="sldNum" sz="quarter" idx="5"/>
          </p:nvPr>
        </p:nvSpPr>
        <p:spPr/>
        <p:txBody>
          <a:bodyPr/>
          <a:lstStyle/>
          <a:p>
            <a:fld id="{AF9B9B90-AAFD-4B8B-9EAA-9842381AE646}" type="slidenum">
              <a:rPr lang="en-US" smtClean="0"/>
              <a:t>12</a:t>
            </a:fld>
            <a:endParaRPr lang="en-US"/>
          </a:p>
        </p:txBody>
      </p:sp>
    </p:spTree>
    <p:extLst>
      <p:ext uri="{BB962C8B-B14F-4D97-AF65-F5344CB8AC3E}">
        <p14:creationId xmlns:p14="http://schemas.microsoft.com/office/powerpoint/2010/main" val="314993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295463-E464-4512-BD3F-0B23332F002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3371458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295463-E464-4512-BD3F-0B23332F002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334980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295463-E464-4512-BD3F-0B23332F002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3531816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295463-E464-4512-BD3F-0B23332F002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3962223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295463-E464-4512-BD3F-0B23332F0024}" type="datetimeFigureOut">
              <a:rPr lang="en-US" smtClean="0"/>
              <a:t>7/12/2026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4236671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295463-E464-4512-BD3F-0B23332F0024}" type="datetimeFigureOut">
              <a:rPr lang="en-US" smtClean="0"/>
              <a:t>7/12/2026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3021665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295463-E464-4512-BD3F-0B23332F0024}" type="datetimeFigureOut">
              <a:rPr lang="en-US" smtClean="0"/>
              <a:t>7/12/2026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4000755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295463-E464-4512-BD3F-0B23332F002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2984618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295463-E464-4512-BD3F-0B23332F002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3234268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295463-E464-4512-BD3F-0B23332F002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3504920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295463-E464-4512-BD3F-0B23332F002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E07A9-1294-42E1-B301-E418173EDE0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76630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295463-E464-4512-BD3F-0B23332F002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2645693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295463-E464-4512-BD3F-0B23332F002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E07A9-1294-42E1-B301-E418173EDE0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51383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295463-E464-4512-BD3F-0B23332F002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3968618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295463-E464-4512-BD3F-0B23332F002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16376627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295463-E464-4512-BD3F-0B23332F002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E07A9-1294-42E1-B301-E418173EDE0B}" type="slidenum">
              <a:rPr lang="en-US" smtClean="0"/>
              <a:t>‹#›</a:t>
            </a:fld>
            <a:endParaRPr lang="en-US"/>
          </a:p>
        </p:txBody>
      </p:sp>
    </p:spTree>
    <p:extLst>
      <p:ext uri="{BB962C8B-B14F-4D97-AF65-F5344CB8AC3E}">
        <p14:creationId xmlns:p14="http://schemas.microsoft.com/office/powerpoint/2010/main" val="4197453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3295463-E464-4512-BD3F-0B23332F0024}" type="datetimeFigureOut">
              <a:rPr lang="en-US" smtClean="0"/>
              <a:t>7/12/2026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3BE07A9-1294-42E1-B301-E418173EDE0B}" type="slidenum">
              <a:rPr lang="en-US" smtClean="0"/>
              <a:t>‹#›</a:t>
            </a:fld>
            <a:endParaRPr lang="en-US"/>
          </a:p>
        </p:txBody>
      </p:sp>
    </p:spTree>
    <p:extLst>
      <p:ext uri="{BB962C8B-B14F-4D97-AF65-F5344CB8AC3E}">
        <p14:creationId xmlns:p14="http://schemas.microsoft.com/office/powerpoint/2010/main" val="35531394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0B663C5-E3BD-CA9A-CB1C-7D90F901AF12}"/>
              </a:ext>
            </a:extLst>
          </p:cNvPr>
          <p:cNvSpPr/>
          <p:nvPr/>
        </p:nvSpPr>
        <p:spPr>
          <a:xfrm>
            <a:off x="3967117" y="2657177"/>
            <a:ext cx="3575018" cy="1015663"/>
          </a:xfrm>
          <a:prstGeom prst="rect">
            <a:avLst/>
          </a:prstGeom>
          <a:noFill/>
        </p:spPr>
        <p:txBody>
          <a:bodyPr wrap="none" lIns="91440" tIns="45720" rIns="91440" bIns="45720">
            <a:spAutoFit/>
          </a:bodyPr>
          <a:lstStyle/>
          <a:p>
            <a:pPr algn="ctr"/>
            <a:r>
              <a:rPr lang="en-US" sz="6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HOISTING</a:t>
            </a:r>
            <a:endParaRPr lang="en-US" sz="6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439567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AECDAE-7015-3BFC-BFC4-FD6AA1056934}"/>
              </a:ext>
            </a:extLst>
          </p:cNvPr>
          <p:cNvSpPr txBox="1"/>
          <p:nvPr/>
        </p:nvSpPr>
        <p:spPr>
          <a:xfrm>
            <a:off x="900294" y="917962"/>
            <a:ext cx="8160152" cy="4108817"/>
          </a:xfrm>
          <a:prstGeom prst="rect">
            <a:avLst/>
          </a:prstGeom>
          <a:noFill/>
        </p:spPr>
        <p:txBody>
          <a:bodyPr wrap="square" rtlCol="0">
            <a:spAutoFit/>
          </a:bodyPr>
          <a:lstStyle/>
          <a:p>
            <a:pPr marL="285750" indent="-285750">
              <a:buFont typeface="Wingdings" panose="05000000000000000000" pitchFamily="2" charset="2"/>
              <a:buChar char="v"/>
            </a:pPr>
            <a:r>
              <a:rPr lang="en-US" sz="2000" dirty="0">
                <a:solidFill>
                  <a:schemeClr val="accent2"/>
                </a:solidFill>
              </a:rPr>
              <a:t>WHAT IS HOISTING?</a:t>
            </a:r>
          </a:p>
          <a:p>
            <a:r>
              <a:rPr lang="en-US" b="1" dirty="0"/>
              <a:t>Hoisting</a:t>
            </a:r>
            <a:r>
              <a:rPr lang="en-US" dirty="0"/>
              <a:t> is a JavaScript behavior where variable and function declarations are moved to the top before the code runs. It </a:t>
            </a:r>
            <a:r>
              <a:rPr lang="en-US" b="1" dirty="0"/>
              <a:t>does not mean JavaScript changes the code</a:t>
            </a:r>
            <a:r>
              <a:rPr lang="en-US" dirty="0"/>
              <a:t> or rewrites it. Instead, </a:t>
            </a:r>
            <a:r>
              <a:rPr lang="en-US" b="1" dirty="0"/>
              <a:t>JavaScript processes the declarations first</a:t>
            </a:r>
            <a:r>
              <a:rPr lang="en-US" dirty="0"/>
              <a:t> before it starts executing the code line by line.</a:t>
            </a:r>
          </a:p>
          <a:p>
            <a:endParaRPr lang="en-US" sz="1850" dirty="0"/>
          </a:p>
          <a:p>
            <a:endParaRPr lang="en-US" sz="1850" dirty="0"/>
          </a:p>
          <a:p>
            <a:endParaRPr lang="en-US" sz="1850" dirty="0"/>
          </a:p>
          <a:p>
            <a:endParaRPr lang="en-US" sz="1850" dirty="0"/>
          </a:p>
          <a:p>
            <a:endParaRPr lang="en-US" sz="1850" dirty="0"/>
          </a:p>
          <a:p>
            <a:endParaRPr lang="en-US" sz="1850" dirty="0"/>
          </a:p>
          <a:p>
            <a:endParaRPr lang="en-US" sz="2000" dirty="0"/>
          </a:p>
          <a:p>
            <a:endParaRPr lang="en-US" sz="1850" dirty="0"/>
          </a:p>
          <a:p>
            <a:endParaRPr lang="en-US" sz="1850" dirty="0"/>
          </a:p>
        </p:txBody>
      </p:sp>
      <p:pic>
        <p:nvPicPr>
          <p:cNvPr id="6" name="Picture 5">
            <a:extLst>
              <a:ext uri="{FF2B5EF4-FFF2-40B4-BE49-F238E27FC236}">
                <a16:creationId xmlns:a16="http://schemas.microsoft.com/office/drawing/2014/main" id="{168943AE-9B86-70F7-72F1-8631605B7831}"/>
              </a:ext>
            </a:extLst>
          </p:cNvPr>
          <p:cNvPicPr>
            <a:picLocks noChangeAspect="1"/>
          </p:cNvPicPr>
          <p:nvPr/>
        </p:nvPicPr>
        <p:blipFill>
          <a:blip r:embed="rId2"/>
          <a:srcRect r="9678"/>
          <a:stretch>
            <a:fillRect/>
          </a:stretch>
        </p:blipFill>
        <p:spPr>
          <a:xfrm>
            <a:off x="5666119" y="2650850"/>
            <a:ext cx="3223882" cy="1120601"/>
          </a:xfrm>
          <a:prstGeom prst="rect">
            <a:avLst/>
          </a:prstGeom>
        </p:spPr>
      </p:pic>
      <p:pic>
        <p:nvPicPr>
          <p:cNvPr id="8" name="Picture 7">
            <a:extLst>
              <a:ext uri="{FF2B5EF4-FFF2-40B4-BE49-F238E27FC236}">
                <a16:creationId xmlns:a16="http://schemas.microsoft.com/office/drawing/2014/main" id="{0087E6D0-8552-25FF-7F6C-480D2676302F}"/>
              </a:ext>
            </a:extLst>
          </p:cNvPr>
          <p:cNvPicPr>
            <a:picLocks noChangeAspect="1"/>
          </p:cNvPicPr>
          <p:nvPr/>
        </p:nvPicPr>
        <p:blipFill>
          <a:blip r:embed="rId3"/>
          <a:stretch>
            <a:fillRect/>
          </a:stretch>
        </p:blipFill>
        <p:spPr>
          <a:xfrm>
            <a:off x="5666119" y="4267358"/>
            <a:ext cx="3223882" cy="1236981"/>
          </a:xfrm>
          <a:prstGeom prst="rect">
            <a:avLst/>
          </a:prstGeom>
        </p:spPr>
      </p:pic>
      <p:sp>
        <p:nvSpPr>
          <p:cNvPr id="9" name="TextBox 8">
            <a:extLst>
              <a:ext uri="{FF2B5EF4-FFF2-40B4-BE49-F238E27FC236}">
                <a16:creationId xmlns:a16="http://schemas.microsoft.com/office/drawing/2014/main" id="{BB2FBB42-7C8A-A078-2D00-484C35A5978C}"/>
              </a:ext>
            </a:extLst>
          </p:cNvPr>
          <p:cNvSpPr txBox="1"/>
          <p:nvPr/>
        </p:nvSpPr>
        <p:spPr>
          <a:xfrm>
            <a:off x="900294" y="2597642"/>
            <a:ext cx="4328944" cy="1200329"/>
          </a:xfrm>
          <a:prstGeom prst="rect">
            <a:avLst/>
          </a:prstGeom>
          <a:noFill/>
        </p:spPr>
        <p:txBody>
          <a:bodyPr wrap="square" rtlCol="0">
            <a:spAutoFit/>
          </a:bodyPr>
          <a:lstStyle/>
          <a:p>
            <a:r>
              <a:rPr lang="en-US" dirty="0"/>
              <a:t>Let’s take a look at an example. As shown in the code, </a:t>
            </a:r>
            <a:r>
              <a:rPr lang="en-US" b="1" dirty="0"/>
              <a:t>console.log(name) </a:t>
            </a:r>
            <a:r>
              <a:rPr lang="en-US" dirty="0"/>
              <a:t>is executed before the variable </a:t>
            </a:r>
            <a:r>
              <a:rPr lang="en-US" b="1" dirty="0"/>
              <a:t>name</a:t>
            </a:r>
            <a:r>
              <a:rPr lang="en-US" dirty="0"/>
              <a:t> is assigned the value </a:t>
            </a:r>
            <a:r>
              <a:rPr lang="en-US" b="1" dirty="0"/>
              <a:t>"Aleena"</a:t>
            </a:r>
          </a:p>
        </p:txBody>
      </p:sp>
      <p:sp>
        <p:nvSpPr>
          <p:cNvPr id="11" name="TextBox 10">
            <a:extLst>
              <a:ext uri="{FF2B5EF4-FFF2-40B4-BE49-F238E27FC236}">
                <a16:creationId xmlns:a16="http://schemas.microsoft.com/office/drawing/2014/main" id="{5B033906-5EE5-8ACF-437E-8B4F368F5D11}"/>
              </a:ext>
            </a:extLst>
          </p:cNvPr>
          <p:cNvSpPr txBox="1"/>
          <p:nvPr/>
        </p:nvSpPr>
        <p:spPr>
          <a:xfrm>
            <a:off x="930774" y="4185712"/>
            <a:ext cx="4328944" cy="1754326"/>
          </a:xfrm>
          <a:prstGeom prst="rect">
            <a:avLst/>
          </a:prstGeom>
          <a:noFill/>
        </p:spPr>
        <p:txBody>
          <a:bodyPr wrap="square" rtlCol="0">
            <a:spAutoFit/>
          </a:bodyPr>
          <a:lstStyle/>
          <a:p>
            <a:r>
              <a:rPr lang="en-US" dirty="0"/>
              <a:t>As shown in the code this is how JavaScript treats the code after hoisting. The variable name is declared first, then it is accessed using console.log(), and finally the value "Aleena" is assigned to it.</a:t>
            </a:r>
            <a:endParaRPr lang="en-US" b="1" dirty="0"/>
          </a:p>
        </p:txBody>
      </p:sp>
    </p:spTree>
    <p:extLst>
      <p:ext uri="{BB962C8B-B14F-4D97-AF65-F5344CB8AC3E}">
        <p14:creationId xmlns:p14="http://schemas.microsoft.com/office/powerpoint/2010/main" val="4020397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BCC31-BF57-04EF-37E2-28159A9D41D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A0A9D4-895D-76FD-7A44-1642754491E7}"/>
              </a:ext>
            </a:extLst>
          </p:cNvPr>
          <p:cNvSpPr txBox="1"/>
          <p:nvPr/>
        </p:nvSpPr>
        <p:spPr>
          <a:xfrm>
            <a:off x="900294" y="704602"/>
            <a:ext cx="8160152" cy="5193729"/>
          </a:xfrm>
          <a:prstGeom prst="rect">
            <a:avLst/>
          </a:prstGeom>
          <a:noFill/>
        </p:spPr>
        <p:txBody>
          <a:bodyPr wrap="square" rtlCol="0">
            <a:spAutoFit/>
          </a:bodyPr>
          <a:lstStyle/>
          <a:p>
            <a:pPr algn="ctr"/>
            <a:r>
              <a:rPr lang="en-US" sz="2000" u="sng" dirty="0">
                <a:solidFill>
                  <a:schemeClr val="accent2"/>
                </a:solidFill>
              </a:rPr>
              <a:t>Hoisting with var</a:t>
            </a:r>
          </a:p>
          <a:p>
            <a:pPr algn="ctr"/>
            <a:endParaRPr lang="en-US" u="sng" dirty="0">
              <a:solidFill>
                <a:schemeClr val="accent2"/>
              </a:solidFill>
            </a:endParaRPr>
          </a:p>
          <a:p>
            <a:r>
              <a:rPr lang="en-US" dirty="0"/>
              <a:t>In the example below, we are applying the concept of </a:t>
            </a:r>
            <a:r>
              <a:rPr lang="en-US" b="1" dirty="0"/>
              <a:t>hoisting on a var variable</a:t>
            </a:r>
            <a:r>
              <a:rPr lang="en-US" dirty="0"/>
              <a:t>. The var keyword allows JavaScript to move the variable declaration to the top of its scope before executing the code. However, only the declaration is moved, not the assigned value.</a:t>
            </a:r>
          </a:p>
          <a:p>
            <a:endParaRPr lang="en-US" u="sng" dirty="0">
              <a:solidFill>
                <a:schemeClr val="accent2"/>
              </a:solidFill>
            </a:endParaRPr>
          </a:p>
          <a:p>
            <a:endParaRPr lang="en-US" u="sng" dirty="0">
              <a:solidFill>
                <a:schemeClr val="accent2"/>
              </a:solidFill>
            </a:endParaRPr>
          </a:p>
          <a:p>
            <a:endParaRPr lang="en-US" sz="1950" dirty="0"/>
          </a:p>
          <a:p>
            <a:endParaRPr lang="en-US" sz="1950" dirty="0"/>
          </a:p>
          <a:p>
            <a:endParaRPr lang="en-US" sz="1950" dirty="0"/>
          </a:p>
          <a:p>
            <a:endParaRPr lang="en-US" sz="1850" dirty="0"/>
          </a:p>
          <a:p>
            <a:endParaRPr lang="en-US" sz="800" dirty="0"/>
          </a:p>
          <a:p>
            <a:r>
              <a:rPr lang="en-US" dirty="0"/>
              <a:t>Before executing the code, JavaScript performs hoisting. It moves the declaration </a:t>
            </a:r>
            <a:r>
              <a:rPr lang="en-US" b="1" dirty="0"/>
              <a:t>var name;</a:t>
            </a:r>
            <a:r>
              <a:rPr lang="en-US" dirty="0"/>
              <a:t> to the top and automatically assigns it the value </a:t>
            </a:r>
            <a:r>
              <a:rPr lang="en-US" b="1" dirty="0"/>
              <a:t>undefined. </a:t>
            </a:r>
            <a:r>
              <a:rPr lang="en-US" dirty="0"/>
              <a:t>The assignment part (name = "Aleena") remains at its original position. Therefore, when the </a:t>
            </a:r>
            <a:r>
              <a:rPr lang="en-US" b="1" dirty="0"/>
              <a:t>console.log() </a:t>
            </a:r>
            <a:r>
              <a:rPr lang="en-US" dirty="0"/>
              <a:t>runs, the variable exists but does not have a value yet, so it prints </a:t>
            </a:r>
            <a:r>
              <a:rPr lang="en-US" b="1" dirty="0"/>
              <a:t>undefined.</a:t>
            </a:r>
            <a:r>
              <a:rPr lang="en-US" dirty="0"/>
              <a:t> </a:t>
            </a:r>
          </a:p>
        </p:txBody>
      </p:sp>
      <p:pic>
        <p:nvPicPr>
          <p:cNvPr id="7" name="Picture 6">
            <a:extLst>
              <a:ext uri="{FF2B5EF4-FFF2-40B4-BE49-F238E27FC236}">
                <a16:creationId xmlns:a16="http://schemas.microsoft.com/office/drawing/2014/main" id="{CD3F838A-76B7-55DE-9C53-5354F35347FA}"/>
              </a:ext>
            </a:extLst>
          </p:cNvPr>
          <p:cNvPicPr>
            <a:picLocks noChangeAspect="1"/>
          </p:cNvPicPr>
          <p:nvPr/>
        </p:nvPicPr>
        <p:blipFill>
          <a:blip r:embed="rId2"/>
          <a:stretch>
            <a:fillRect/>
          </a:stretch>
        </p:blipFill>
        <p:spPr>
          <a:xfrm>
            <a:off x="1052578" y="2753316"/>
            <a:ext cx="6794832" cy="1178604"/>
          </a:xfrm>
          <a:prstGeom prst="rect">
            <a:avLst/>
          </a:prstGeom>
        </p:spPr>
      </p:pic>
    </p:spTree>
    <p:extLst>
      <p:ext uri="{BB962C8B-B14F-4D97-AF65-F5344CB8AC3E}">
        <p14:creationId xmlns:p14="http://schemas.microsoft.com/office/powerpoint/2010/main" val="92745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FED27-08E6-49C8-4F61-A0479947717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1EF3C2C-9ECF-D07C-6F0F-978ECA9D551F}"/>
              </a:ext>
            </a:extLst>
          </p:cNvPr>
          <p:cNvSpPr txBox="1"/>
          <p:nvPr/>
        </p:nvSpPr>
        <p:spPr>
          <a:xfrm>
            <a:off x="900294" y="704602"/>
            <a:ext cx="8160152" cy="369332"/>
          </a:xfrm>
          <a:prstGeom prst="rect">
            <a:avLst/>
          </a:prstGeom>
          <a:noFill/>
        </p:spPr>
        <p:txBody>
          <a:bodyPr wrap="square" rtlCol="0">
            <a:spAutoFit/>
          </a:bodyPr>
          <a:lstStyle/>
          <a:p>
            <a:endParaRPr lang="en-US" dirty="0"/>
          </a:p>
        </p:txBody>
      </p:sp>
      <p:pic>
        <p:nvPicPr>
          <p:cNvPr id="3" name="Picture 2">
            <a:extLst>
              <a:ext uri="{FF2B5EF4-FFF2-40B4-BE49-F238E27FC236}">
                <a16:creationId xmlns:a16="http://schemas.microsoft.com/office/drawing/2014/main" id="{499A1E5E-809D-CC58-D4E9-676937F1E206}"/>
              </a:ext>
            </a:extLst>
          </p:cNvPr>
          <p:cNvPicPr>
            <a:picLocks noChangeAspect="1"/>
          </p:cNvPicPr>
          <p:nvPr/>
        </p:nvPicPr>
        <p:blipFill>
          <a:blip r:embed="rId2"/>
          <a:stretch>
            <a:fillRect/>
          </a:stretch>
        </p:blipFill>
        <p:spPr>
          <a:xfrm>
            <a:off x="1165599" y="704602"/>
            <a:ext cx="6020322" cy="1234547"/>
          </a:xfrm>
          <a:prstGeom prst="rect">
            <a:avLst/>
          </a:prstGeom>
        </p:spPr>
      </p:pic>
    </p:spTree>
    <p:extLst>
      <p:ext uri="{BB962C8B-B14F-4D97-AF65-F5344CB8AC3E}">
        <p14:creationId xmlns:p14="http://schemas.microsoft.com/office/powerpoint/2010/main" val="3028312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D4E25-2DD2-740E-370A-2FB81CC8AE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CF2A7F5-5E03-F6DE-A39F-8D3ABB594ABE}"/>
              </a:ext>
            </a:extLst>
          </p:cNvPr>
          <p:cNvSpPr txBox="1"/>
          <p:nvPr/>
        </p:nvSpPr>
        <p:spPr>
          <a:xfrm>
            <a:off x="900294" y="623322"/>
            <a:ext cx="8160152" cy="5478423"/>
          </a:xfrm>
          <a:prstGeom prst="rect">
            <a:avLst/>
          </a:prstGeom>
          <a:noFill/>
        </p:spPr>
        <p:txBody>
          <a:bodyPr wrap="square" rtlCol="0">
            <a:spAutoFit/>
          </a:bodyPr>
          <a:lstStyle/>
          <a:p>
            <a:pPr algn="ctr"/>
            <a:r>
              <a:rPr lang="en-US" sz="2000" u="sng" dirty="0">
                <a:solidFill>
                  <a:schemeClr val="accent2"/>
                </a:solidFill>
              </a:rPr>
              <a:t>Hoisting with let</a:t>
            </a:r>
          </a:p>
          <a:p>
            <a:pPr algn="ctr"/>
            <a:endParaRPr lang="en-US" u="sng" dirty="0">
              <a:solidFill>
                <a:schemeClr val="accent2"/>
              </a:solidFill>
            </a:endParaRPr>
          </a:p>
          <a:p>
            <a:r>
              <a:rPr lang="en-US" dirty="0"/>
              <a:t>In this example, we are applying the concept of </a:t>
            </a:r>
            <a:r>
              <a:rPr lang="en-US" b="1" dirty="0"/>
              <a:t>hoisting with the let keyword</a:t>
            </a:r>
            <a:r>
              <a:rPr lang="en-US" dirty="0"/>
              <a:t>. Variables declared with let are also hoisted, but JavaScript does not initialize them with any value. Instead, they remain inside the </a:t>
            </a:r>
            <a:r>
              <a:rPr lang="en-US" b="1" dirty="0"/>
              <a:t>Temporal Dead Zone (TDZ)</a:t>
            </a:r>
            <a:r>
              <a:rPr lang="en-US" dirty="0"/>
              <a:t> until the declaration line is executed. Because of this, we cannot access a let variable before its declaration.</a:t>
            </a:r>
            <a:endParaRPr lang="en-US" u="sng" dirty="0">
              <a:solidFill>
                <a:schemeClr val="accent2"/>
              </a:solidFill>
            </a:endParaRPr>
          </a:p>
          <a:p>
            <a:endParaRPr lang="en-US" u="sng" dirty="0">
              <a:solidFill>
                <a:schemeClr val="accent2"/>
              </a:solidFill>
            </a:endParaRPr>
          </a:p>
          <a:p>
            <a:endParaRPr lang="en-US" sz="1950" dirty="0"/>
          </a:p>
          <a:p>
            <a:endParaRPr lang="en-US" sz="1950" dirty="0"/>
          </a:p>
          <a:p>
            <a:endParaRPr lang="en-US" sz="1950" dirty="0"/>
          </a:p>
          <a:p>
            <a:endParaRPr lang="en-US" sz="1950" dirty="0"/>
          </a:p>
          <a:p>
            <a:endParaRPr lang="en-US" sz="1950" dirty="0"/>
          </a:p>
          <a:p>
            <a:r>
              <a:rPr lang="en-US" sz="2000" dirty="0"/>
              <a:t>During hoisting, JavaScript creates the variable </a:t>
            </a:r>
            <a:r>
              <a:rPr lang="en-US" dirty="0"/>
              <a:t>age</a:t>
            </a:r>
            <a:r>
              <a:rPr lang="en-US" sz="2000" dirty="0"/>
              <a:t>, but it does not assign any value to it. The variable stays in the </a:t>
            </a:r>
            <a:r>
              <a:rPr lang="en-US" sz="2000" b="1" dirty="0"/>
              <a:t>Temporal Dead Zone (TDZ)</a:t>
            </a:r>
            <a:r>
              <a:rPr lang="en-US" sz="2000" dirty="0"/>
              <a:t>. When </a:t>
            </a:r>
            <a:r>
              <a:rPr lang="en-US" dirty="0"/>
              <a:t>console.log(age)</a:t>
            </a:r>
            <a:r>
              <a:rPr lang="en-US" sz="2000" dirty="0"/>
              <a:t> tries to access the variable before the declaration, JavaScript stops execution and gives a </a:t>
            </a:r>
            <a:r>
              <a:rPr lang="en-US" dirty="0"/>
              <a:t>ReferenceError</a:t>
            </a:r>
            <a:r>
              <a:rPr lang="en-US" sz="2000" dirty="0"/>
              <a:t>.</a:t>
            </a:r>
            <a:endParaRPr lang="en-US" sz="1950" dirty="0"/>
          </a:p>
          <a:p>
            <a:endParaRPr lang="en-US" sz="1850" dirty="0"/>
          </a:p>
          <a:p>
            <a:endParaRPr lang="en-US" sz="800" dirty="0"/>
          </a:p>
        </p:txBody>
      </p:sp>
      <p:pic>
        <p:nvPicPr>
          <p:cNvPr id="3" name="Picture 2">
            <a:extLst>
              <a:ext uri="{FF2B5EF4-FFF2-40B4-BE49-F238E27FC236}">
                <a16:creationId xmlns:a16="http://schemas.microsoft.com/office/drawing/2014/main" id="{A5CC5D4A-56FD-0846-5500-4554B3454A3D}"/>
              </a:ext>
            </a:extLst>
          </p:cNvPr>
          <p:cNvPicPr>
            <a:picLocks noChangeAspect="1"/>
          </p:cNvPicPr>
          <p:nvPr/>
        </p:nvPicPr>
        <p:blipFill>
          <a:blip r:embed="rId2"/>
          <a:stretch>
            <a:fillRect/>
          </a:stretch>
        </p:blipFill>
        <p:spPr>
          <a:xfrm>
            <a:off x="986539" y="2953976"/>
            <a:ext cx="6643621" cy="1140913"/>
          </a:xfrm>
          <a:prstGeom prst="rect">
            <a:avLst/>
          </a:prstGeom>
        </p:spPr>
      </p:pic>
    </p:spTree>
    <p:extLst>
      <p:ext uri="{BB962C8B-B14F-4D97-AF65-F5344CB8AC3E}">
        <p14:creationId xmlns:p14="http://schemas.microsoft.com/office/powerpoint/2010/main" val="795104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E2E6A-81B9-A036-440E-33B01A172C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AFC5DC-32A9-4395-CB5D-D02AFA051133}"/>
              </a:ext>
            </a:extLst>
          </p:cNvPr>
          <p:cNvSpPr txBox="1"/>
          <p:nvPr/>
        </p:nvSpPr>
        <p:spPr>
          <a:xfrm>
            <a:off x="987779" y="2208282"/>
            <a:ext cx="8160152" cy="369332"/>
          </a:xfrm>
          <a:prstGeom prst="rect">
            <a:avLst/>
          </a:prstGeom>
          <a:noFill/>
        </p:spPr>
        <p:txBody>
          <a:bodyPr wrap="square" rtlCol="0">
            <a:spAutoFit/>
          </a:bodyPr>
          <a:lstStyle/>
          <a:p>
            <a:endParaRPr lang="en-US" dirty="0"/>
          </a:p>
        </p:txBody>
      </p:sp>
      <p:pic>
        <p:nvPicPr>
          <p:cNvPr id="5" name="Picture 4">
            <a:extLst>
              <a:ext uri="{FF2B5EF4-FFF2-40B4-BE49-F238E27FC236}">
                <a16:creationId xmlns:a16="http://schemas.microsoft.com/office/drawing/2014/main" id="{1AA351B9-AE3D-6660-F798-31CA7952469D}"/>
              </a:ext>
            </a:extLst>
          </p:cNvPr>
          <p:cNvPicPr>
            <a:picLocks noChangeAspect="1"/>
          </p:cNvPicPr>
          <p:nvPr/>
        </p:nvPicPr>
        <p:blipFill>
          <a:blip r:embed="rId2"/>
          <a:stretch>
            <a:fillRect/>
          </a:stretch>
        </p:blipFill>
        <p:spPr>
          <a:xfrm>
            <a:off x="987779" y="704602"/>
            <a:ext cx="6477561" cy="1265030"/>
          </a:xfrm>
          <a:prstGeom prst="rect">
            <a:avLst/>
          </a:prstGeom>
        </p:spPr>
      </p:pic>
    </p:spTree>
    <p:extLst>
      <p:ext uri="{BB962C8B-B14F-4D97-AF65-F5344CB8AC3E}">
        <p14:creationId xmlns:p14="http://schemas.microsoft.com/office/powerpoint/2010/main" val="2879580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61C13-8BFD-A167-DB62-6E059EE14FD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43CEDAA-B44E-31B4-0882-78A9F976A9FA}"/>
              </a:ext>
            </a:extLst>
          </p:cNvPr>
          <p:cNvSpPr txBox="1"/>
          <p:nvPr/>
        </p:nvSpPr>
        <p:spPr>
          <a:xfrm>
            <a:off x="900294" y="704602"/>
            <a:ext cx="8160152" cy="4755148"/>
          </a:xfrm>
          <a:prstGeom prst="rect">
            <a:avLst/>
          </a:prstGeom>
          <a:noFill/>
        </p:spPr>
        <p:txBody>
          <a:bodyPr wrap="square" rtlCol="0">
            <a:spAutoFit/>
          </a:bodyPr>
          <a:lstStyle/>
          <a:p>
            <a:pPr algn="ctr"/>
            <a:r>
              <a:rPr lang="en-US" sz="2000" u="sng" dirty="0">
                <a:solidFill>
                  <a:schemeClr val="accent2"/>
                </a:solidFill>
              </a:rPr>
              <a:t>Hoisting with const</a:t>
            </a:r>
          </a:p>
          <a:p>
            <a:pPr algn="ctr"/>
            <a:endParaRPr lang="en-US" u="sng" dirty="0">
              <a:solidFill>
                <a:schemeClr val="accent2"/>
              </a:solidFill>
            </a:endParaRPr>
          </a:p>
          <a:p>
            <a:r>
              <a:rPr lang="en-US" dirty="0"/>
              <a:t>In this example, we are applying the concept of </a:t>
            </a:r>
            <a:r>
              <a:rPr lang="en-US" b="1" dirty="0"/>
              <a:t>hoisting with the const keyword</a:t>
            </a:r>
            <a:r>
              <a:rPr lang="en-US" dirty="0"/>
              <a:t>. Similar to let, variables declared with const are hoisted but are not initialized with a value. They also remain inside the </a:t>
            </a:r>
            <a:r>
              <a:rPr lang="en-US" b="1" dirty="0"/>
              <a:t>Temporal Dead Zone (TDZ)</a:t>
            </a:r>
            <a:r>
              <a:rPr lang="en-US" dirty="0"/>
              <a:t> until the declaration is reached. Therefore, accessing a const variable before its declaration will cause an error.</a:t>
            </a:r>
            <a:endParaRPr lang="en-US" u="sng" dirty="0">
              <a:solidFill>
                <a:schemeClr val="accent2"/>
              </a:solidFill>
            </a:endParaRPr>
          </a:p>
          <a:p>
            <a:endParaRPr lang="en-US" u="sng" dirty="0">
              <a:solidFill>
                <a:schemeClr val="accent2"/>
              </a:solidFill>
            </a:endParaRPr>
          </a:p>
          <a:p>
            <a:endParaRPr lang="en-US" sz="1950" dirty="0"/>
          </a:p>
          <a:p>
            <a:endParaRPr lang="en-US" sz="1950" dirty="0"/>
          </a:p>
          <a:p>
            <a:endParaRPr lang="en-US" sz="1950" dirty="0"/>
          </a:p>
          <a:p>
            <a:endParaRPr lang="en-US" sz="1850" dirty="0"/>
          </a:p>
          <a:p>
            <a:endParaRPr lang="en-US" dirty="0"/>
          </a:p>
          <a:p>
            <a:endParaRPr lang="en-US" sz="800" dirty="0"/>
          </a:p>
          <a:p>
            <a:r>
              <a:rPr lang="en-US" dirty="0"/>
              <a:t>JavaScript moves the declaration of pi to the top, but the value 3.14 is not assigned immediately. Since pi is still inside the TDZ, the console.log() cannot access it and JavaScript throws a ReferenceError.</a:t>
            </a:r>
          </a:p>
        </p:txBody>
      </p:sp>
      <p:pic>
        <p:nvPicPr>
          <p:cNvPr id="3" name="Picture 2">
            <a:extLst>
              <a:ext uri="{FF2B5EF4-FFF2-40B4-BE49-F238E27FC236}">
                <a16:creationId xmlns:a16="http://schemas.microsoft.com/office/drawing/2014/main" id="{8B846182-7785-2F92-EB79-B6849CF4D3BC}"/>
              </a:ext>
            </a:extLst>
          </p:cNvPr>
          <p:cNvPicPr>
            <a:picLocks noChangeAspect="1"/>
          </p:cNvPicPr>
          <p:nvPr/>
        </p:nvPicPr>
        <p:blipFill>
          <a:blip r:embed="rId2"/>
          <a:stretch>
            <a:fillRect/>
          </a:stretch>
        </p:blipFill>
        <p:spPr>
          <a:xfrm>
            <a:off x="978930" y="2891735"/>
            <a:ext cx="5540220" cy="1257409"/>
          </a:xfrm>
          <a:prstGeom prst="rect">
            <a:avLst/>
          </a:prstGeom>
        </p:spPr>
      </p:pic>
    </p:spTree>
    <p:extLst>
      <p:ext uri="{BB962C8B-B14F-4D97-AF65-F5344CB8AC3E}">
        <p14:creationId xmlns:p14="http://schemas.microsoft.com/office/powerpoint/2010/main" val="4256573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28AE1-820F-DE7A-76F8-965AAAAC36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BE6A878-2D8A-CBD2-5722-DE1A9C0AFB57}"/>
              </a:ext>
            </a:extLst>
          </p:cNvPr>
          <p:cNvSpPr txBox="1"/>
          <p:nvPr/>
        </p:nvSpPr>
        <p:spPr>
          <a:xfrm>
            <a:off x="1171917" y="2980442"/>
            <a:ext cx="8160152" cy="369332"/>
          </a:xfrm>
          <a:prstGeom prst="rect">
            <a:avLst/>
          </a:prstGeom>
          <a:noFill/>
        </p:spPr>
        <p:txBody>
          <a:bodyPr wrap="square" rtlCol="0">
            <a:spAutoFit/>
          </a:bodyPr>
          <a:lstStyle/>
          <a:p>
            <a:endParaRPr lang="en-US" dirty="0"/>
          </a:p>
        </p:txBody>
      </p:sp>
      <p:pic>
        <p:nvPicPr>
          <p:cNvPr id="3" name="Picture 2">
            <a:extLst>
              <a:ext uri="{FF2B5EF4-FFF2-40B4-BE49-F238E27FC236}">
                <a16:creationId xmlns:a16="http://schemas.microsoft.com/office/drawing/2014/main" id="{499B1EC5-450E-8689-66AD-EBF0193036EA}"/>
              </a:ext>
            </a:extLst>
          </p:cNvPr>
          <p:cNvPicPr>
            <a:picLocks noChangeAspect="1"/>
          </p:cNvPicPr>
          <p:nvPr/>
        </p:nvPicPr>
        <p:blipFill>
          <a:blip r:embed="rId2"/>
          <a:stretch>
            <a:fillRect/>
          </a:stretch>
        </p:blipFill>
        <p:spPr>
          <a:xfrm>
            <a:off x="1171917" y="1038241"/>
            <a:ext cx="6759526" cy="1539373"/>
          </a:xfrm>
          <a:prstGeom prst="rect">
            <a:avLst/>
          </a:prstGeom>
        </p:spPr>
      </p:pic>
      <p:pic>
        <p:nvPicPr>
          <p:cNvPr id="7" name="Picture 6">
            <a:extLst>
              <a:ext uri="{FF2B5EF4-FFF2-40B4-BE49-F238E27FC236}">
                <a16:creationId xmlns:a16="http://schemas.microsoft.com/office/drawing/2014/main" id="{47A6B4BA-BD6F-AA9C-05D6-323E08C36C61}"/>
              </a:ext>
            </a:extLst>
          </p:cNvPr>
          <p:cNvPicPr>
            <a:picLocks noChangeAspect="1"/>
          </p:cNvPicPr>
          <p:nvPr/>
        </p:nvPicPr>
        <p:blipFill>
          <a:blip r:embed="rId3"/>
          <a:stretch>
            <a:fillRect/>
          </a:stretch>
        </p:blipFill>
        <p:spPr>
          <a:xfrm>
            <a:off x="1171917" y="3165108"/>
            <a:ext cx="6862817" cy="1468661"/>
          </a:xfrm>
          <a:prstGeom prst="rect">
            <a:avLst/>
          </a:prstGeom>
        </p:spPr>
      </p:pic>
    </p:spTree>
    <p:extLst>
      <p:ext uri="{BB962C8B-B14F-4D97-AF65-F5344CB8AC3E}">
        <p14:creationId xmlns:p14="http://schemas.microsoft.com/office/powerpoint/2010/main" val="4234873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7A0E2-560F-A51F-5AAF-D653A5CB4B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3D5A6C-B36B-9906-BEBC-36C996DD5FFA}"/>
              </a:ext>
            </a:extLst>
          </p:cNvPr>
          <p:cNvSpPr txBox="1"/>
          <p:nvPr/>
        </p:nvSpPr>
        <p:spPr>
          <a:xfrm>
            <a:off x="900294" y="704602"/>
            <a:ext cx="8160152" cy="3724096"/>
          </a:xfrm>
          <a:prstGeom prst="rect">
            <a:avLst/>
          </a:prstGeom>
          <a:noFill/>
        </p:spPr>
        <p:txBody>
          <a:bodyPr wrap="square" rtlCol="0">
            <a:spAutoFit/>
          </a:bodyPr>
          <a:lstStyle/>
          <a:p>
            <a:pPr algn="ctr"/>
            <a:r>
              <a:rPr lang="en-US" sz="2000" u="sng" dirty="0">
                <a:solidFill>
                  <a:schemeClr val="accent2"/>
                </a:solidFill>
              </a:rPr>
              <a:t>Hoisting with Function</a:t>
            </a:r>
          </a:p>
          <a:p>
            <a:pPr algn="ctr"/>
            <a:endParaRPr lang="en-US" u="sng" dirty="0">
              <a:solidFill>
                <a:schemeClr val="accent2"/>
              </a:solidFill>
            </a:endParaRPr>
          </a:p>
          <a:p>
            <a:endParaRPr lang="en-US" dirty="0"/>
          </a:p>
          <a:p>
            <a:endParaRPr lang="en-US" dirty="0"/>
          </a:p>
          <a:p>
            <a:endParaRPr lang="en-US" dirty="0"/>
          </a:p>
          <a:p>
            <a:endParaRPr lang="en-US" dirty="0"/>
          </a:p>
          <a:p>
            <a:endParaRPr lang="en-US" sz="2800" dirty="0"/>
          </a:p>
          <a:p>
            <a:endParaRPr lang="en-US" dirty="0"/>
          </a:p>
          <a:p>
            <a:r>
              <a:rPr lang="en-US" dirty="0"/>
              <a:t>In this example, we are applying the concept of </a:t>
            </a:r>
            <a:r>
              <a:rPr lang="en-US" b="1" dirty="0"/>
              <a:t>hoisting with a function declaration</a:t>
            </a:r>
            <a:r>
              <a:rPr lang="en-US" dirty="0"/>
              <a:t>. Unlike variables, JavaScript hoists the complete function, including its name and code block, to the top of its scope. We can call a function before writing its actual declaration in the program.</a:t>
            </a:r>
            <a:endParaRPr lang="en-US" u="sng" dirty="0">
              <a:solidFill>
                <a:schemeClr val="accent2"/>
              </a:solidFill>
            </a:endParaRPr>
          </a:p>
          <a:p>
            <a:endParaRPr lang="en-US" sz="800" dirty="0"/>
          </a:p>
        </p:txBody>
      </p:sp>
      <p:pic>
        <p:nvPicPr>
          <p:cNvPr id="5" name="Picture 4">
            <a:extLst>
              <a:ext uri="{FF2B5EF4-FFF2-40B4-BE49-F238E27FC236}">
                <a16:creationId xmlns:a16="http://schemas.microsoft.com/office/drawing/2014/main" id="{B3C16273-AF83-03F6-A279-328DBC99D3EE}"/>
              </a:ext>
            </a:extLst>
          </p:cNvPr>
          <p:cNvPicPr>
            <a:picLocks noChangeAspect="1"/>
          </p:cNvPicPr>
          <p:nvPr/>
        </p:nvPicPr>
        <p:blipFill>
          <a:blip r:embed="rId2"/>
          <a:stretch>
            <a:fillRect/>
          </a:stretch>
        </p:blipFill>
        <p:spPr>
          <a:xfrm>
            <a:off x="1002421" y="1447730"/>
            <a:ext cx="5707661" cy="1423558"/>
          </a:xfrm>
          <a:prstGeom prst="rect">
            <a:avLst/>
          </a:prstGeom>
        </p:spPr>
      </p:pic>
      <p:pic>
        <p:nvPicPr>
          <p:cNvPr id="7" name="Picture 6">
            <a:extLst>
              <a:ext uri="{FF2B5EF4-FFF2-40B4-BE49-F238E27FC236}">
                <a16:creationId xmlns:a16="http://schemas.microsoft.com/office/drawing/2014/main" id="{69E3043D-C434-05D2-6DA8-6EF7FB8984AD}"/>
              </a:ext>
            </a:extLst>
          </p:cNvPr>
          <p:cNvPicPr>
            <a:picLocks noChangeAspect="1"/>
          </p:cNvPicPr>
          <p:nvPr/>
        </p:nvPicPr>
        <p:blipFill>
          <a:blip r:embed="rId3"/>
          <a:stretch>
            <a:fillRect/>
          </a:stretch>
        </p:blipFill>
        <p:spPr>
          <a:xfrm>
            <a:off x="956701" y="4428698"/>
            <a:ext cx="5838686" cy="1550385"/>
          </a:xfrm>
          <a:prstGeom prst="rect">
            <a:avLst/>
          </a:prstGeom>
        </p:spPr>
      </p:pic>
    </p:spTree>
    <p:extLst>
      <p:ext uri="{BB962C8B-B14F-4D97-AF65-F5344CB8AC3E}">
        <p14:creationId xmlns:p14="http://schemas.microsoft.com/office/powerpoint/2010/main" val="358661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915C9-6E9D-72B5-CEA4-07DA364E757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F69EDB3-11AB-1580-B933-546B2B52C880}"/>
              </a:ext>
            </a:extLst>
          </p:cNvPr>
          <p:cNvSpPr txBox="1"/>
          <p:nvPr/>
        </p:nvSpPr>
        <p:spPr>
          <a:xfrm>
            <a:off x="900294" y="704602"/>
            <a:ext cx="8160152" cy="1323439"/>
          </a:xfrm>
          <a:prstGeom prst="rect">
            <a:avLst/>
          </a:prstGeom>
          <a:noFill/>
        </p:spPr>
        <p:txBody>
          <a:bodyPr wrap="square" rtlCol="0">
            <a:spAutoFit/>
          </a:bodyPr>
          <a:lstStyle/>
          <a:p>
            <a:r>
              <a:rPr lang="en-US" sz="2000" dirty="0"/>
              <a:t>Before execution, JavaScript moves the complete function declaration to the top. Since the function is already available in memory, the first </a:t>
            </a:r>
            <a:r>
              <a:rPr lang="en-US" dirty="0"/>
              <a:t>greet()</a:t>
            </a:r>
            <a:r>
              <a:rPr lang="en-US" sz="2000" dirty="0"/>
              <a:t> call works successfully even though the function is written later in the code.</a:t>
            </a:r>
            <a:endParaRPr lang="en-US" sz="800" dirty="0"/>
          </a:p>
        </p:txBody>
      </p:sp>
      <p:pic>
        <p:nvPicPr>
          <p:cNvPr id="8" name="Picture 7">
            <a:extLst>
              <a:ext uri="{FF2B5EF4-FFF2-40B4-BE49-F238E27FC236}">
                <a16:creationId xmlns:a16="http://schemas.microsoft.com/office/drawing/2014/main" id="{AA354B06-2435-B11C-7C9D-58009F26036A}"/>
              </a:ext>
            </a:extLst>
          </p:cNvPr>
          <p:cNvPicPr>
            <a:picLocks noChangeAspect="1"/>
          </p:cNvPicPr>
          <p:nvPr/>
        </p:nvPicPr>
        <p:blipFill>
          <a:blip r:embed="rId2"/>
          <a:stretch>
            <a:fillRect/>
          </a:stretch>
        </p:blipFill>
        <p:spPr>
          <a:xfrm>
            <a:off x="1013206" y="2628851"/>
            <a:ext cx="7277353" cy="1387067"/>
          </a:xfrm>
          <a:prstGeom prst="rect">
            <a:avLst/>
          </a:prstGeom>
        </p:spPr>
      </p:pic>
    </p:spTree>
    <p:extLst>
      <p:ext uri="{BB962C8B-B14F-4D97-AF65-F5344CB8AC3E}">
        <p14:creationId xmlns:p14="http://schemas.microsoft.com/office/powerpoint/2010/main" val="769435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2B76B-ED25-1166-0DDC-E32C223CF5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E3843C-DBEE-114F-DC77-7D878E7AC359}"/>
              </a:ext>
            </a:extLst>
          </p:cNvPr>
          <p:cNvSpPr txBox="1"/>
          <p:nvPr/>
        </p:nvSpPr>
        <p:spPr>
          <a:xfrm>
            <a:off x="900294" y="704602"/>
            <a:ext cx="8160152" cy="4278094"/>
          </a:xfrm>
          <a:prstGeom prst="rect">
            <a:avLst/>
          </a:prstGeom>
          <a:noFill/>
        </p:spPr>
        <p:txBody>
          <a:bodyPr wrap="square" rtlCol="0">
            <a:spAutoFit/>
          </a:bodyPr>
          <a:lstStyle/>
          <a:p>
            <a:pPr algn="ctr"/>
            <a:r>
              <a:rPr lang="en-US" sz="2000" b="1" u="sng" dirty="0">
                <a:solidFill>
                  <a:schemeClr val="accent2"/>
                </a:solidFill>
              </a:rPr>
              <a:t>Why do we do hoisting?</a:t>
            </a:r>
          </a:p>
          <a:p>
            <a:pPr algn="ctr"/>
            <a:endParaRPr lang="en-US" u="sng" dirty="0">
              <a:solidFill>
                <a:schemeClr val="accent2"/>
              </a:solidFill>
            </a:endParaRPr>
          </a:p>
          <a:p>
            <a:r>
              <a:rPr lang="en-US" b="1" dirty="0"/>
              <a:t>Hoisting means JavaScript reads your variables and functions before it starts running your code.</a:t>
            </a:r>
            <a:r>
              <a:rPr lang="en-US" dirty="0"/>
              <a:t> It first checks what things are created in the program and keeps information about them in memory. Because of this, JavaScript already knows that a variable or function exists when it reaches that line of code.</a:t>
            </a:r>
          </a:p>
          <a:p>
            <a:endParaRPr lang="en-US" b="1" u="sng" dirty="0"/>
          </a:p>
          <a:p>
            <a:pPr algn="ctr"/>
            <a:r>
              <a:rPr lang="en-US" b="1" u="sng" dirty="0">
                <a:solidFill>
                  <a:schemeClr val="accent2"/>
                </a:solidFill>
              </a:rPr>
              <a:t>Benefits?</a:t>
            </a:r>
          </a:p>
          <a:p>
            <a:endParaRPr lang="en-US" dirty="0"/>
          </a:p>
          <a:p>
            <a:pPr marL="285750" indent="-285750">
              <a:buFont typeface="Arial" panose="020B0604020202020204" pitchFamily="34" charset="0"/>
              <a:buChar char="•"/>
            </a:pPr>
            <a:r>
              <a:rPr lang="en-US" dirty="0"/>
              <a:t>It helps JavaScript know which variables and functions are available before running the code.</a:t>
            </a:r>
          </a:p>
          <a:p>
            <a:pPr marL="285750" indent="-285750">
              <a:buFont typeface="Arial" panose="020B0604020202020204" pitchFamily="34" charset="0"/>
              <a:buChar char="•"/>
            </a:pPr>
            <a:r>
              <a:rPr lang="en-US" dirty="0"/>
              <a:t>Helps us to organize and work with our code.</a:t>
            </a:r>
          </a:p>
          <a:p>
            <a:pPr marL="285750" indent="-285750">
              <a:buFont typeface="Arial" panose="020B0604020202020204" pitchFamily="34" charset="0"/>
              <a:buChar char="•"/>
            </a:pPr>
            <a:r>
              <a:rPr lang="en-US" dirty="0"/>
              <a:t>Assists in interpreting the way the program is executed and read by JavaScript.</a:t>
            </a:r>
          </a:p>
        </p:txBody>
      </p:sp>
    </p:spTree>
    <p:extLst>
      <p:ext uri="{BB962C8B-B14F-4D97-AF65-F5344CB8AC3E}">
        <p14:creationId xmlns:p14="http://schemas.microsoft.com/office/powerpoint/2010/main" val="456894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D7F22-809D-544B-85F8-ADA43F3D24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4233058-0F92-7836-649C-13C001F37139}"/>
              </a:ext>
            </a:extLst>
          </p:cNvPr>
          <p:cNvSpPr/>
          <p:nvPr/>
        </p:nvSpPr>
        <p:spPr>
          <a:xfrm>
            <a:off x="3643884" y="2616815"/>
            <a:ext cx="3532635"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p>
        </p:txBody>
      </p:sp>
    </p:spTree>
    <p:extLst>
      <p:ext uri="{BB962C8B-B14F-4D97-AF65-F5344CB8AC3E}">
        <p14:creationId xmlns:p14="http://schemas.microsoft.com/office/powerpoint/2010/main" val="1758517920"/>
      </p:ext>
    </p:extLst>
  </p:cSld>
  <p:clrMapOvr>
    <a:masterClrMapping/>
  </p:clrMapOvr>
</p:sld>
</file>

<file path=ppt/theme/theme1.xml><?xml version="1.0" encoding="utf-8"?>
<a:theme xmlns:a="http://schemas.openxmlformats.org/drawingml/2006/main" name="Facet">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130</TotalTime>
  <Words>686</Words>
  <Application>Microsoft Office PowerPoint</Application>
  <PresentationFormat>Widescreen</PresentationFormat>
  <Paragraphs>66</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Romaisa Shahbaz</dc:creator>
  <cp:lastModifiedBy>Romaisa Shahbaz</cp:lastModifiedBy>
  <cp:revision>1</cp:revision>
  <dcterms:created xsi:type="dcterms:W3CDTF">2026-07-12T14:26:12Z</dcterms:created>
  <dcterms:modified xsi:type="dcterms:W3CDTF">2026-07-12T16:36:19Z</dcterms:modified>
</cp:coreProperties>
</file>