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4" r:id="rId20"/>
    <p:sldId id="276" r:id="rId21"/>
    <p:sldId id="277" r:id="rId22"/>
    <p:sldId id="278" r:id="rId23"/>
    <p:sldId id="279" r:id="rId24"/>
    <p:sldId id="280" r:id="rId25"/>
    <p:sldId id="282" r:id="rId26"/>
    <p:sldId id="281"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43" y="6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3246498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1807230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2867108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56AC27-326E-4983-A9A4-D08FED99DD1A}"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4004423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56AC27-326E-4983-A9A4-D08FED99DD1A}"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3261547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56AC27-326E-4983-A9A4-D08FED99DD1A}"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255262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56AC27-326E-4983-A9A4-D08FED99DD1A}"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77406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56AC27-326E-4983-A9A4-D08FED99DD1A}"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1784878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56AC27-326E-4983-A9A4-D08FED99DD1A}"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182812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3372582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97683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160264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5347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3859589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1681598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56AC27-326E-4983-A9A4-D08FED99DD1A}"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955052-38AA-4BC5-A908-34B20A43B5C5}" type="slidenum">
              <a:rPr lang="en-US" smtClean="0"/>
              <a:t>‹#›</a:t>
            </a:fld>
            <a:endParaRPr lang="en-US"/>
          </a:p>
        </p:txBody>
      </p:sp>
    </p:spTree>
    <p:extLst>
      <p:ext uri="{BB962C8B-B14F-4D97-AF65-F5344CB8AC3E}">
        <p14:creationId xmlns:p14="http://schemas.microsoft.com/office/powerpoint/2010/main" val="31750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E56AC27-326E-4983-A9A4-D08FED99DD1A}" type="datetimeFigureOut">
              <a:rPr lang="en-US" smtClean="0"/>
              <a:t>7/24/2026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A955052-38AA-4BC5-A908-34B20A43B5C5}" type="slidenum">
              <a:rPr lang="en-US" smtClean="0"/>
              <a:t>‹#›</a:t>
            </a:fld>
            <a:endParaRPr lang="en-US"/>
          </a:p>
        </p:txBody>
      </p:sp>
    </p:spTree>
    <p:extLst>
      <p:ext uri="{BB962C8B-B14F-4D97-AF65-F5344CB8AC3E}">
        <p14:creationId xmlns:p14="http://schemas.microsoft.com/office/powerpoint/2010/main" val="6122400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226703-0D3D-7A24-AA3C-6605415668CC}"/>
              </a:ext>
            </a:extLst>
          </p:cNvPr>
          <p:cNvSpPr/>
          <p:nvPr/>
        </p:nvSpPr>
        <p:spPr>
          <a:xfrm>
            <a:off x="3299403" y="2443685"/>
            <a:ext cx="4845942" cy="1754326"/>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OBJECTS </a:t>
            </a:r>
          </a:p>
          <a:p>
            <a:pPr algn="ctr"/>
            <a:r>
              <a:rPr lang="en-US" sz="5400" b="1" cap="none" spc="0" dirty="0">
                <a:ln w="22225">
                  <a:solidFill>
                    <a:schemeClr val="accent2"/>
                  </a:solidFill>
                  <a:prstDash val="solid"/>
                </a:ln>
                <a:solidFill>
                  <a:schemeClr val="accent2">
                    <a:lumMod val="40000"/>
                    <a:lumOff val="60000"/>
                  </a:schemeClr>
                </a:solidFill>
                <a:effectLst/>
              </a:rPr>
              <a:t>IN JAVASCRIPT</a:t>
            </a:r>
          </a:p>
        </p:txBody>
      </p:sp>
    </p:spTree>
    <p:extLst>
      <p:ext uri="{BB962C8B-B14F-4D97-AF65-F5344CB8AC3E}">
        <p14:creationId xmlns:p14="http://schemas.microsoft.com/office/powerpoint/2010/main" val="304611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FC7EB-E0F4-FE7E-96CD-1417536141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AA73A9-30C2-8804-5DE4-56E5364B0D80}"/>
              </a:ext>
            </a:extLst>
          </p:cNvPr>
          <p:cNvSpPr txBox="1"/>
          <p:nvPr/>
        </p:nvSpPr>
        <p:spPr>
          <a:xfrm>
            <a:off x="816077" y="501445"/>
            <a:ext cx="8406581" cy="1541448"/>
          </a:xfrm>
          <a:prstGeom prst="rect">
            <a:avLst/>
          </a:prstGeom>
          <a:noFill/>
        </p:spPr>
        <p:txBody>
          <a:bodyPr wrap="square" rtlCol="0">
            <a:spAutoFit/>
          </a:bodyPr>
          <a:lstStyle/>
          <a:p>
            <a:pPr marL="285750" indent="-285750">
              <a:spcBef>
                <a:spcPts val="50"/>
              </a:spcBef>
              <a:spcAft>
                <a:spcPts val="200"/>
              </a:spcAft>
              <a:buFont typeface="Wingdings" panose="05000000000000000000" pitchFamily="2" charset="2"/>
              <a:buChar char="ü"/>
            </a:pPr>
            <a:r>
              <a:rPr lang="en-US" b="1" dirty="0">
                <a:solidFill>
                  <a:schemeClr val="accent2"/>
                </a:solidFill>
              </a:rPr>
              <a:t>WHAT IS AN OBJECT?</a:t>
            </a:r>
          </a:p>
          <a:p>
            <a:pPr>
              <a:spcBef>
                <a:spcPts val="50"/>
              </a:spcBef>
              <a:spcAft>
                <a:spcPts val="50"/>
              </a:spcAft>
            </a:pPr>
            <a:r>
              <a:rPr lang="en-US" dirty="0"/>
              <a:t>It is a way to store related information about one thing in a single variable. It stores information as </a:t>
            </a:r>
            <a:r>
              <a:rPr lang="en-US" b="1" u="sng" dirty="0"/>
              <a:t>properties</a:t>
            </a:r>
            <a:r>
              <a:rPr lang="en-US" b="1" dirty="0"/>
              <a:t> </a:t>
            </a:r>
            <a:r>
              <a:rPr lang="en-US" dirty="0"/>
              <a:t>and their </a:t>
            </a:r>
            <a:r>
              <a:rPr lang="en-US" b="1" u="sng" dirty="0"/>
              <a:t>values</a:t>
            </a:r>
            <a:r>
              <a:rPr lang="en-US" dirty="0"/>
              <a:t> in a </a:t>
            </a:r>
            <a:r>
              <a:rPr lang="en-US" b="1" u="sng" dirty="0"/>
              <a:t>key-pair values</a:t>
            </a:r>
            <a:r>
              <a:rPr lang="en-US" b="1" dirty="0"/>
              <a:t> </a:t>
            </a:r>
            <a:r>
              <a:rPr lang="en-US" dirty="0"/>
              <a:t>to keep the data in an organized manner. </a:t>
            </a:r>
          </a:p>
          <a:p>
            <a:pPr>
              <a:spcBef>
                <a:spcPts val="50"/>
              </a:spcBef>
              <a:spcAft>
                <a:spcPts val="50"/>
              </a:spcAft>
            </a:pPr>
            <a:endParaRPr lang="en-US" dirty="0"/>
          </a:p>
        </p:txBody>
      </p:sp>
      <p:grpSp>
        <p:nvGrpSpPr>
          <p:cNvPr id="2" name="Group 1">
            <a:extLst>
              <a:ext uri="{FF2B5EF4-FFF2-40B4-BE49-F238E27FC236}">
                <a16:creationId xmlns:a16="http://schemas.microsoft.com/office/drawing/2014/main" id="{3A2B0E14-7C56-B1E2-3C74-9D61AAB47011}"/>
              </a:ext>
            </a:extLst>
          </p:cNvPr>
          <p:cNvGrpSpPr/>
          <p:nvPr/>
        </p:nvGrpSpPr>
        <p:grpSpPr>
          <a:xfrm>
            <a:off x="924233" y="1878835"/>
            <a:ext cx="6381132" cy="4400943"/>
            <a:chOff x="894736" y="1918164"/>
            <a:chExt cx="6381132" cy="4400943"/>
          </a:xfrm>
        </p:grpSpPr>
        <p:pic>
          <p:nvPicPr>
            <p:cNvPr id="8" name="Picture 7">
              <a:extLst>
                <a:ext uri="{FF2B5EF4-FFF2-40B4-BE49-F238E27FC236}">
                  <a16:creationId xmlns:a16="http://schemas.microsoft.com/office/drawing/2014/main" id="{4A1EB288-CDF2-27DA-CB53-4BFC3CE973D7}"/>
                </a:ext>
              </a:extLst>
            </p:cNvPr>
            <p:cNvPicPr>
              <a:picLocks noChangeAspect="1"/>
            </p:cNvPicPr>
            <p:nvPr/>
          </p:nvPicPr>
          <p:blipFill>
            <a:blip r:embed="rId2"/>
            <a:srcRect l="4219" r="6606"/>
            <a:stretch>
              <a:fillRect/>
            </a:stretch>
          </p:blipFill>
          <p:spPr>
            <a:xfrm>
              <a:off x="904565" y="1918164"/>
              <a:ext cx="6371303" cy="2287377"/>
            </a:xfrm>
            <a:prstGeom prst="rect">
              <a:avLst/>
            </a:prstGeom>
          </p:spPr>
        </p:pic>
        <p:pic>
          <p:nvPicPr>
            <p:cNvPr id="10" name="Picture 9">
              <a:extLst>
                <a:ext uri="{FF2B5EF4-FFF2-40B4-BE49-F238E27FC236}">
                  <a16:creationId xmlns:a16="http://schemas.microsoft.com/office/drawing/2014/main" id="{71127C35-5526-7E9A-B20E-8026B0CEF645}"/>
                </a:ext>
              </a:extLst>
            </p:cNvPr>
            <p:cNvPicPr>
              <a:picLocks noChangeAspect="1"/>
            </p:cNvPicPr>
            <p:nvPr/>
          </p:nvPicPr>
          <p:blipFill>
            <a:blip r:embed="rId3"/>
            <a:srcRect r="45679"/>
            <a:stretch>
              <a:fillRect/>
            </a:stretch>
          </p:blipFill>
          <p:spPr>
            <a:xfrm>
              <a:off x="894736" y="4403123"/>
              <a:ext cx="2595554" cy="1425063"/>
            </a:xfrm>
            <a:prstGeom prst="rect">
              <a:avLst/>
            </a:prstGeom>
          </p:spPr>
        </p:pic>
        <p:pic>
          <p:nvPicPr>
            <p:cNvPr id="12" name="Picture 11">
              <a:extLst>
                <a:ext uri="{FF2B5EF4-FFF2-40B4-BE49-F238E27FC236}">
                  <a16:creationId xmlns:a16="http://schemas.microsoft.com/office/drawing/2014/main" id="{AEE86F71-768F-D917-3CB2-0017E4433867}"/>
                </a:ext>
              </a:extLst>
            </p:cNvPr>
            <p:cNvPicPr>
              <a:picLocks noChangeAspect="1"/>
            </p:cNvPicPr>
            <p:nvPr/>
          </p:nvPicPr>
          <p:blipFill>
            <a:blip r:embed="rId4"/>
            <a:stretch>
              <a:fillRect/>
            </a:stretch>
          </p:blipFill>
          <p:spPr>
            <a:xfrm>
              <a:off x="3069263" y="4383459"/>
              <a:ext cx="4206605" cy="1935648"/>
            </a:xfrm>
            <a:prstGeom prst="rect">
              <a:avLst/>
            </a:prstGeom>
          </p:spPr>
        </p:pic>
      </p:grpSp>
      <p:sp>
        <p:nvSpPr>
          <p:cNvPr id="3" name="TextBox 2">
            <a:extLst>
              <a:ext uri="{FF2B5EF4-FFF2-40B4-BE49-F238E27FC236}">
                <a16:creationId xmlns:a16="http://schemas.microsoft.com/office/drawing/2014/main" id="{891C1848-BB48-76E5-A1DC-144EBDB3AF5A}"/>
              </a:ext>
            </a:extLst>
          </p:cNvPr>
          <p:cNvSpPr txBox="1"/>
          <p:nvPr/>
        </p:nvSpPr>
        <p:spPr>
          <a:xfrm>
            <a:off x="7600334" y="2506784"/>
            <a:ext cx="1622324" cy="2308324"/>
          </a:xfrm>
          <a:prstGeom prst="rect">
            <a:avLst/>
          </a:prstGeom>
          <a:noFill/>
        </p:spPr>
        <p:txBody>
          <a:bodyPr wrap="square" rtlCol="0">
            <a:spAutoFit/>
          </a:bodyPr>
          <a:lstStyle/>
          <a:p>
            <a:r>
              <a:rPr lang="en-US" dirty="0"/>
              <a:t>The </a:t>
            </a:r>
            <a:r>
              <a:rPr lang="en-US" b="1" dirty="0"/>
              <a:t>object literal</a:t>
            </a:r>
            <a:r>
              <a:rPr lang="en-US" dirty="0"/>
              <a:t> is the simplest and most common way to create an object using curly braces {}.</a:t>
            </a:r>
          </a:p>
        </p:txBody>
      </p:sp>
    </p:spTree>
    <p:extLst>
      <p:ext uri="{BB962C8B-B14F-4D97-AF65-F5344CB8AC3E}">
        <p14:creationId xmlns:p14="http://schemas.microsoft.com/office/powerpoint/2010/main" val="89949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2929E-7191-A322-E648-204AB8DF87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9A7FE3-F1EF-2055-9086-8DA7587E81EE}"/>
              </a:ext>
            </a:extLst>
          </p:cNvPr>
          <p:cNvSpPr txBox="1"/>
          <p:nvPr/>
        </p:nvSpPr>
        <p:spPr>
          <a:xfrm>
            <a:off x="816078" y="678421"/>
            <a:ext cx="8209936" cy="5334794"/>
          </a:xfrm>
          <a:prstGeom prst="rect">
            <a:avLst/>
          </a:prstGeom>
          <a:noFill/>
        </p:spPr>
        <p:txBody>
          <a:bodyPr wrap="square" rtlCol="0">
            <a:spAutoFit/>
          </a:bodyPr>
          <a:lstStyle/>
          <a:p>
            <a:pPr marL="285750" indent="-285750">
              <a:spcBef>
                <a:spcPts val="50"/>
              </a:spcBef>
              <a:spcAft>
                <a:spcPts val="50"/>
              </a:spcAft>
              <a:buFont typeface="Wingdings" panose="05000000000000000000" pitchFamily="2" charset="2"/>
              <a:buChar char="v"/>
            </a:pPr>
            <a:r>
              <a:rPr lang="en-US" b="1" dirty="0"/>
              <a:t>Why we use console.log() and not document.write() to print?</a:t>
            </a:r>
          </a:p>
          <a:p>
            <a:pPr>
              <a:spcBef>
                <a:spcPts val="50"/>
              </a:spcBef>
              <a:spcAft>
                <a:spcPts val="50"/>
              </a:spcAft>
            </a:pPr>
            <a:endParaRPr lang="en-US" b="1" dirty="0"/>
          </a:p>
          <a:p>
            <a:pPr>
              <a:spcBef>
                <a:spcPts val="50"/>
              </a:spcBef>
              <a:spcAft>
                <a:spcPts val="50"/>
              </a:spcAft>
            </a:pPr>
            <a:r>
              <a:rPr lang="en-US" dirty="0"/>
              <a:t>If document.write() is used, it thinks that Student is like a box that contains values, when document.write() is used the JavaScript is confused as to print what part of the information therefore it will print </a:t>
            </a:r>
            <a:r>
              <a:rPr lang="en-US" b="1" dirty="0"/>
              <a:t>[object Object]</a:t>
            </a:r>
            <a:r>
              <a:rPr lang="en-US" dirty="0"/>
              <a:t>. The object contains three properties. We use </a:t>
            </a:r>
            <a:r>
              <a:rPr lang="en-US" b="1" dirty="0"/>
              <a:t>dot notation</a:t>
            </a:r>
            <a:r>
              <a:rPr lang="en-US" dirty="0"/>
              <a:t> to access the value of each </a:t>
            </a:r>
            <a:r>
              <a:rPr lang="en-US" b="1" dirty="0"/>
              <a:t>property:</a:t>
            </a:r>
            <a:endParaRPr lang="en-US" dirty="0"/>
          </a:p>
          <a:p>
            <a:pPr>
              <a:spcBef>
                <a:spcPts val="50"/>
              </a:spcBef>
              <a:spcAft>
                <a:spcPts val="50"/>
              </a:spcAft>
            </a:pPr>
            <a:endParaRPr lang="en-US" dirty="0"/>
          </a:p>
          <a:p>
            <a:pPr>
              <a:spcBef>
                <a:spcPts val="50"/>
              </a:spcBef>
              <a:spcAft>
                <a:spcPts val="50"/>
              </a:spcAft>
            </a:pPr>
            <a:r>
              <a:rPr lang="en-US" b="1" dirty="0"/>
              <a:t>document.write(“Student: “ + Student.name + “&lt;br&gt;”); </a:t>
            </a:r>
          </a:p>
          <a:p>
            <a:pPr>
              <a:spcBef>
                <a:spcPts val="50"/>
              </a:spcBef>
              <a:spcAft>
                <a:spcPts val="50"/>
              </a:spcAft>
            </a:pPr>
            <a:r>
              <a:rPr lang="en-US" b="1" dirty="0"/>
              <a:t>document.write(“Age: “ + Student.age + “&lt;br&gt;”); </a:t>
            </a:r>
          </a:p>
          <a:p>
            <a:pPr>
              <a:spcBef>
                <a:spcPts val="50"/>
              </a:spcBef>
              <a:spcAft>
                <a:spcPts val="50"/>
              </a:spcAft>
            </a:pPr>
            <a:r>
              <a:rPr lang="en-US" b="1" dirty="0"/>
              <a:t>document.write(“Department: “ + Student.department + “&lt;br&gt;”); </a:t>
            </a:r>
          </a:p>
          <a:p>
            <a:pPr>
              <a:spcBef>
                <a:spcPts val="50"/>
              </a:spcBef>
              <a:spcAft>
                <a:spcPts val="50"/>
              </a:spcAft>
            </a:pPr>
            <a:endParaRPr lang="en-US" b="1" dirty="0"/>
          </a:p>
          <a:p>
            <a:pPr>
              <a:spcBef>
                <a:spcPts val="50"/>
              </a:spcBef>
              <a:spcAft>
                <a:spcPts val="50"/>
              </a:spcAft>
            </a:pPr>
            <a:r>
              <a:rPr lang="en-US" b="1" dirty="0"/>
              <a:t>Therefore,</a:t>
            </a:r>
            <a:r>
              <a:rPr lang="en-US" dirty="0"/>
              <a:t> we will use </a:t>
            </a:r>
            <a:r>
              <a:rPr lang="en-US" b="1" dirty="0"/>
              <a:t>console.log() </a:t>
            </a:r>
            <a:r>
              <a:rPr lang="en-US" dirty="0"/>
              <a:t>because it knows how to display objects in a readable formats. When we use </a:t>
            </a:r>
            <a:r>
              <a:rPr lang="en-US" b="1" dirty="0"/>
              <a:t>console.log(Student); </a:t>
            </a:r>
            <a:r>
              <a:rPr lang="en-US" dirty="0"/>
              <a:t>it will display the text on console in alphabetical order. </a:t>
            </a:r>
          </a:p>
          <a:p>
            <a:pPr>
              <a:spcBef>
                <a:spcPts val="50"/>
              </a:spcBef>
              <a:spcAft>
                <a:spcPts val="50"/>
              </a:spcAft>
            </a:pPr>
            <a:endParaRPr lang="en-US" b="1" dirty="0"/>
          </a:p>
          <a:p>
            <a:pPr>
              <a:spcBef>
                <a:spcPts val="50"/>
              </a:spcBef>
              <a:spcAft>
                <a:spcPts val="50"/>
              </a:spcAft>
            </a:pPr>
            <a:r>
              <a:rPr lang="en-US" b="1" dirty="0"/>
              <a:t>Why in alphabetical? </a:t>
            </a:r>
            <a:r>
              <a:rPr lang="en-US" dirty="0"/>
              <a:t>It is because of </a:t>
            </a:r>
            <a:r>
              <a:rPr lang="en-US" b="1" u="sng" dirty="0"/>
              <a:t>Chrome DevTools </a:t>
            </a:r>
            <a:r>
              <a:rPr lang="en-US" dirty="0"/>
              <a:t>that displays properties in a convenient way for inspection.</a:t>
            </a:r>
            <a:endParaRPr lang="en-US" b="1" dirty="0"/>
          </a:p>
        </p:txBody>
      </p:sp>
    </p:spTree>
    <p:extLst>
      <p:ext uri="{BB962C8B-B14F-4D97-AF65-F5344CB8AC3E}">
        <p14:creationId xmlns:p14="http://schemas.microsoft.com/office/powerpoint/2010/main" val="1351973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A30A0-A2DA-968F-F18A-FFBD21A8AC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3E4A19-73E4-DD99-9940-534CC2AB1873}"/>
              </a:ext>
            </a:extLst>
          </p:cNvPr>
          <p:cNvSpPr txBox="1"/>
          <p:nvPr/>
        </p:nvSpPr>
        <p:spPr>
          <a:xfrm>
            <a:off x="816077" y="501445"/>
            <a:ext cx="8180439" cy="2146742"/>
          </a:xfrm>
          <a:prstGeom prst="rect">
            <a:avLst/>
          </a:prstGeom>
          <a:noFill/>
        </p:spPr>
        <p:txBody>
          <a:bodyPr wrap="square" rtlCol="0">
            <a:spAutoFit/>
          </a:bodyPr>
          <a:lstStyle/>
          <a:p>
            <a:pPr marL="285750" indent="-285750">
              <a:spcBef>
                <a:spcPts val="50"/>
              </a:spcBef>
              <a:spcAft>
                <a:spcPts val="200"/>
              </a:spcAft>
              <a:buFont typeface="Wingdings" panose="05000000000000000000" pitchFamily="2" charset="2"/>
              <a:buChar char="ü"/>
            </a:pPr>
            <a:r>
              <a:rPr lang="en-US" b="1" dirty="0">
                <a:solidFill>
                  <a:schemeClr val="accent2"/>
                </a:solidFill>
              </a:rPr>
              <a:t>WHY DO WE USE OBJECTS?</a:t>
            </a:r>
          </a:p>
          <a:p>
            <a:pPr>
              <a:spcBef>
                <a:spcPts val="50"/>
              </a:spcBef>
              <a:spcAft>
                <a:spcPts val="200"/>
              </a:spcAft>
            </a:pPr>
            <a:r>
              <a:rPr lang="en-US" dirty="0"/>
              <a:t>The Objects help us store different pieces of related information in one place instead of creating multiple separate variables. Instead of creating separate variables for name, marks, and department, all information is stored inside one object, making the code easier to read and manage.</a:t>
            </a:r>
          </a:p>
          <a:p>
            <a:pPr>
              <a:spcBef>
                <a:spcPts val="50"/>
              </a:spcBef>
              <a:spcAft>
                <a:spcPts val="200"/>
              </a:spcAft>
            </a:pPr>
            <a:endParaRPr lang="en-US" dirty="0"/>
          </a:p>
          <a:p>
            <a:pPr algn="ctr">
              <a:spcBef>
                <a:spcPts val="50"/>
              </a:spcBef>
              <a:spcAft>
                <a:spcPts val="200"/>
              </a:spcAft>
            </a:pPr>
            <a:r>
              <a:rPr lang="en-US" b="1" u="sng" dirty="0">
                <a:solidFill>
                  <a:schemeClr val="accent2"/>
                </a:solidFill>
              </a:rPr>
              <a:t>ARRAY IN AN OBJECT</a:t>
            </a:r>
          </a:p>
        </p:txBody>
      </p:sp>
      <p:pic>
        <p:nvPicPr>
          <p:cNvPr id="7" name="Picture 6">
            <a:extLst>
              <a:ext uri="{FF2B5EF4-FFF2-40B4-BE49-F238E27FC236}">
                <a16:creationId xmlns:a16="http://schemas.microsoft.com/office/drawing/2014/main" id="{D649D579-F127-9800-BF5F-EC3F94835EA3}"/>
              </a:ext>
            </a:extLst>
          </p:cNvPr>
          <p:cNvPicPr>
            <a:picLocks noChangeAspect="1"/>
          </p:cNvPicPr>
          <p:nvPr/>
        </p:nvPicPr>
        <p:blipFill>
          <a:blip r:embed="rId2"/>
          <a:srcRect r="2168"/>
          <a:stretch>
            <a:fillRect/>
          </a:stretch>
        </p:blipFill>
        <p:spPr>
          <a:xfrm>
            <a:off x="979656" y="2913219"/>
            <a:ext cx="7426925" cy="2366704"/>
          </a:xfrm>
          <a:prstGeom prst="rect">
            <a:avLst/>
          </a:prstGeom>
        </p:spPr>
      </p:pic>
      <p:pic>
        <p:nvPicPr>
          <p:cNvPr id="11" name="Picture 10">
            <a:extLst>
              <a:ext uri="{FF2B5EF4-FFF2-40B4-BE49-F238E27FC236}">
                <a16:creationId xmlns:a16="http://schemas.microsoft.com/office/drawing/2014/main" id="{A5337863-9B3D-2934-0FD3-98D7A616D1C8}"/>
              </a:ext>
            </a:extLst>
          </p:cNvPr>
          <p:cNvPicPr>
            <a:picLocks noChangeAspect="1"/>
          </p:cNvPicPr>
          <p:nvPr/>
        </p:nvPicPr>
        <p:blipFill>
          <a:blip r:embed="rId3"/>
          <a:stretch>
            <a:fillRect/>
          </a:stretch>
        </p:blipFill>
        <p:spPr>
          <a:xfrm>
            <a:off x="3087329" y="5434455"/>
            <a:ext cx="3665538" cy="922100"/>
          </a:xfrm>
          <a:prstGeom prst="rect">
            <a:avLst/>
          </a:prstGeom>
        </p:spPr>
      </p:pic>
      <p:sp>
        <p:nvSpPr>
          <p:cNvPr id="14" name="TextBox 13">
            <a:extLst>
              <a:ext uri="{FF2B5EF4-FFF2-40B4-BE49-F238E27FC236}">
                <a16:creationId xmlns:a16="http://schemas.microsoft.com/office/drawing/2014/main" id="{BE1C09E2-545F-75E3-B039-EF16B7CF3D27}"/>
              </a:ext>
            </a:extLst>
          </p:cNvPr>
          <p:cNvSpPr txBox="1"/>
          <p:nvPr/>
        </p:nvSpPr>
        <p:spPr>
          <a:xfrm>
            <a:off x="1209369" y="5710839"/>
            <a:ext cx="1966451" cy="369332"/>
          </a:xfrm>
          <a:prstGeom prst="rect">
            <a:avLst/>
          </a:prstGeom>
          <a:noFill/>
        </p:spPr>
        <p:txBody>
          <a:bodyPr wrap="square" rtlCol="0">
            <a:spAutoFit/>
          </a:bodyPr>
          <a:lstStyle/>
          <a:p>
            <a:pPr>
              <a:spcBef>
                <a:spcPts val="50"/>
              </a:spcBef>
              <a:spcAft>
                <a:spcPts val="200"/>
              </a:spcAft>
            </a:pPr>
            <a:r>
              <a:rPr lang="en-US" b="1" dirty="0"/>
              <a:t>OUTPUT: </a:t>
            </a:r>
          </a:p>
        </p:txBody>
      </p:sp>
    </p:spTree>
    <p:extLst>
      <p:ext uri="{BB962C8B-B14F-4D97-AF65-F5344CB8AC3E}">
        <p14:creationId xmlns:p14="http://schemas.microsoft.com/office/powerpoint/2010/main" val="95911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E3BB3-8DA7-DF34-02BF-A561982A26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335D55-4E3A-D128-3393-14A75FEEA17C}"/>
              </a:ext>
            </a:extLst>
          </p:cNvPr>
          <p:cNvSpPr txBox="1"/>
          <p:nvPr/>
        </p:nvSpPr>
        <p:spPr>
          <a:xfrm>
            <a:off x="816077" y="501445"/>
            <a:ext cx="8180439" cy="2546851"/>
          </a:xfrm>
          <a:prstGeom prst="rect">
            <a:avLst/>
          </a:prstGeom>
          <a:noFill/>
        </p:spPr>
        <p:txBody>
          <a:bodyPr wrap="square" rtlCol="0">
            <a:spAutoFit/>
          </a:bodyPr>
          <a:lstStyle/>
          <a:p>
            <a:pPr>
              <a:spcBef>
                <a:spcPts val="50"/>
              </a:spcBef>
              <a:spcAft>
                <a:spcPts val="200"/>
              </a:spcAft>
            </a:pPr>
            <a:r>
              <a:rPr lang="en-US" dirty="0"/>
              <a:t>Objects can store different types of data, including arrays. In this example, the </a:t>
            </a:r>
            <a:r>
              <a:rPr lang="en-US" b="1" dirty="0" err="1"/>
              <a:t>favCourse</a:t>
            </a:r>
            <a:r>
              <a:rPr lang="en-US" dirty="0"/>
              <a:t> property contains an array of course names. We can display the complete array or access a specific course using its index number. Here, </a:t>
            </a:r>
            <a:r>
              <a:rPr lang="en-US" dirty="0" err="1"/>
              <a:t>student.favCourse</a:t>
            </a:r>
            <a:r>
              <a:rPr lang="en-US" dirty="0"/>
              <a:t>[2] returns </a:t>
            </a:r>
            <a:r>
              <a:rPr lang="en-US" b="1" dirty="0"/>
              <a:t>AI</a:t>
            </a:r>
            <a:r>
              <a:rPr lang="en-US" dirty="0"/>
              <a:t>, which is the third course in the array.</a:t>
            </a:r>
          </a:p>
          <a:p>
            <a:pPr>
              <a:spcBef>
                <a:spcPts val="50"/>
              </a:spcBef>
              <a:spcAft>
                <a:spcPts val="200"/>
              </a:spcAft>
            </a:pPr>
            <a:endParaRPr lang="en-US" b="1" u="sng" dirty="0">
              <a:solidFill>
                <a:schemeClr val="accent2"/>
              </a:solidFill>
            </a:endParaRPr>
          </a:p>
          <a:p>
            <a:pPr algn="ctr">
              <a:spcBef>
                <a:spcPts val="50"/>
              </a:spcBef>
              <a:spcAft>
                <a:spcPts val="200"/>
              </a:spcAft>
            </a:pPr>
            <a:r>
              <a:rPr lang="en-US" b="1" u="sng" dirty="0">
                <a:solidFill>
                  <a:schemeClr val="accent2"/>
                </a:solidFill>
              </a:rPr>
              <a:t>FUNCTION INSIDE AN OBJECT (OBJECT METHOD)</a:t>
            </a:r>
          </a:p>
          <a:p>
            <a:pPr algn="ctr">
              <a:spcBef>
                <a:spcPts val="50"/>
              </a:spcBef>
              <a:spcAft>
                <a:spcPts val="200"/>
              </a:spcAft>
            </a:pPr>
            <a:endParaRPr lang="en-US" sz="300" b="1" u="sng" dirty="0">
              <a:solidFill>
                <a:schemeClr val="accent2"/>
              </a:solidFill>
            </a:endParaRPr>
          </a:p>
          <a:p>
            <a:pPr>
              <a:spcBef>
                <a:spcPts val="50"/>
              </a:spcBef>
              <a:spcAft>
                <a:spcPts val="200"/>
              </a:spcAft>
            </a:pPr>
            <a:r>
              <a:rPr lang="en-US" dirty="0"/>
              <a:t>A function created inside an object is called a Method or Object Method.</a:t>
            </a:r>
          </a:p>
          <a:p>
            <a:pPr>
              <a:spcBef>
                <a:spcPts val="50"/>
              </a:spcBef>
              <a:spcAft>
                <a:spcPts val="200"/>
              </a:spcAft>
            </a:pPr>
            <a:endParaRPr lang="en-US" dirty="0"/>
          </a:p>
        </p:txBody>
      </p:sp>
      <p:pic>
        <p:nvPicPr>
          <p:cNvPr id="6" name="Picture 5">
            <a:extLst>
              <a:ext uri="{FF2B5EF4-FFF2-40B4-BE49-F238E27FC236}">
                <a16:creationId xmlns:a16="http://schemas.microsoft.com/office/drawing/2014/main" id="{CF2D513D-C337-DCE7-B5E0-DF7627D97546}"/>
              </a:ext>
            </a:extLst>
          </p:cNvPr>
          <p:cNvPicPr>
            <a:picLocks noChangeAspect="1"/>
          </p:cNvPicPr>
          <p:nvPr/>
        </p:nvPicPr>
        <p:blipFill>
          <a:blip r:embed="rId2"/>
          <a:stretch>
            <a:fillRect/>
          </a:stretch>
        </p:blipFill>
        <p:spPr>
          <a:xfrm>
            <a:off x="901612" y="2912100"/>
            <a:ext cx="6551240" cy="2364293"/>
          </a:xfrm>
          <a:prstGeom prst="rect">
            <a:avLst/>
          </a:prstGeom>
        </p:spPr>
      </p:pic>
      <p:pic>
        <p:nvPicPr>
          <p:cNvPr id="9" name="Picture 8">
            <a:extLst>
              <a:ext uri="{FF2B5EF4-FFF2-40B4-BE49-F238E27FC236}">
                <a16:creationId xmlns:a16="http://schemas.microsoft.com/office/drawing/2014/main" id="{D101A88F-CDAE-7E18-284C-9AC1D15552A3}"/>
              </a:ext>
            </a:extLst>
          </p:cNvPr>
          <p:cNvPicPr>
            <a:picLocks noChangeAspect="1"/>
          </p:cNvPicPr>
          <p:nvPr/>
        </p:nvPicPr>
        <p:blipFill>
          <a:blip r:embed="rId3"/>
          <a:stretch>
            <a:fillRect/>
          </a:stretch>
        </p:blipFill>
        <p:spPr>
          <a:xfrm>
            <a:off x="2998839" y="5458951"/>
            <a:ext cx="2821858" cy="837455"/>
          </a:xfrm>
          <a:prstGeom prst="rect">
            <a:avLst/>
          </a:prstGeom>
        </p:spPr>
      </p:pic>
      <p:sp>
        <p:nvSpPr>
          <p:cNvPr id="12" name="TextBox 11">
            <a:extLst>
              <a:ext uri="{FF2B5EF4-FFF2-40B4-BE49-F238E27FC236}">
                <a16:creationId xmlns:a16="http://schemas.microsoft.com/office/drawing/2014/main" id="{13416CF1-3507-BA65-82DC-FDF2A205DA0B}"/>
              </a:ext>
            </a:extLst>
          </p:cNvPr>
          <p:cNvSpPr txBox="1"/>
          <p:nvPr/>
        </p:nvSpPr>
        <p:spPr>
          <a:xfrm>
            <a:off x="1170040" y="5611784"/>
            <a:ext cx="1966451" cy="369332"/>
          </a:xfrm>
          <a:prstGeom prst="rect">
            <a:avLst/>
          </a:prstGeom>
          <a:noFill/>
        </p:spPr>
        <p:txBody>
          <a:bodyPr wrap="square" rtlCol="0">
            <a:spAutoFit/>
          </a:bodyPr>
          <a:lstStyle/>
          <a:p>
            <a:pPr>
              <a:spcBef>
                <a:spcPts val="50"/>
              </a:spcBef>
              <a:spcAft>
                <a:spcPts val="200"/>
              </a:spcAft>
            </a:pPr>
            <a:r>
              <a:rPr lang="en-US" b="1" dirty="0"/>
              <a:t>OUTPUT: </a:t>
            </a:r>
          </a:p>
        </p:txBody>
      </p:sp>
    </p:spTree>
    <p:extLst>
      <p:ext uri="{BB962C8B-B14F-4D97-AF65-F5344CB8AC3E}">
        <p14:creationId xmlns:p14="http://schemas.microsoft.com/office/powerpoint/2010/main" val="1390401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75CE0-4D33-2E46-51B3-295D3E3A80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84149D-E270-A7E4-A39C-E2604F93F821}"/>
              </a:ext>
            </a:extLst>
          </p:cNvPr>
          <p:cNvSpPr txBox="1"/>
          <p:nvPr/>
        </p:nvSpPr>
        <p:spPr>
          <a:xfrm>
            <a:off x="816077" y="501445"/>
            <a:ext cx="8180439" cy="2262158"/>
          </a:xfrm>
          <a:prstGeom prst="rect">
            <a:avLst/>
          </a:prstGeom>
          <a:noFill/>
        </p:spPr>
        <p:txBody>
          <a:bodyPr wrap="square" rtlCol="0">
            <a:spAutoFit/>
          </a:bodyPr>
          <a:lstStyle/>
          <a:p>
            <a:pPr>
              <a:spcBef>
                <a:spcPts val="50"/>
              </a:spcBef>
              <a:spcAft>
                <a:spcPts val="200"/>
              </a:spcAft>
            </a:pPr>
            <a:r>
              <a:rPr lang="en-US" dirty="0"/>
              <a:t>Objects can also contain functions, which are known as </a:t>
            </a:r>
            <a:r>
              <a:rPr lang="en-US" b="1" dirty="0"/>
              <a:t>methods</a:t>
            </a:r>
            <a:r>
              <a:rPr lang="en-US" dirty="0"/>
              <a:t>. These methods perform tasks related to that object. In this example, the </a:t>
            </a:r>
            <a:r>
              <a:rPr lang="en-US" b="1" dirty="0"/>
              <a:t>salary()</a:t>
            </a:r>
            <a:r>
              <a:rPr lang="en-US" dirty="0"/>
              <a:t> method returns the value </a:t>
            </a:r>
            <a:r>
              <a:rPr lang="en-US" b="1" dirty="0"/>
              <a:t>25000</a:t>
            </a:r>
            <a:r>
              <a:rPr lang="en-US" dirty="0"/>
              <a:t> whenever it is called. Methods allow objects to store both data and the actions that can be performed on that data.</a:t>
            </a:r>
          </a:p>
          <a:p>
            <a:pPr>
              <a:spcBef>
                <a:spcPts val="50"/>
              </a:spcBef>
              <a:spcAft>
                <a:spcPts val="200"/>
              </a:spcAft>
            </a:pPr>
            <a:endParaRPr lang="en-US" b="1" u="sng" dirty="0">
              <a:solidFill>
                <a:schemeClr val="accent2"/>
              </a:solidFill>
            </a:endParaRPr>
          </a:p>
          <a:p>
            <a:pPr algn="ctr">
              <a:spcBef>
                <a:spcPts val="50"/>
              </a:spcBef>
              <a:spcAft>
                <a:spcPts val="200"/>
              </a:spcAft>
            </a:pPr>
            <a:r>
              <a:rPr lang="en-US" b="1" u="sng" dirty="0">
                <a:solidFill>
                  <a:schemeClr val="accent2"/>
                </a:solidFill>
              </a:rPr>
              <a:t>THE ‘this' KEYWORD</a:t>
            </a:r>
          </a:p>
          <a:p>
            <a:pPr algn="ctr">
              <a:spcBef>
                <a:spcPts val="50"/>
              </a:spcBef>
              <a:spcAft>
                <a:spcPts val="200"/>
              </a:spcAft>
            </a:pPr>
            <a:endParaRPr lang="en-US" sz="300" b="1" u="sng" dirty="0">
              <a:solidFill>
                <a:schemeClr val="accent2"/>
              </a:solidFill>
            </a:endParaRPr>
          </a:p>
          <a:p>
            <a:pPr>
              <a:spcBef>
                <a:spcPts val="50"/>
              </a:spcBef>
              <a:spcAft>
                <a:spcPts val="200"/>
              </a:spcAft>
            </a:pPr>
            <a:r>
              <a:rPr lang="en-US" dirty="0"/>
              <a:t>The </a:t>
            </a:r>
            <a:r>
              <a:rPr lang="en-US" b="1" dirty="0"/>
              <a:t>this</a:t>
            </a:r>
            <a:r>
              <a:rPr lang="en-US" dirty="0"/>
              <a:t> keyword refers to the current object.</a:t>
            </a:r>
          </a:p>
        </p:txBody>
      </p:sp>
      <p:pic>
        <p:nvPicPr>
          <p:cNvPr id="3" name="Picture 2">
            <a:extLst>
              <a:ext uri="{FF2B5EF4-FFF2-40B4-BE49-F238E27FC236}">
                <a16:creationId xmlns:a16="http://schemas.microsoft.com/office/drawing/2014/main" id="{591E9FBC-F7C7-BC64-540E-ABD9E4EAF4A2}"/>
              </a:ext>
            </a:extLst>
          </p:cNvPr>
          <p:cNvPicPr>
            <a:picLocks noChangeAspect="1"/>
          </p:cNvPicPr>
          <p:nvPr/>
        </p:nvPicPr>
        <p:blipFill>
          <a:blip r:embed="rId2"/>
          <a:stretch>
            <a:fillRect/>
          </a:stretch>
        </p:blipFill>
        <p:spPr>
          <a:xfrm>
            <a:off x="901612" y="2872349"/>
            <a:ext cx="6547468" cy="3144992"/>
          </a:xfrm>
          <a:prstGeom prst="rect">
            <a:avLst/>
          </a:prstGeom>
        </p:spPr>
      </p:pic>
    </p:spTree>
    <p:extLst>
      <p:ext uri="{BB962C8B-B14F-4D97-AF65-F5344CB8AC3E}">
        <p14:creationId xmlns:p14="http://schemas.microsoft.com/office/powerpoint/2010/main" val="283193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A1898-4C47-5CCA-A785-673EF20149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DE9F03-77B9-619D-F34D-CC4DF867AE5C}"/>
              </a:ext>
            </a:extLst>
          </p:cNvPr>
          <p:cNvSpPr txBox="1"/>
          <p:nvPr/>
        </p:nvSpPr>
        <p:spPr>
          <a:xfrm>
            <a:off x="816077" y="501445"/>
            <a:ext cx="8180439" cy="4285789"/>
          </a:xfrm>
          <a:prstGeom prst="rect">
            <a:avLst/>
          </a:prstGeom>
          <a:noFill/>
        </p:spPr>
        <p:txBody>
          <a:bodyPr wrap="square" rtlCol="0">
            <a:spAutoFit/>
          </a:bodyPr>
          <a:lstStyle/>
          <a:p>
            <a:pPr>
              <a:spcBef>
                <a:spcPts val="50"/>
              </a:spcBef>
              <a:spcAft>
                <a:spcPts val="200"/>
              </a:spcAft>
            </a:pPr>
            <a:r>
              <a:rPr lang="en-US" dirty="0"/>
              <a:t>The </a:t>
            </a:r>
            <a:r>
              <a:rPr lang="en-US" b="1" dirty="0"/>
              <a:t>this</a:t>
            </a:r>
            <a:r>
              <a:rPr lang="en-US" dirty="0"/>
              <a:t> keyword is used to access the properties of the current object. In this example, </a:t>
            </a:r>
            <a:r>
              <a:rPr lang="en-US" b="1" dirty="0"/>
              <a:t>this.name </a:t>
            </a:r>
            <a:r>
              <a:rPr lang="en-US" dirty="0"/>
              <a:t>refers to the student's name, and </a:t>
            </a:r>
            <a:r>
              <a:rPr lang="en-US" b="1" dirty="0" err="1"/>
              <a:t>this.department</a:t>
            </a:r>
            <a:r>
              <a:rPr lang="en-US" b="1" dirty="0"/>
              <a:t> </a:t>
            </a:r>
            <a:r>
              <a:rPr lang="en-US" dirty="0"/>
              <a:t>refers to the student's department. The </a:t>
            </a:r>
            <a:r>
              <a:rPr lang="en-US" b="1" dirty="0"/>
              <a:t>details()</a:t>
            </a:r>
            <a:r>
              <a:rPr lang="en-US" dirty="0"/>
              <a:t> method combines both values and returns them as a single string.</a:t>
            </a:r>
          </a:p>
          <a:p>
            <a:pPr>
              <a:spcBef>
                <a:spcPts val="50"/>
              </a:spcBef>
              <a:spcAft>
                <a:spcPts val="200"/>
              </a:spcAft>
            </a:pPr>
            <a:endParaRPr lang="en-US" b="1" u="sng" dirty="0">
              <a:solidFill>
                <a:schemeClr val="accent2"/>
              </a:solidFill>
            </a:endParaRPr>
          </a:p>
          <a:p>
            <a:pPr algn="ctr">
              <a:spcBef>
                <a:spcPts val="50"/>
              </a:spcBef>
              <a:spcAft>
                <a:spcPts val="200"/>
              </a:spcAft>
            </a:pPr>
            <a:br>
              <a:rPr lang="en-US" b="1" u="sng" dirty="0">
                <a:solidFill>
                  <a:schemeClr val="accent2"/>
                </a:solidFill>
              </a:rPr>
            </a:b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r>
              <a:rPr lang="en-US" b="1" u="sng" dirty="0">
                <a:solidFill>
                  <a:schemeClr val="accent2"/>
                </a:solidFill>
              </a:rPr>
              <a:t>NESTED OBJECTS (OBJECT INSIDE OBJECT)</a:t>
            </a:r>
          </a:p>
          <a:p>
            <a:pPr algn="ctr">
              <a:spcBef>
                <a:spcPts val="50"/>
              </a:spcBef>
              <a:spcAft>
                <a:spcPts val="200"/>
              </a:spcAft>
            </a:pPr>
            <a:endParaRPr lang="en-US" sz="300" b="1" u="sng" dirty="0">
              <a:solidFill>
                <a:schemeClr val="accent2"/>
              </a:solidFill>
            </a:endParaRPr>
          </a:p>
          <a:p>
            <a:pPr>
              <a:spcBef>
                <a:spcPts val="50"/>
              </a:spcBef>
              <a:spcAft>
                <a:spcPts val="200"/>
              </a:spcAft>
            </a:pPr>
            <a:r>
              <a:rPr lang="en-US" dirty="0"/>
              <a:t>Objects can contain other objects to organize related information. This is called a </a:t>
            </a:r>
            <a:r>
              <a:rPr lang="en-US" b="1" dirty="0"/>
              <a:t>nested object</a:t>
            </a:r>
            <a:r>
              <a:rPr lang="en-US" dirty="0"/>
              <a:t>. In this example, the </a:t>
            </a:r>
            <a:r>
              <a:rPr lang="en-US" b="1" dirty="0"/>
              <a:t>living</a:t>
            </a:r>
            <a:r>
              <a:rPr lang="en-US" dirty="0"/>
              <a:t> object stores the student's city and country. We use </a:t>
            </a:r>
            <a:r>
              <a:rPr lang="en-US" b="1" dirty="0" err="1"/>
              <a:t>student.living.country</a:t>
            </a:r>
            <a:r>
              <a:rPr lang="en-US" b="1" dirty="0"/>
              <a:t> </a:t>
            </a:r>
            <a:r>
              <a:rPr lang="en-US" dirty="0"/>
              <a:t>to access the country, which displays </a:t>
            </a:r>
            <a:r>
              <a:rPr lang="en-US" b="1" dirty="0"/>
              <a:t>Pakistan</a:t>
            </a:r>
            <a:r>
              <a:rPr lang="en-US" dirty="0"/>
              <a:t>.</a:t>
            </a:r>
          </a:p>
          <a:p>
            <a:pPr>
              <a:spcBef>
                <a:spcPts val="50"/>
              </a:spcBef>
              <a:spcAft>
                <a:spcPts val="200"/>
              </a:spcAft>
            </a:pPr>
            <a:endParaRPr lang="en-US" dirty="0"/>
          </a:p>
        </p:txBody>
      </p:sp>
      <p:pic>
        <p:nvPicPr>
          <p:cNvPr id="5" name="Picture 4">
            <a:extLst>
              <a:ext uri="{FF2B5EF4-FFF2-40B4-BE49-F238E27FC236}">
                <a16:creationId xmlns:a16="http://schemas.microsoft.com/office/drawing/2014/main" id="{7C0B3FC1-D5F2-0ADC-92F6-E06AE0226EA9}"/>
              </a:ext>
            </a:extLst>
          </p:cNvPr>
          <p:cNvPicPr>
            <a:picLocks noChangeAspect="1"/>
          </p:cNvPicPr>
          <p:nvPr/>
        </p:nvPicPr>
        <p:blipFill>
          <a:blip r:embed="rId2"/>
          <a:stretch>
            <a:fillRect/>
          </a:stretch>
        </p:blipFill>
        <p:spPr>
          <a:xfrm>
            <a:off x="904222" y="1780351"/>
            <a:ext cx="2886180" cy="707210"/>
          </a:xfrm>
          <a:prstGeom prst="rect">
            <a:avLst/>
          </a:prstGeom>
        </p:spPr>
      </p:pic>
    </p:spTree>
    <p:extLst>
      <p:ext uri="{BB962C8B-B14F-4D97-AF65-F5344CB8AC3E}">
        <p14:creationId xmlns:p14="http://schemas.microsoft.com/office/powerpoint/2010/main" val="1154875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9F9F5-7106-40DB-A9C5-7D3D9208DCF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E028E16-10D5-5D0A-51D5-0B42A0D3C997}"/>
              </a:ext>
            </a:extLst>
          </p:cNvPr>
          <p:cNvPicPr>
            <a:picLocks noChangeAspect="1"/>
          </p:cNvPicPr>
          <p:nvPr/>
        </p:nvPicPr>
        <p:blipFill>
          <a:blip r:embed="rId2"/>
          <a:stretch>
            <a:fillRect/>
          </a:stretch>
        </p:blipFill>
        <p:spPr>
          <a:xfrm>
            <a:off x="806245" y="580103"/>
            <a:ext cx="6912078" cy="4185648"/>
          </a:xfrm>
          <a:prstGeom prst="rect">
            <a:avLst/>
          </a:prstGeom>
        </p:spPr>
      </p:pic>
      <p:pic>
        <p:nvPicPr>
          <p:cNvPr id="7" name="Picture 6">
            <a:extLst>
              <a:ext uri="{FF2B5EF4-FFF2-40B4-BE49-F238E27FC236}">
                <a16:creationId xmlns:a16="http://schemas.microsoft.com/office/drawing/2014/main" id="{E37DBF77-ACAC-C23C-0BFB-1DC276CE42A0}"/>
              </a:ext>
            </a:extLst>
          </p:cNvPr>
          <p:cNvPicPr>
            <a:picLocks noChangeAspect="1"/>
          </p:cNvPicPr>
          <p:nvPr/>
        </p:nvPicPr>
        <p:blipFill>
          <a:blip r:embed="rId3"/>
          <a:stretch>
            <a:fillRect/>
          </a:stretch>
        </p:blipFill>
        <p:spPr>
          <a:xfrm>
            <a:off x="2595716" y="5149991"/>
            <a:ext cx="2467897" cy="761977"/>
          </a:xfrm>
          <a:prstGeom prst="rect">
            <a:avLst/>
          </a:prstGeom>
        </p:spPr>
      </p:pic>
      <p:sp>
        <p:nvSpPr>
          <p:cNvPr id="9" name="TextBox 8">
            <a:extLst>
              <a:ext uri="{FF2B5EF4-FFF2-40B4-BE49-F238E27FC236}">
                <a16:creationId xmlns:a16="http://schemas.microsoft.com/office/drawing/2014/main" id="{A130A19E-20A5-7721-89F9-D9E6818575BF}"/>
              </a:ext>
            </a:extLst>
          </p:cNvPr>
          <p:cNvSpPr txBox="1"/>
          <p:nvPr/>
        </p:nvSpPr>
        <p:spPr>
          <a:xfrm>
            <a:off x="1120878" y="5346313"/>
            <a:ext cx="1966451" cy="369332"/>
          </a:xfrm>
          <a:prstGeom prst="rect">
            <a:avLst/>
          </a:prstGeom>
          <a:noFill/>
        </p:spPr>
        <p:txBody>
          <a:bodyPr wrap="square" rtlCol="0">
            <a:spAutoFit/>
          </a:bodyPr>
          <a:lstStyle/>
          <a:p>
            <a:pPr>
              <a:spcBef>
                <a:spcPts val="50"/>
              </a:spcBef>
              <a:spcAft>
                <a:spcPts val="200"/>
              </a:spcAft>
            </a:pPr>
            <a:r>
              <a:rPr lang="en-US" b="1" dirty="0"/>
              <a:t>OUTPUT: </a:t>
            </a:r>
          </a:p>
        </p:txBody>
      </p:sp>
    </p:spTree>
    <p:extLst>
      <p:ext uri="{BB962C8B-B14F-4D97-AF65-F5344CB8AC3E}">
        <p14:creationId xmlns:p14="http://schemas.microsoft.com/office/powerpoint/2010/main" val="3705749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B14B1-F597-A3D8-2690-1E2C5BC878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EAEAB51-C626-F633-BD13-EAFBDB3CCCB9}"/>
              </a:ext>
            </a:extLst>
          </p:cNvPr>
          <p:cNvSpPr txBox="1"/>
          <p:nvPr/>
        </p:nvSpPr>
        <p:spPr>
          <a:xfrm>
            <a:off x="816077" y="707922"/>
            <a:ext cx="8180439" cy="5047536"/>
          </a:xfrm>
          <a:prstGeom prst="rect">
            <a:avLst/>
          </a:prstGeom>
          <a:noFill/>
        </p:spPr>
        <p:txBody>
          <a:bodyPr wrap="square" rtlCol="0">
            <a:spAutoFit/>
          </a:bodyPr>
          <a:lstStyle/>
          <a:p>
            <a:pPr algn="ctr">
              <a:spcBef>
                <a:spcPts val="50"/>
              </a:spcBef>
              <a:spcAft>
                <a:spcPts val="200"/>
              </a:spcAft>
            </a:pPr>
            <a:r>
              <a:rPr lang="en-US" b="1" u="sng" dirty="0">
                <a:solidFill>
                  <a:schemeClr val="accent2"/>
                </a:solidFill>
              </a:rPr>
              <a:t>BUILT-IN OBJECT CONSTRUCTOR (NEW OBJECT()</a:t>
            </a:r>
          </a:p>
          <a:p>
            <a:pPr algn="ctr">
              <a:spcBef>
                <a:spcPts val="50"/>
              </a:spcBef>
              <a:spcAft>
                <a:spcPts val="200"/>
              </a:spcAft>
            </a:pPr>
            <a:endParaRPr lang="en-US" sz="600" b="1" u="sng" dirty="0">
              <a:solidFill>
                <a:schemeClr val="accent2"/>
              </a:solidFill>
            </a:endParaRPr>
          </a:p>
          <a:p>
            <a:pPr>
              <a:spcBef>
                <a:spcPts val="50"/>
              </a:spcBef>
              <a:spcAft>
                <a:spcPts val="200"/>
              </a:spcAft>
            </a:pPr>
            <a:r>
              <a:rPr lang="en-US" dirty="0"/>
              <a:t>The </a:t>
            </a:r>
            <a:r>
              <a:rPr lang="en-US" b="1" dirty="0"/>
              <a:t>new Object()</a:t>
            </a:r>
            <a:r>
              <a:rPr lang="en-US" dirty="0"/>
              <a:t> constructor is JavaScript's built-in method for creating an empty object.</a:t>
            </a:r>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r>
              <a:rPr lang="en-US" dirty="0"/>
              <a:t>The </a:t>
            </a:r>
            <a:r>
              <a:rPr lang="en-US" b="1" dirty="0"/>
              <a:t>new Object()</a:t>
            </a:r>
            <a:r>
              <a:rPr lang="en-US" dirty="0"/>
              <a:t> constructor first creates an empty object. After creating it, we add properties one by one. This approach is suitable when creating a single object, but it becomes repetitive if we need many objects with the same structure.</a:t>
            </a:r>
          </a:p>
          <a:p>
            <a:pPr>
              <a:spcBef>
                <a:spcPts val="50"/>
              </a:spcBef>
              <a:spcAft>
                <a:spcPts val="200"/>
              </a:spcAft>
            </a:pPr>
            <a:endParaRPr lang="en-US" dirty="0"/>
          </a:p>
          <a:p>
            <a:pPr>
              <a:spcBef>
                <a:spcPts val="50"/>
              </a:spcBef>
              <a:spcAft>
                <a:spcPts val="200"/>
              </a:spcAft>
            </a:pPr>
            <a:endParaRPr lang="en-US" dirty="0"/>
          </a:p>
        </p:txBody>
      </p:sp>
      <p:pic>
        <p:nvPicPr>
          <p:cNvPr id="3" name="Picture 2">
            <a:extLst>
              <a:ext uri="{FF2B5EF4-FFF2-40B4-BE49-F238E27FC236}">
                <a16:creationId xmlns:a16="http://schemas.microsoft.com/office/drawing/2014/main" id="{716ADAF5-AB9A-4778-3C1D-5FECED246AAA}"/>
              </a:ext>
            </a:extLst>
          </p:cNvPr>
          <p:cNvPicPr>
            <a:picLocks noChangeAspect="1"/>
          </p:cNvPicPr>
          <p:nvPr/>
        </p:nvPicPr>
        <p:blipFill>
          <a:blip r:embed="rId2"/>
          <a:srcRect t="7348" b="7177"/>
          <a:stretch>
            <a:fillRect/>
          </a:stretch>
        </p:blipFill>
        <p:spPr>
          <a:xfrm>
            <a:off x="917757" y="1919892"/>
            <a:ext cx="6138813" cy="1833573"/>
          </a:xfrm>
          <a:prstGeom prst="rect">
            <a:avLst/>
          </a:prstGeom>
        </p:spPr>
      </p:pic>
    </p:spTree>
    <p:extLst>
      <p:ext uri="{BB962C8B-B14F-4D97-AF65-F5344CB8AC3E}">
        <p14:creationId xmlns:p14="http://schemas.microsoft.com/office/powerpoint/2010/main" val="3669673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9F6E-A71D-5B15-7812-196B42F2288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99DFB104-B909-49D7-6003-043B8A8B23C2}"/>
              </a:ext>
            </a:extLst>
          </p:cNvPr>
          <p:cNvGrpSpPr/>
          <p:nvPr/>
        </p:nvGrpSpPr>
        <p:grpSpPr>
          <a:xfrm>
            <a:off x="848932" y="945835"/>
            <a:ext cx="6523126" cy="2554449"/>
            <a:chOff x="927589" y="3669371"/>
            <a:chExt cx="6523126" cy="2554449"/>
          </a:xfrm>
        </p:grpSpPr>
        <p:pic>
          <p:nvPicPr>
            <p:cNvPr id="5" name="Picture 4">
              <a:extLst>
                <a:ext uri="{FF2B5EF4-FFF2-40B4-BE49-F238E27FC236}">
                  <a16:creationId xmlns:a16="http://schemas.microsoft.com/office/drawing/2014/main" id="{4AE30DC6-2096-31D2-D89A-6CB3FC800DE5}"/>
                </a:ext>
              </a:extLst>
            </p:cNvPr>
            <p:cNvPicPr>
              <a:picLocks noChangeAspect="1"/>
            </p:cNvPicPr>
            <p:nvPr/>
          </p:nvPicPr>
          <p:blipFill>
            <a:blip r:embed="rId2"/>
            <a:stretch>
              <a:fillRect/>
            </a:stretch>
          </p:blipFill>
          <p:spPr>
            <a:xfrm>
              <a:off x="927589" y="3669371"/>
              <a:ext cx="4124459" cy="2554449"/>
            </a:xfrm>
            <a:prstGeom prst="rect">
              <a:avLst/>
            </a:prstGeom>
          </p:spPr>
        </p:pic>
        <p:pic>
          <p:nvPicPr>
            <p:cNvPr id="8" name="Picture 7">
              <a:extLst>
                <a:ext uri="{FF2B5EF4-FFF2-40B4-BE49-F238E27FC236}">
                  <a16:creationId xmlns:a16="http://schemas.microsoft.com/office/drawing/2014/main" id="{3032D6BA-AEA2-3EDD-914D-0E3BFD6FFB00}"/>
                </a:ext>
              </a:extLst>
            </p:cNvPr>
            <p:cNvPicPr>
              <a:picLocks noChangeAspect="1"/>
            </p:cNvPicPr>
            <p:nvPr/>
          </p:nvPicPr>
          <p:blipFill>
            <a:blip r:embed="rId3"/>
            <a:stretch>
              <a:fillRect/>
            </a:stretch>
          </p:blipFill>
          <p:spPr>
            <a:xfrm>
              <a:off x="5326552" y="3738670"/>
              <a:ext cx="2124163" cy="675870"/>
            </a:xfrm>
            <a:prstGeom prst="rect">
              <a:avLst/>
            </a:prstGeom>
          </p:spPr>
        </p:pic>
      </p:grpSp>
      <p:sp>
        <p:nvSpPr>
          <p:cNvPr id="12" name="TextBox 11">
            <a:extLst>
              <a:ext uri="{FF2B5EF4-FFF2-40B4-BE49-F238E27FC236}">
                <a16:creationId xmlns:a16="http://schemas.microsoft.com/office/drawing/2014/main" id="{41C3ACD5-50B9-CF87-09CC-7AA1CBEDA989}"/>
              </a:ext>
            </a:extLst>
          </p:cNvPr>
          <p:cNvSpPr txBox="1"/>
          <p:nvPr/>
        </p:nvSpPr>
        <p:spPr>
          <a:xfrm>
            <a:off x="848931" y="3849331"/>
            <a:ext cx="7823121" cy="1200329"/>
          </a:xfrm>
          <a:prstGeom prst="rect">
            <a:avLst/>
          </a:prstGeom>
          <a:noFill/>
        </p:spPr>
        <p:txBody>
          <a:bodyPr wrap="square">
            <a:spAutoFit/>
          </a:bodyPr>
          <a:lstStyle/>
          <a:p>
            <a:pPr algn="ctr"/>
            <a:r>
              <a:rPr lang="en-US" b="1" u="sng" dirty="0">
                <a:solidFill>
                  <a:schemeClr val="accent2"/>
                </a:solidFill>
              </a:rPr>
              <a:t>USER-DEFINED OBJECT CONSTRUCTOR</a:t>
            </a:r>
          </a:p>
          <a:p>
            <a:endParaRPr lang="en-US" dirty="0"/>
          </a:p>
          <a:p>
            <a:r>
              <a:rPr lang="en-US" dirty="0"/>
              <a:t>A </a:t>
            </a:r>
            <a:r>
              <a:rPr lang="en-US" b="1" dirty="0"/>
              <a:t>user-defined object constructor</a:t>
            </a:r>
            <a:r>
              <a:rPr lang="en-US" dirty="0"/>
              <a:t> is a function that acts as a blueprint for creating multiple objects with the same properties.</a:t>
            </a:r>
          </a:p>
        </p:txBody>
      </p:sp>
    </p:spTree>
    <p:extLst>
      <p:ext uri="{BB962C8B-B14F-4D97-AF65-F5344CB8AC3E}">
        <p14:creationId xmlns:p14="http://schemas.microsoft.com/office/powerpoint/2010/main" val="4113462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DDE3-6520-00F3-B68C-CED034B937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8EC148-3DFF-76DF-D4BC-E38C5F311A9E}"/>
              </a:ext>
            </a:extLst>
          </p:cNvPr>
          <p:cNvPicPr>
            <a:picLocks noChangeAspect="1"/>
          </p:cNvPicPr>
          <p:nvPr/>
        </p:nvPicPr>
        <p:blipFill>
          <a:blip r:embed="rId2"/>
          <a:stretch>
            <a:fillRect/>
          </a:stretch>
        </p:blipFill>
        <p:spPr>
          <a:xfrm>
            <a:off x="848931" y="707230"/>
            <a:ext cx="7233185" cy="2635008"/>
          </a:xfrm>
          <a:prstGeom prst="rect">
            <a:avLst/>
          </a:prstGeom>
        </p:spPr>
      </p:pic>
      <p:pic>
        <p:nvPicPr>
          <p:cNvPr id="6" name="Picture 5">
            <a:extLst>
              <a:ext uri="{FF2B5EF4-FFF2-40B4-BE49-F238E27FC236}">
                <a16:creationId xmlns:a16="http://schemas.microsoft.com/office/drawing/2014/main" id="{9A85E7D0-FEBE-D34C-9A53-91F6ACB8F1CA}"/>
              </a:ext>
            </a:extLst>
          </p:cNvPr>
          <p:cNvPicPr>
            <a:picLocks noChangeAspect="1"/>
          </p:cNvPicPr>
          <p:nvPr/>
        </p:nvPicPr>
        <p:blipFill>
          <a:blip r:embed="rId3"/>
          <a:srcRect b="13166"/>
          <a:stretch>
            <a:fillRect/>
          </a:stretch>
        </p:blipFill>
        <p:spPr>
          <a:xfrm>
            <a:off x="848931" y="3441815"/>
            <a:ext cx="3555429" cy="2507061"/>
          </a:xfrm>
          <a:prstGeom prst="rect">
            <a:avLst/>
          </a:prstGeom>
        </p:spPr>
      </p:pic>
      <p:pic>
        <p:nvPicPr>
          <p:cNvPr id="9" name="Picture 8">
            <a:extLst>
              <a:ext uri="{FF2B5EF4-FFF2-40B4-BE49-F238E27FC236}">
                <a16:creationId xmlns:a16="http://schemas.microsoft.com/office/drawing/2014/main" id="{D1EDF149-3257-2382-F646-AB6FEFCDF823}"/>
              </a:ext>
            </a:extLst>
          </p:cNvPr>
          <p:cNvPicPr>
            <a:picLocks noChangeAspect="1"/>
          </p:cNvPicPr>
          <p:nvPr/>
        </p:nvPicPr>
        <p:blipFill>
          <a:blip r:embed="rId4"/>
          <a:stretch>
            <a:fillRect/>
          </a:stretch>
        </p:blipFill>
        <p:spPr>
          <a:xfrm>
            <a:off x="4648075" y="3606940"/>
            <a:ext cx="1447925" cy="538340"/>
          </a:xfrm>
          <a:prstGeom prst="rect">
            <a:avLst/>
          </a:prstGeom>
        </p:spPr>
      </p:pic>
    </p:spTree>
    <p:extLst>
      <p:ext uri="{BB962C8B-B14F-4D97-AF65-F5344CB8AC3E}">
        <p14:creationId xmlns:p14="http://schemas.microsoft.com/office/powerpoint/2010/main" val="458689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203C-CE04-131C-A937-E19298D3098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B20A1F1-326D-1009-36CD-CFEF41E06923}"/>
              </a:ext>
            </a:extLst>
          </p:cNvPr>
          <p:cNvSpPr txBox="1"/>
          <p:nvPr/>
        </p:nvSpPr>
        <p:spPr>
          <a:xfrm>
            <a:off x="848931" y="644001"/>
            <a:ext cx="7823121" cy="1754326"/>
          </a:xfrm>
          <a:prstGeom prst="rect">
            <a:avLst/>
          </a:prstGeom>
          <a:noFill/>
        </p:spPr>
        <p:txBody>
          <a:bodyPr wrap="square">
            <a:spAutoFit/>
          </a:bodyPr>
          <a:lstStyle/>
          <a:p>
            <a:r>
              <a:rPr lang="en-US" dirty="0"/>
              <a:t>A user-defined constructor allows us to create many similar objects without repeating the same code. We define the structure only once and then use the </a:t>
            </a:r>
            <a:r>
              <a:rPr lang="en-US" b="1" dirty="0"/>
              <a:t>new</a:t>
            </a:r>
            <a:r>
              <a:rPr lang="en-US" dirty="0"/>
              <a:t> keyword to create multiple objects. This makes the code shorter, easier to maintain, and more organized.</a:t>
            </a:r>
          </a:p>
          <a:p>
            <a:endParaRPr lang="en-US" b="1" u="sng" dirty="0">
              <a:solidFill>
                <a:schemeClr val="accent2"/>
              </a:solidFill>
            </a:endParaRPr>
          </a:p>
          <a:p>
            <a:pPr algn="ctr"/>
            <a:r>
              <a:rPr lang="en-US" b="1" u="sng" dirty="0">
                <a:solidFill>
                  <a:schemeClr val="accent2"/>
                </a:solidFill>
              </a:rPr>
              <a:t>DIFFERENCE BETWEEN BUILT-IN AND USER-DEFINED CONSTRUCTOR</a:t>
            </a:r>
            <a:endParaRPr lang="en-US" dirty="0"/>
          </a:p>
        </p:txBody>
      </p:sp>
      <p:graphicFrame>
        <p:nvGraphicFramePr>
          <p:cNvPr id="2" name="Table 1">
            <a:extLst>
              <a:ext uri="{FF2B5EF4-FFF2-40B4-BE49-F238E27FC236}">
                <a16:creationId xmlns:a16="http://schemas.microsoft.com/office/drawing/2014/main" id="{FA71B8E7-E9B4-CAE5-29BC-64AC6D74BA1B}"/>
              </a:ext>
            </a:extLst>
          </p:cNvPr>
          <p:cNvGraphicFramePr>
            <a:graphicFrameLocks noGrp="1"/>
          </p:cNvGraphicFramePr>
          <p:nvPr>
            <p:extLst>
              <p:ext uri="{D42A27DB-BD31-4B8C-83A1-F6EECF244321}">
                <p14:modId xmlns:p14="http://schemas.microsoft.com/office/powerpoint/2010/main" val="3095071475"/>
              </p:ext>
            </p:extLst>
          </p:nvPr>
        </p:nvGraphicFramePr>
        <p:xfrm>
          <a:off x="949124" y="2763521"/>
          <a:ext cx="7661476" cy="2768600"/>
        </p:xfrm>
        <a:graphic>
          <a:graphicData uri="http://schemas.openxmlformats.org/drawingml/2006/table">
            <a:tbl>
              <a:tblPr firstRow="1" bandRow="1">
                <a:tableStyleId>{2D5ABB26-0587-4C30-8999-92F81FD0307C}</a:tableStyleId>
              </a:tblPr>
              <a:tblGrid>
                <a:gridCol w="3762822">
                  <a:extLst>
                    <a:ext uri="{9D8B030D-6E8A-4147-A177-3AD203B41FA5}">
                      <a16:colId xmlns:a16="http://schemas.microsoft.com/office/drawing/2014/main" val="1629043829"/>
                    </a:ext>
                  </a:extLst>
                </a:gridCol>
                <a:gridCol w="3898654">
                  <a:extLst>
                    <a:ext uri="{9D8B030D-6E8A-4147-A177-3AD203B41FA5}">
                      <a16:colId xmlns:a16="http://schemas.microsoft.com/office/drawing/2014/main" val="2318249234"/>
                    </a:ext>
                  </a:extLst>
                </a:gridCol>
              </a:tblGrid>
              <a:tr h="477652">
                <a:tc>
                  <a:txBody>
                    <a:bodyPr/>
                    <a:lstStyle/>
                    <a:p>
                      <a:pPr algn="ctr">
                        <a:buNone/>
                      </a:pPr>
                      <a:r>
                        <a:rPr lang="en-US" sz="1600" dirty="0">
                          <a:solidFill>
                            <a:schemeClr val="bg1"/>
                          </a:solidFill>
                        </a:rPr>
                        <a:t>Built-in Constructor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600" dirty="0">
                          <a:solidFill>
                            <a:schemeClr val="bg1"/>
                          </a:solidFill>
                        </a:rPr>
                        <a:t>User-defined Constructor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721605841"/>
                  </a:ext>
                </a:extLst>
              </a:tr>
              <a:tr h="572737">
                <a:tc>
                  <a:txBody>
                    <a:bodyPr/>
                    <a:lstStyle/>
                    <a:p>
                      <a:r>
                        <a:rPr lang="en-US" sz="1600" b="0" dirty="0"/>
                        <a:t>Creates one empty 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dirty="0"/>
                        <a:t>Creates multiple similar objects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3697597"/>
                  </a:ext>
                </a:extLst>
              </a:tr>
              <a:tr h="572737">
                <a:tc>
                  <a:txBody>
                    <a:bodyPr/>
                    <a:lstStyle/>
                    <a:p>
                      <a:r>
                        <a:rPr lang="en-US" sz="1600" b="0" dirty="0"/>
                        <a:t>Properties are added manually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dirty="0"/>
                        <a:t>Properties are assigned automatically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169720"/>
                  </a:ext>
                </a:extLst>
              </a:tr>
              <a:tr h="572737">
                <a:tc>
                  <a:txBody>
                    <a:bodyPr/>
                    <a:lstStyle/>
                    <a:p>
                      <a:r>
                        <a:rPr lang="en-US" sz="1600" b="0" dirty="0"/>
                        <a:t>Best for creating a single 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dirty="0"/>
                        <a:t>Best for creating many objects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2972639"/>
                  </a:ext>
                </a:extLst>
              </a:tr>
              <a:tr h="572737">
                <a:tc>
                  <a:txBody>
                    <a:bodyPr/>
                    <a:lstStyle/>
                    <a:p>
                      <a:r>
                        <a:rPr lang="en-US" sz="1600" b="0" dirty="0"/>
                        <a:t>Built into JavaScript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dirty="0"/>
                        <a:t>Created by the programmer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5058544"/>
                  </a:ext>
                </a:extLst>
              </a:tr>
            </a:tbl>
          </a:graphicData>
        </a:graphic>
      </p:graphicFrame>
    </p:spTree>
    <p:extLst>
      <p:ext uri="{BB962C8B-B14F-4D97-AF65-F5344CB8AC3E}">
        <p14:creationId xmlns:p14="http://schemas.microsoft.com/office/powerpoint/2010/main" val="385970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A557D-14DF-6DD8-70B1-79FCAEBB25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B4DF060-B882-B868-C104-B0E00EAA19EB}"/>
              </a:ext>
            </a:extLst>
          </p:cNvPr>
          <p:cNvSpPr txBox="1"/>
          <p:nvPr/>
        </p:nvSpPr>
        <p:spPr>
          <a:xfrm>
            <a:off x="816077" y="707922"/>
            <a:ext cx="8180439" cy="2669962"/>
          </a:xfrm>
          <a:prstGeom prst="rect">
            <a:avLst/>
          </a:prstGeom>
          <a:noFill/>
        </p:spPr>
        <p:txBody>
          <a:bodyPr wrap="square" rtlCol="0">
            <a:spAutoFit/>
          </a:bodyPr>
          <a:lstStyle/>
          <a:p>
            <a:pPr algn="ctr">
              <a:spcBef>
                <a:spcPts val="50"/>
              </a:spcBef>
              <a:spcAft>
                <a:spcPts val="200"/>
              </a:spcAft>
            </a:pPr>
            <a:r>
              <a:rPr lang="en-US" b="1" u="sng" dirty="0">
                <a:solidFill>
                  <a:schemeClr val="accent2"/>
                </a:solidFill>
              </a:rPr>
              <a:t>ARRAY OF AN OBJECT</a:t>
            </a:r>
          </a:p>
          <a:p>
            <a:pPr algn="ctr">
              <a:spcBef>
                <a:spcPts val="50"/>
              </a:spcBef>
              <a:spcAft>
                <a:spcPts val="200"/>
              </a:spcAft>
            </a:pPr>
            <a:endParaRPr lang="en-US" sz="600" b="1" u="sng" dirty="0">
              <a:solidFill>
                <a:schemeClr val="accent2"/>
              </a:solidFill>
            </a:endParaRPr>
          </a:p>
          <a:p>
            <a:pPr>
              <a:spcBef>
                <a:spcPts val="50"/>
              </a:spcBef>
              <a:spcAft>
                <a:spcPts val="200"/>
              </a:spcAft>
            </a:pPr>
            <a:r>
              <a:rPr lang="en-US" dirty="0"/>
              <a:t>An </a:t>
            </a:r>
            <a:r>
              <a:rPr lang="en-US" b="1" dirty="0"/>
              <a:t>array of objects </a:t>
            </a:r>
            <a:r>
              <a:rPr lang="en-US" dirty="0"/>
              <a:t>means storing multiple objects inside a single array. Here the objects act as the index. </a:t>
            </a:r>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p:txBody>
      </p:sp>
      <p:pic>
        <p:nvPicPr>
          <p:cNvPr id="5" name="Picture 4">
            <a:extLst>
              <a:ext uri="{FF2B5EF4-FFF2-40B4-BE49-F238E27FC236}">
                <a16:creationId xmlns:a16="http://schemas.microsoft.com/office/drawing/2014/main" id="{2F28B8F9-AACA-03BF-EE25-7F579F083691}"/>
              </a:ext>
            </a:extLst>
          </p:cNvPr>
          <p:cNvPicPr>
            <a:picLocks noChangeAspect="1"/>
          </p:cNvPicPr>
          <p:nvPr/>
        </p:nvPicPr>
        <p:blipFill>
          <a:blip r:embed="rId2"/>
          <a:srcRect r="13232" b="1322"/>
          <a:stretch>
            <a:fillRect/>
          </a:stretch>
        </p:blipFill>
        <p:spPr>
          <a:xfrm>
            <a:off x="945559" y="2072399"/>
            <a:ext cx="6723602" cy="3885950"/>
          </a:xfrm>
          <a:prstGeom prst="rect">
            <a:avLst/>
          </a:prstGeom>
        </p:spPr>
      </p:pic>
    </p:spTree>
    <p:extLst>
      <p:ext uri="{BB962C8B-B14F-4D97-AF65-F5344CB8AC3E}">
        <p14:creationId xmlns:p14="http://schemas.microsoft.com/office/powerpoint/2010/main" val="462804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3B009-4688-F8EA-4299-79D6A77FB2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9B9A82-5B18-074B-7B27-6850A04C09E0}"/>
              </a:ext>
            </a:extLst>
          </p:cNvPr>
          <p:cNvSpPr txBox="1"/>
          <p:nvPr/>
        </p:nvSpPr>
        <p:spPr>
          <a:xfrm>
            <a:off x="816077" y="707922"/>
            <a:ext cx="8180439" cy="1200329"/>
          </a:xfrm>
          <a:prstGeom prst="rect">
            <a:avLst/>
          </a:prstGeom>
          <a:noFill/>
        </p:spPr>
        <p:txBody>
          <a:bodyPr wrap="square" rtlCol="0">
            <a:spAutoFit/>
          </a:bodyPr>
          <a:lstStyle/>
          <a:p>
            <a:pPr>
              <a:spcBef>
                <a:spcPts val="50"/>
              </a:spcBef>
              <a:spcAft>
                <a:spcPts val="200"/>
              </a:spcAft>
            </a:pPr>
            <a:r>
              <a:rPr lang="en-US" dirty="0"/>
              <a:t>An </a:t>
            </a:r>
            <a:r>
              <a:rPr lang="en-US" b="1" dirty="0"/>
              <a:t>array of objects</a:t>
            </a:r>
            <a:r>
              <a:rPr lang="en-US" dirty="0"/>
              <a:t> is used to store multiple objects in one array. Each object contains its own properties and values. In this example, each object represents one student. We access the first student's name using students[0].name, which displays </a:t>
            </a:r>
            <a:r>
              <a:rPr lang="en-US" b="1" dirty="0"/>
              <a:t>Aleena</a:t>
            </a:r>
            <a:r>
              <a:rPr lang="en-US" dirty="0"/>
              <a:t>.</a:t>
            </a:r>
          </a:p>
        </p:txBody>
      </p:sp>
      <p:pic>
        <p:nvPicPr>
          <p:cNvPr id="3" name="Picture 2">
            <a:extLst>
              <a:ext uri="{FF2B5EF4-FFF2-40B4-BE49-F238E27FC236}">
                <a16:creationId xmlns:a16="http://schemas.microsoft.com/office/drawing/2014/main" id="{822FE23D-783C-CADA-81D3-01951B333AA5}"/>
              </a:ext>
            </a:extLst>
          </p:cNvPr>
          <p:cNvPicPr>
            <a:picLocks noChangeAspect="1"/>
          </p:cNvPicPr>
          <p:nvPr/>
        </p:nvPicPr>
        <p:blipFill>
          <a:blip r:embed="rId2"/>
          <a:stretch>
            <a:fillRect/>
          </a:stretch>
        </p:blipFill>
        <p:spPr>
          <a:xfrm>
            <a:off x="1019759" y="2135339"/>
            <a:ext cx="3886537" cy="3825572"/>
          </a:xfrm>
          <a:prstGeom prst="rect">
            <a:avLst/>
          </a:prstGeom>
        </p:spPr>
      </p:pic>
    </p:spTree>
    <p:extLst>
      <p:ext uri="{BB962C8B-B14F-4D97-AF65-F5344CB8AC3E}">
        <p14:creationId xmlns:p14="http://schemas.microsoft.com/office/powerpoint/2010/main" val="400590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F0BF3-397C-AF87-AADA-82A3C10B90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1F1F39-6A63-26CE-079D-28A987D180AE}"/>
              </a:ext>
            </a:extLst>
          </p:cNvPr>
          <p:cNvSpPr txBox="1"/>
          <p:nvPr/>
        </p:nvSpPr>
        <p:spPr>
          <a:xfrm>
            <a:off x="816077" y="707922"/>
            <a:ext cx="8023123" cy="5432256"/>
          </a:xfrm>
          <a:prstGeom prst="rect">
            <a:avLst/>
          </a:prstGeom>
          <a:noFill/>
        </p:spPr>
        <p:txBody>
          <a:bodyPr wrap="square" rtlCol="0">
            <a:spAutoFit/>
          </a:bodyPr>
          <a:lstStyle/>
          <a:p>
            <a:pPr algn="ctr">
              <a:spcBef>
                <a:spcPts val="50"/>
              </a:spcBef>
              <a:spcAft>
                <a:spcPts val="200"/>
              </a:spcAft>
            </a:pPr>
            <a:r>
              <a:rPr lang="en-US" b="1" u="sng" dirty="0">
                <a:solidFill>
                  <a:schemeClr val="accent2"/>
                </a:solidFill>
              </a:rPr>
              <a:t>const WITH OBJECTS</a:t>
            </a:r>
          </a:p>
          <a:p>
            <a:pPr algn="ctr">
              <a:spcBef>
                <a:spcPts val="50"/>
              </a:spcBef>
              <a:spcAft>
                <a:spcPts val="200"/>
              </a:spcAft>
            </a:pPr>
            <a:endParaRPr lang="en-US" sz="600" b="1" u="sng" dirty="0">
              <a:solidFill>
                <a:schemeClr val="accent2"/>
              </a:solidFill>
            </a:endParaRPr>
          </a:p>
          <a:p>
            <a:pPr>
              <a:spcBef>
                <a:spcPts val="50"/>
              </a:spcBef>
              <a:spcAft>
                <a:spcPts val="200"/>
              </a:spcAft>
            </a:pPr>
            <a:r>
              <a:rPr lang="en-US" dirty="0"/>
              <a:t>The </a:t>
            </a:r>
            <a:r>
              <a:rPr lang="en-US" b="1" dirty="0"/>
              <a:t>const </a:t>
            </a:r>
            <a:r>
              <a:rPr lang="en-US" dirty="0"/>
              <a:t>keyword keeps the object fixed, but you can still change the data inside it</a:t>
            </a:r>
            <a:r>
              <a:rPr lang="en-US" b="1" dirty="0"/>
              <a:t>.</a:t>
            </a:r>
            <a:r>
              <a:rPr lang="en-US" dirty="0"/>
              <a:t> </a:t>
            </a:r>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dirty="0"/>
          </a:p>
          <a:p>
            <a:pPr>
              <a:spcBef>
                <a:spcPts val="50"/>
              </a:spcBef>
              <a:spcAft>
                <a:spcPts val="200"/>
              </a:spcAft>
            </a:pPr>
            <a:endParaRPr lang="en-US" sz="1400" dirty="0"/>
          </a:p>
          <a:p>
            <a:pPr>
              <a:spcBef>
                <a:spcPts val="50"/>
              </a:spcBef>
              <a:spcAft>
                <a:spcPts val="200"/>
              </a:spcAft>
            </a:pPr>
            <a:r>
              <a:rPr lang="en-US" dirty="0"/>
              <a:t>When an object is declared using </a:t>
            </a:r>
            <a:r>
              <a:rPr lang="en-US" b="1" dirty="0"/>
              <a:t>const</a:t>
            </a:r>
            <a:r>
              <a:rPr lang="en-US" dirty="0"/>
              <a:t>, we cannot assign a completely new object to that variable. However, we can still update or modify the object's properties. In this example, the student's age changes from </a:t>
            </a:r>
            <a:r>
              <a:rPr lang="en-US" b="1" dirty="0"/>
              <a:t>20</a:t>
            </a:r>
            <a:r>
              <a:rPr lang="en-US" dirty="0"/>
              <a:t> to </a:t>
            </a:r>
            <a:r>
              <a:rPr lang="en-US" b="1" dirty="0"/>
              <a:t>21</a:t>
            </a:r>
            <a:r>
              <a:rPr lang="en-US" dirty="0"/>
              <a:t>.</a:t>
            </a:r>
          </a:p>
          <a:p>
            <a:pPr>
              <a:spcBef>
                <a:spcPts val="50"/>
              </a:spcBef>
              <a:spcAft>
                <a:spcPts val="200"/>
              </a:spcAft>
            </a:pPr>
            <a:endParaRPr lang="en-US" dirty="0"/>
          </a:p>
        </p:txBody>
      </p:sp>
      <p:pic>
        <p:nvPicPr>
          <p:cNvPr id="3" name="Picture 2">
            <a:extLst>
              <a:ext uri="{FF2B5EF4-FFF2-40B4-BE49-F238E27FC236}">
                <a16:creationId xmlns:a16="http://schemas.microsoft.com/office/drawing/2014/main" id="{9A1E5023-24A2-E138-056F-25D6F699D5A2}"/>
              </a:ext>
            </a:extLst>
          </p:cNvPr>
          <p:cNvPicPr>
            <a:picLocks noChangeAspect="1"/>
          </p:cNvPicPr>
          <p:nvPr/>
        </p:nvPicPr>
        <p:blipFill>
          <a:blip r:embed="rId2"/>
          <a:stretch>
            <a:fillRect/>
          </a:stretch>
        </p:blipFill>
        <p:spPr>
          <a:xfrm>
            <a:off x="930816" y="1925171"/>
            <a:ext cx="7307557" cy="2627164"/>
          </a:xfrm>
          <a:prstGeom prst="rect">
            <a:avLst/>
          </a:prstGeom>
        </p:spPr>
      </p:pic>
    </p:spTree>
    <p:extLst>
      <p:ext uri="{BB962C8B-B14F-4D97-AF65-F5344CB8AC3E}">
        <p14:creationId xmlns:p14="http://schemas.microsoft.com/office/powerpoint/2010/main" val="3965085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BD80A-7A30-BAF4-8E0E-E65E33B122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3B9B30-642F-3111-E7E6-0A173EF962C3}"/>
              </a:ext>
            </a:extLst>
          </p:cNvPr>
          <p:cNvSpPr txBox="1"/>
          <p:nvPr/>
        </p:nvSpPr>
        <p:spPr>
          <a:xfrm>
            <a:off x="816077" y="1012720"/>
            <a:ext cx="8023123" cy="4208844"/>
          </a:xfrm>
          <a:prstGeom prst="rect">
            <a:avLst/>
          </a:prstGeom>
          <a:noFill/>
        </p:spPr>
        <p:txBody>
          <a:bodyPr wrap="square" rtlCol="0">
            <a:spAutoFit/>
          </a:bodyPr>
          <a:lstStyle/>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r>
              <a:rPr lang="en-US" b="1" u="sng" dirty="0">
                <a:solidFill>
                  <a:schemeClr val="accent2"/>
                </a:solidFill>
              </a:rPr>
              <a:t>for/in LOOP WITH OBJECTS</a:t>
            </a:r>
          </a:p>
          <a:p>
            <a:pPr algn="ctr">
              <a:spcBef>
                <a:spcPts val="50"/>
              </a:spcBef>
              <a:spcAft>
                <a:spcPts val="200"/>
              </a:spcAft>
            </a:pPr>
            <a:endParaRPr lang="en-US" sz="600" b="1" u="sng" dirty="0">
              <a:solidFill>
                <a:schemeClr val="accent2"/>
              </a:solidFill>
            </a:endParaRPr>
          </a:p>
          <a:p>
            <a:pPr>
              <a:spcBef>
                <a:spcPts val="50"/>
              </a:spcBef>
              <a:spcAft>
                <a:spcPts val="200"/>
              </a:spcAft>
            </a:pPr>
            <a:r>
              <a:rPr lang="en-US" dirty="0"/>
              <a:t>The </a:t>
            </a:r>
            <a:r>
              <a:rPr lang="en-US" b="1" dirty="0"/>
              <a:t>for/in</a:t>
            </a:r>
            <a:r>
              <a:rPr lang="en-US" dirty="0"/>
              <a:t> loop is used to </a:t>
            </a:r>
            <a:r>
              <a:rPr lang="en-US" b="1" dirty="0"/>
              <a:t>iterate through all the properties (keys)</a:t>
            </a:r>
            <a:r>
              <a:rPr lang="en-US" dirty="0"/>
              <a:t> of an object. It accesses each property one by one, making it easy to read or display all the data stored inside an object. </a:t>
            </a:r>
          </a:p>
          <a:p>
            <a:pPr>
              <a:spcBef>
                <a:spcPts val="50"/>
              </a:spcBef>
              <a:spcAft>
                <a:spcPts val="200"/>
              </a:spcAft>
            </a:pPr>
            <a:endParaRPr lang="en-US" dirty="0"/>
          </a:p>
          <a:p>
            <a:pPr>
              <a:spcBef>
                <a:spcPts val="50"/>
              </a:spcBef>
              <a:spcAft>
                <a:spcPts val="200"/>
              </a:spcAft>
            </a:pPr>
            <a:endParaRPr lang="en-US" dirty="0"/>
          </a:p>
        </p:txBody>
      </p:sp>
      <p:pic>
        <p:nvPicPr>
          <p:cNvPr id="5" name="Picture 4">
            <a:extLst>
              <a:ext uri="{FF2B5EF4-FFF2-40B4-BE49-F238E27FC236}">
                <a16:creationId xmlns:a16="http://schemas.microsoft.com/office/drawing/2014/main" id="{4621170B-2937-173C-F8D8-9BCD51765818}"/>
              </a:ext>
            </a:extLst>
          </p:cNvPr>
          <p:cNvPicPr>
            <a:picLocks noChangeAspect="1"/>
          </p:cNvPicPr>
          <p:nvPr/>
        </p:nvPicPr>
        <p:blipFill>
          <a:blip r:embed="rId2"/>
          <a:stretch>
            <a:fillRect/>
          </a:stretch>
        </p:blipFill>
        <p:spPr>
          <a:xfrm>
            <a:off x="816077" y="1105441"/>
            <a:ext cx="5879691" cy="1780470"/>
          </a:xfrm>
          <a:prstGeom prst="rect">
            <a:avLst/>
          </a:prstGeom>
        </p:spPr>
      </p:pic>
    </p:spTree>
    <p:extLst>
      <p:ext uri="{BB962C8B-B14F-4D97-AF65-F5344CB8AC3E}">
        <p14:creationId xmlns:p14="http://schemas.microsoft.com/office/powerpoint/2010/main" val="1134012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F314-9356-3041-84B5-C22ECFE6F1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DD17A4-FD66-F1F8-399E-38AE1FC8F754}"/>
              </a:ext>
            </a:extLst>
          </p:cNvPr>
          <p:cNvSpPr txBox="1"/>
          <p:nvPr/>
        </p:nvSpPr>
        <p:spPr>
          <a:xfrm>
            <a:off x="816077" y="707922"/>
            <a:ext cx="8023123" cy="5539978"/>
          </a:xfrm>
          <a:prstGeom prst="rect">
            <a:avLst/>
          </a:prstGeom>
          <a:noFill/>
        </p:spPr>
        <p:txBody>
          <a:bodyPr wrap="square" rtlCol="0">
            <a:spAutoFit/>
          </a:bodyPr>
          <a:lstStyle/>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spcBef>
                <a:spcPts val="50"/>
              </a:spcBef>
              <a:spcAft>
                <a:spcPts val="200"/>
              </a:spcAft>
            </a:pPr>
            <a:r>
              <a:rPr lang="en-US" dirty="0"/>
              <a:t>The </a:t>
            </a:r>
            <a:r>
              <a:rPr lang="en-US" b="1" dirty="0"/>
              <a:t>for/in</a:t>
            </a:r>
            <a:r>
              <a:rPr lang="en-US" dirty="0"/>
              <a:t> loop goes through every property of an object one by one. During each iteration, the variable </a:t>
            </a:r>
            <a:r>
              <a:rPr lang="en-US" b="1" dirty="0"/>
              <a:t>key</a:t>
            </a:r>
            <a:r>
              <a:rPr lang="en-US" dirty="0"/>
              <a:t> stores the name of the current property, such as </a:t>
            </a:r>
            <a:r>
              <a:rPr lang="en-US" b="1" dirty="0"/>
              <a:t>name</a:t>
            </a:r>
            <a:r>
              <a:rPr lang="en-US" dirty="0"/>
              <a:t>, </a:t>
            </a:r>
            <a:r>
              <a:rPr lang="en-US" b="1" dirty="0"/>
              <a:t>age</a:t>
            </a:r>
            <a:r>
              <a:rPr lang="en-US" dirty="0"/>
              <a:t>, or </a:t>
            </a:r>
            <a:r>
              <a:rPr lang="en-US" b="1" dirty="0"/>
              <a:t>department</a:t>
            </a:r>
            <a:r>
              <a:rPr lang="en-US" dirty="0"/>
              <a:t>. To get the value of each property, we use </a:t>
            </a:r>
            <a:r>
              <a:rPr lang="en-US" b="1" dirty="0"/>
              <a:t>bracket notation</a:t>
            </a:r>
            <a:r>
              <a:rPr lang="en-US" dirty="0"/>
              <a:t> (student[key]). This is because the property name is stored in a variable. The loop continues until all properties of the object have been accessed.</a:t>
            </a:r>
          </a:p>
          <a:p>
            <a:pPr>
              <a:spcBef>
                <a:spcPts val="50"/>
              </a:spcBef>
              <a:spcAft>
                <a:spcPts val="200"/>
              </a:spcAft>
            </a:pPr>
            <a:endParaRPr lang="en-US" dirty="0"/>
          </a:p>
          <a:p>
            <a:pPr>
              <a:spcBef>
                <a:spcPts val="50"/>
              </a:spcBef>
              <a:spcAft>
                <a:spcPts val="200"/>
              </a:spcAft>
            </a:pPr>
            <a:endParaRPr lang="en-US" dirty="0"/>
          </a:p>
        </p:txBody>
      </p:sp>
      <p:pic>
        <p:nvPicPr>
          <p:cNvPr id="2" name="Picture 1">
            <a:extLst>
              <a:ext uri="{FF2B5EF4-FFF2-40B4-BE49-F238E27FC236}">
                <a16:creationId xmlns:a16="http://schemas.microsoft.com/office/drawing/2014/main" id="{C3CFA28C-2E63-8FA1-D9F7-53865AAA2C92}"/>
              </a:ext>
            </a:extLst>
          </p:cNvPr>
          <p:cNvPicPr>
            <a:picLocks noChangeAspect="1"/>
          </p:cNvPicPr>
          <p:nvPr/>
        </p:nvPicPr>
        <p:blipFill>
          <a:blip r:embed="rId2"/>
          <a:stretch>
            <a:fillRect/>
          </a:stretch>
        </p:blipFill>
        <p:spPr>
          <a:xfrm>
            <a:off x="944414" y="964596"/>
            <a:ext cx="6686608" cy="2721078"/>
          </a:xfrm>
          <a:prstGeom prst="rect">
            <a:avLst/>
          </a:prstGeom>
        </p:spPr>
      </p:pic>
    </p:spTree>
    <p:extLst>
      <p:ext uri="{BB962C8B-B14F-4D97-AF65-F5344CB8AC3E}">
        <p14:creationId xmlns:p14="http://schemas.microsoft.com/office/powerpoint/2010/main" val="2010251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952B27-8E1D-76C4-0C9F-FF10F2CE9107}"/>
              </a:ext>
            </a:extLst>
          </p:cNvPr>
          <p:cNvPicPr>
            <a:picLocks noChangeAspect="1"/>
          </p:cNvPicPr>
          <p:nvPr/>
        </p:nvPicPr>
        <p:blipFill>
          <a:blip r:embed="rId2"/>
          <a:stretch>
            <a:fillRect/>
          </a:stretch>
        </p:blipFill>
        <p:spPr>
          <a:xfrm>
            <a:off x="941871" y="797493"/>
            <a:ext cx="5896201" cy="2378844"/>
          </a:xfrm>
          <a:prstGeom prst="rect">
            <a:avLst/>
          </a:prstGeom>
        </p:spPr>
      </p:pic>
      <p:sp>
        <p:nvSpPr>
          <p:cNvPr id="8" name="TextBox 7">
            <a:extLst>
              <a:ext uri="{FF2B5EF4-FFF2-40B4-BE49-F238E27FC236}">
                <a16:creationId xmlns:a16="http://schemas.microsoft.com/office/drawing/2014/main" id="{246C5288-3B75-D3B9-B2D6-176BD0B38D77}"/>
              </a:ext>
            </a:extLst>
          </p:cNvPr>
          <p:cNvSpPr txBox="1"/>
          <p:nvPr/>
        </p:nvSpPr>
        <p:spPr>
          <a:xfrm>
            <a:off x="816077" y="707922"/>
            <a:ext cx="8023123" cy="4462760"/>
          </a:xfrm>
          <a:prstGeom prst="rect">
            <a:avLst/>
          </a:prstGeom>
          <a:noFill/>
        </p:spPr>
        <p:txBody>
          <a:bodyPr wrap="square" rtlCol="0">
            <a:spAutoFit/>
          </a:bodyPr>
          <a:lstStyle/>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endParaRPr lang="en-US" b="1" u="sng" dirty="0">
              <a:solidFill>
                <a:schemeClr val="accent2"/>
              </a:solidFill>
            </a:endParaRPr>
          </a:p>
          <a:p>
            <a:pPr algn="ctr">
              <a:spcBef>
                <a:spcPts val="50"/>
              </a:spcBef>
              <a:spcAft>
                <a:spcPts val="200"/>
              </a:spcAft>
            </a:pPr>
            <a:r>
              <a:rPr lang="en-US" b="1" u="sng" dirty="0">
                <a:solidFill>
                  <a:schemeClr val="accent2"/>
                </a:solidFill>
              </a:rPr>
              <a:t>for/in LOOP WITH ARRAY OF OBJECTS</a:t>
            </a:r>
          </a:p>
          <a:p>
            <a:pPr algn="ctr">
              <a:spcBef>
                <a:spcPts val="50"/>
              </a:spcBef>
              <a:spcAft>
                <a:spcPts val="200"/>
              </a:spcAft>
            </a:pPr>
            <a:endParaRPr lang="en-US" sz="200" b="1" u="sng" dirty="0">
              <a:solidFill>
                <a:schemeClr val="accent2"/>
              </a:solidFill>
            </a:endParaRPr>
          </a:p>
          <a:p>
            <a:pPr>
              <a:spcBef>
                <a:spcPts val="50"/>
              </a:spcBef>
              <a:spcAft>
                <a:spcPts val="200"/>
              </a:spcAft>
            </a:pPr>
            <a:r>
              <a:rPr lang="en-US" dirty="0"/>
              <a:t>The </a:t>
            </a:r>
            <a:r>
              <a:rPr lang="en-US" b="1" dirty="0"/>
              <a:t>for...in</a:t>
            </a:r>
            <a:r>
              <a:rPr lang="en-US" dirty="0"/>
              <a:t> loop is used to go through the </a:t>
            </a:r>
            <a:r>
              <a:rPr lang="en-US" b="1" dirty="0"/>
              <a:t>indexes (or keys)</a:t>
            </a:r>
            <a:r>
              <a:rPr lang="en-US" dirty="0"/>
              <a:t> of an array or the </a:t>
            </a:r>
            <a:r>
              <a:rPr lang="en-US" b="1" dirty="0"/>
              <a:t>properties</a:t>
            </a:r>
            <a:r>
              <a:rPr lang="en-US" dirty="0"/>
              <a:t> of an object. In an array of objects, it accesses each object one by one using its index.</a:t>
            </a:r>
            <a:endParaRPr lang="en-US" b="1" u="sng" dirty="0">
              <a:solidFill>
                <a:schemeClr val="accent2"/>
              </a:solidFill>
            </a:endParaRPr>
          </a:p>
          <a:p>
            <a:pPr algn="ctr">
              <a:spcBef>
                <a:spcPts val="50"/>
              </a:spcBef>
              <a:spcAft>
                <a:spcPts val="200"/>
              </a:spcAft>
            </a:pPr>
            <a:endParaRPr lang="en-US" b="1" u="sng" dirty="0">
              <a:solidFill>
                <a:schemeClr val="accent2"/>
              </a:solidFill>
            </a:endParaRPr>
          </a:p>
        </p:txBody>
      </p:sp>
    </p:spTree>
    <p:extLst>
      <p:ext uri="{BB962C8B-B14F-4D97-AF65-F5344CB8AC3E}">
        <p14:creationId xmlns:p14="http://schemas.microsoft.com/office/powerpoint/2010/main" val="3876658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DDF3-CD9F-42B5-6A82-EF8A76F4E1D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AD0C47-5D3A-F5CD-7EF3-CAF22ED77168}"/>
              </a:ext>
            </a:extLst>
          </p:cNvPr>
          <p:cNvPicPr>
            <a:picLocks noChangeAspect="1"/>
          </p:cNvPicPr>
          <p:nvPr/>
        </p:nvPicPr>
        <p:blipFill>
          <a:blip r:embed="rId2"/>
          <a:stretch>
            <a:fillRect/>
          </a:stretch>
        </p:blipFill>
        <p:spPr>
          <a:xfrm>
            <a:off x="944413" y="792965"/>
            <a:ext cx="7172857" cy="2960888"/>
          </a:xfrm>
          <a:prstGeom prst="rect">
            <a:avLst/>
          </a:prstGeom>
        </p:spPr>
      </p:pic>
      <p:sp>
        <p:nvSpPr>
          <p:cNvPr id="7" name="TextBox 6">
            <a:extLst>
              <a:ext uri="{FF2B5EF4-FFF2-40B4-BE49-F238E27FC236}">
                <a16:creationId xmlns:a16="http://schemas.microsoft.com/office/drawing/2014/main" id="{EC37F06A-DFE4-7FA3-6131-2E9C8A8B5BE3}"/>
              </a:ext>
            </a:extLst>
          </p:cNvPr>
          <p:cNvSpPr txBox="1"/>
          <p:nvPr/>
        </p:nvSpPr>
        <p:spPr>
          <a:xfrm>
            <a:off x="944412" y="4031721"/>
            <a:ext cx="7317271" cy="1477328"/>
          </a:xfrm>
          <a:prstGeom prst="rect">
            <a:avLst/>
          </a:prstGeom>
          <a:noFill/>
        </p:spPr>
        <p:txBody>
          <a:bodyPr wrap="square">
            <a:spAutoFit/>
          </a:bodyPr>
          <a:lstStyle/>
          <a:p>
            <a:r>
              <a:rPr lang="en-US" dirty="0"/>
              <a:t>The for...in loop goes through each index of the students array (0, 1, and 2). In each iteration, students[</a:t>
            </a:r>
            <a:r>
              <a:rPr lang="en-US" dirty="0" err="1"/>
              <a:t>i</a:t>
            </a:r>
            <a:r>
              <a:rPr lang="en-US" dirty="0"/>
              <a:t>] accesses one object from the array. Then, students[</a:t>
            </a:r>
            <a:r>
              <a:rPr lang="en-US" dirty="0" err="1"/>
              <a:t>i</a:t>
            </a:r>
            <a:r>
              <a:rPr lang="en-US" dirty="0"/>
              <a:t>].name gets the student's name and students[</a:t>
            </a:r>
            <a:r>
              <a:rPr lang="en-US" dirty="0" err="1"/>
              <a:t>i</a:t>
            </a:r>
            <a:r>
              <a:rPr lang="en-US" dirty="0"/>
              <a:t>].marks gets the student's marks. The loop displays each student's information one by one.</a:t>
            </a:r>
          </a:p>
        </p:txBody>
      </p:sp>
    </p:spTree>
    <p:extLst>
      <p:ext uri="{BB962C8B-B14F-4D97-AF65-F5344CB8AC3E}">
        <p14:creationId xmlns:p14="http://schemas.microsoft.com/office/powerpoint/2010/main" val="3538958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2642-3B73-4DDF-D895-5DA59D1DE3A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CFE704-520E-8DB1-295B-63BDE53301DD}"/>
              </a:ext>
            </a:extLst>
          </p:cNvPr>
          <p:cNvSpPr txBox="1"/>
          <p:nvPr/>
        </p:nvSpPr>
        <p:spPr>
          <a:xfrm>
            <a:off x="1084077" y="3750100"/>
            <a:ext cx="7317271" cy="1292662"/>
          </a:xfrm>
          <a:prstGeom prst="rect">
            <a:avLst/>
          </a:prstGeom>
          <a:noFill/>
        </p:spPr>
        <p:txBody>
          <a:bodyPr wrap="square">
            <a:spAutoFit/>
          </a:bodyPr>
          <a:lstStyle/>
          <a:p>
            <a:pPr algn="ctr"/>
            <a:r>
              <a:rPr lang="en-US" b="1" u="sng" dirty="0">
                <a:solidFill>
                  <a:schemeClr val="accent2"/>
                </a:solidFill>
              </a:rPr>
              <a:t>map() WITH OBJECTS</a:t>
            </a:r>
          </a:p>
          <a:p>
            <a:pPr algn="ctr"/>
            <a:endParaRPr lang="en-US" sz="600" b="1" dirty="0">
              <a:solidFill>
                <a:schemeClr val="accent2"/>
              </a:solidFill>
            </a:endParaRPr>
          </a:p>
          <a:p>
            <a:r>
              <a:rPr lang="en-US" dirty="0"/>
              <a:t>The </a:t>
            </a:r>
            <a:r>
              <a:rPr lang="en-US" b="1" dirty="0"/>
              <a:t>map() method</a:t>
            </a:r>
            <a:r>
              <a:rPr lang="en-US" dirty="0"/>
              <a:t> is an array method that is used to go through each object in an array, perform an operation on it, and return a </a:t>
            </a:r>
            <a:r>
              <a:rPr lang="en-US" b="1" dirty="0"/>
              <a:t>new array</a:t>
            </a:r>
            <a:r>
              <a:rPr lang="en-US" dirty="0"/>
              <a:t> with the results.</a:t>
            </a:r>
          </a:p>
        </p:txBody>
      </p:sp>
      <p:pic>
        <p:nvPicPr>
          <p:cNvPr id="3" name="Picture 2">
            <a:extLst>
              <a:ext uri="{FF2B5EF4-FFF2-40B4-BE49-F238E27FC236}">
                <a16:creationId xmlns:a16="http://schemas.microsoft.com/office/drawing/2014/main" id="{813037B4-FD19-4E30-87BD-188CEBFFD772}"/>
              </a:ext>
            </a:extLst>
          </p:cNvPr>
          <p:cNvPicPr>
            <a:picLocks noChangeAspect="1"/>
          </p:cNvPicPr>
          <p:nvPr/>
        </p:nvPicPr>
        <p:blipFill>
          <a:blip r:embed="rId2"/>
          <a:stretch>
            <a:fillRect/>
          </a:stretch>
        </p:blipFill>
        <p:spPr>
          <a:xfrm>
            <a:off x="1084077" y="791562"/>
            <a:ext cx="4772088" cy="2513111"/>
          </a:xfrm>
          <a:prstGeom prst="rect">
            <a:avLst/>
          </a:prstGeom>
        </p:spPr>
      </p:pic>
    </p:spTree>
    <p:extLst>
      <p:ext uri="{BB962C8B-B14F-4D97-AF65-F5344CB8AC3E}">
        <p14:creationId xmlns:p14="http://schemas.microsoft.com/office/powerpoint/2010/main" val="2056006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86110-D378-4414-BF11-1CEB58CBC1D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1A6291A-A8C7-C7F9-2132-F2B3E2A92BD5}"/>
              </a:ext>
            </a:extLst>
          </p:cNvPr>
          <p:cNvSpPr txBox="1"/>
          <p:nvPr/>
        </p:nvSpPr>
        <p:spPr>
          <a:xfrm>
            <a:off x="1084077" y="3692226"/>
            <a:ext cx="7317271" cy="1754326"/>
          </a:xfrm>
          <a:prstGeom prst="rect">
            <a:avLst/>
          </a:prstGeom>
          <a:noFill/>
        </p:spPr>
        <p:txBody>
          <a:bodyPr wrap="square">
            <a:spAutoFit/>
          </a:bodyPr>
          <a:lstStyle/>
          <a:p>
            <a:r>
              <a:rPr lang="en-US" dirty="0"/>
              <a:t>The map() method goes through each object in the students array one by one. Each object is stored in the student variable. The function returns only the name property of each object using student.name. After checking all the objects, map() creates a new array that contains only the names of the students. The original students array remains unchanged.</a:t>
            </a:r>
          </a:p>
        </p:txBody>
      </p:sp>
      <p:pic>
        <p:nvPicPr>
          <p:cNvPr id="2" name="Picture 1">
            <a:extLst>
              <a:ext uri="{FF2B5EF4-FFF2-40B4-BE49-F238E27FC236}">
                <a16:creationId xmlns:a16="http://schemas.microsoft.com/office/drawing/2014/main" id="{5FDC6447-A41C-97CE-D52C-578A8609B769}"/>
              </a:ext>
            </a:extLst>
          </p:cNvPr>
          <p:cNvPicPr>
            <a:picLocks noChangeAspect="1"/>
          </p:cNvPicPr>
          <p:nvPr/>
        </p:nvPicPr>
        <p:blipFill>
          <a:blip r:embed="rId2"/>
          <a:stretch>
            <a:fillRect/>
          </a:stretch>
        </p:blipFill>
        <p:spPr>
          <a:xfrm>
            <a:off x="1084077" y="778437"/>
            <a:ext cx="6219548" cy="2664571"/>
          </a:xfrm>
          <a:prstGeom prst="rect">
            <a:avLst/>
          </a:prstGeom>
        </p:spPr>
      </p:pic>
    </p:spTree>
    <p:extLst>
      <p:ext uri="{BB962C8B-B14F-4D97-AF65-F5344CB8AC3E}">
        <p14:creationId xmlns:p14="http://schemas.microsoft.com/office/powerpoint/2010/main" val="65128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6C7C-06CD-6274-676F-18B2E8883F0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340BF8-3A5E-C25B-4E3E-464CBD9E6EE7}"/>
              </a:ext>
            </a:extLst>
          </p:cNvPr>
          <p:cNvSpPr txBox="1"/>
          <p:nvPr/>
        </p:nvSpPr>
        <p:spPr>
          <a:xfrm>
            <a:off x="1084077" y="3634353"/>
            <a:ext cx="7317271" cy="1015663"/>
          </a:xfrm>
          <a:prstGeom prst="rect">
            <a:avLst/>
          </a:prstGeom>
          <a:noFill/>
        </p:spPr>
        <p:txBody>
          <a:bodyPr wrap="square">
            <a:spAutoFit/>
          </a:bodyPr>
          <a:lstStyle/>
          <a:p>
            <a:pPr algn="ctr"/>
            <a:r>
              <a:rPr lang="en-US" b="1" u="sng" dirty="0">
                <a:solidFill>
                  <a:schemeClr val="accent2"/>
                </a:solidFill>
              </a:rPr>
              <a:t>map() WITH ARRAY Of OBJECTS</a:t>
            </a:r>
          </a:p>
          <a:p>
            <a:pPr algn="ctr"/>
            <a:endParaRPr lang="en-US" sz="600" b="1" dirty="0">
              <a:solidFill>
                <a:schemeClr val="accent2"/>
              </a:solidFill>
            </a:endParaRPr>
          </a:p>
          <a:p>
            <a:r>
              <a:rPr lang="en-US" dirty="0"/>
              <a:t>The </a:t>
            </a:r>
            <a:r>
              <a:rPr lang="en-US" b="1" dirty="0"/>
              <a:t>map()</a:t>
            </a:r>
            <a:r>
              <a:rPr lang="en-US" dirty="0"/>
              <a:t> method creates a new array by applying a function to every element of an existing array</a:t>
            </a:r>
          </a:p>
        </p:txBody>
      </p:sp>
      <p:pic>
        <p:nvPicPr>
          <p:cNvPr id="2" name="Picture 1">
            <a:extLst>
              <a:ext uri="{FF2B5EF4-FFF2-40B4-BE49-F238E27FC236}">
                <a16:creationId xmlns:a16="http://schemas.microsoft.com/office/drawing/2014/main" id="{2F76924C-D709-C298-5D07-5E137561C140}"/>
              </a:ext>
            </a:extLst>
          </p:cNvPr>
          <p:cNvPicPr>
            <a:picLocks noChangeAspect="1"/>
          </p:cNvPicPr>
          <p:nvPr/>
        </p:nvPicPr>
        <p:blipFill>
          <a:blip r:embed="rId2"/>
          <a:stretch>
            <a:fillRect/>
          </a:stretch>
        </p:blipFill>
        <p:spPr>
          <a:xfrm>
            <a:off x="1212930" y="709047"/>
            <a:ext cx="3886200" cy="2514600"/>
          </a:xfrm>
          <a:prstGeom prst="rect">
            <a:avLst/>
          </a:prstGeom>
        </p:spPr>
      </p:pic>
    </p:spTree>
    <p:extLst>
      <p:ext uri="{BB962C8B-B14F-4D97-AF65-F5344CB8AC3E}">
        <p14:creationId xmlns:p14="http://schemas.microsoft.com/office/powerpoint/2010/main" val="2453053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78ACD-1F3E-A777-DC45-8E64729A610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959B18-3E81-17EB-6F51-9DDBEE184007}"/>
              </a:ext>
            </a:extLst>
          </p:cNvPr>
          <p:cNvSpPr txBox="1"/>
          <p:nvPr/>
        </p:nvSpPr>
        <p:spPr>
          <a:xfrm>
            <a:off x="1084077" y="3634353"/>
            <a:ext cx="7317271" cy="1754326"/>
          </a:xfrm>
          <a:prstGeom prst="rect">
            <a:avLst/>
          </a:prstGeom>
          <a:noFill/>
        </p:spPr>
        <p:txBody>
          <a:bodyPr wrap="square">
            <a:spAutoFit/>
          </a:bodyPr>
          <a:lstStyle/>
          <a:p>
            <a:r>
              <a:rPr lang="en-US" dirty="0"/>
              <a:t>The map() method goes through each object in the students array one by one. Each object is passed to the function s(student), where student represents the current object. The function returns only the name of that object using student.name. After checking all the objects, map() creates a new array containing only the names. The output is ["Aleena", "Sara", "Ali"].</a:t>
            </a:r>
          </a:p>
        </p:txBody>
      </p:sp>
      <p:pic>
        <p:nvPicPr>
          <p:cNvPr id="3" name="Picture 2">
            <a:extLst>
              <a:ext uri="{FF2B5EF4-FFF2-40B4-BE49-F238E27FC236}">
                <a16:creationId xmlns:a16="http://schemas.microsoft.com/office/drawing/2014/main" id="{306E376A-B4F6-4818-FEF3-0104BC5105B5}"/>
              </a:ext>
            </a:extLst>
          </p:cNvPr>
          <p:cNvPicPr>
            <a:picLocks noChangeAspect="1"/>
          </p:cNvPicPr>
          <p:nvPr/>
        </p:nvPicPr>
        <p:blipFill>
          <a:blip r:embed="rId2"/>
          <a:stretch>
            <a:fillRect/>
          </a:stretch>
        </p:blipFill>
        <p:spPr>
          <a:xfrm>
            <a:off x="1084077" y="723265"/>
            <a:ext cx="5943600" cy="2705735"/>
          </a:xfrm>
          <a:prstGeom prst="rect">
            <a:avLst/>
          </a:prstGeom>
        </p:spPr>
      </p:pic>
    </p:spTree>
    <p:extLst>
      <p:ext uri="{BB962C8B-B14F-4D97-AF65-F5344CB8AC3E}">
        <p14:creationId xmlns:p14="http://schemas.microsoft.com/office/powerpoint/2010/main" val="329064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0C64E-40C1-BD9F-DC6E-F2B622C6F5E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CD2EB70-6FF7-5CFA-F71B-8F4EFB594C71}"/>
              </a:ext>
            </a:extLst>
          </p:cNvPr>
          <p:cNvPicPr>
            <a:picLocks noChangeAspect="1"/>
          </p:cNvPicPr>
          <p:nvPr/>
        </p:nvPicPr>
        <p:blipFill>
          <a:blip r:embed="rId2"/>
          <a:stretch>
            <a:fillRect/>
          </a:stretch>
        </p:blipFill>
        <p:spPr>
          <a:xfrm>
            <a:off x="1084077" y="1097280"/>
            <a:ext cx="4892040" cy="2331720"/>
          </a:xfrm>
          <a:prstGeom prst="rect">
            <a:avLst/>
          </a:prstGeom>
        </p:spPr>
      </p:pic>
    </p:spTree>
    <p:extLst>
      <p:ext uri="{BB962C8B-B14F-4D97-AF65-F5344CB8AC3E}">
        <p14:creationId xmlns:p14="http://schemas.microsoft.com/office/powerpoint/2010/main" val="3236852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582AB-94EB-9FAF-1FC0-2AC91F6DF2B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7ADC67A2-AD3C-BA4A-19CF-E79FB065019E}"/>
              </a:ext>
            </a:extLst>
          </p:cNvPr>
          <p:cNvSpPr txBox="1"/>
          <p:nvPr/>
        </p:nvSpPr>
        <p:spPr>
          <a:xfrm>
            <a:off x="848931" y="781161"/>
            <a:ext cx="7823121" cy="369332"/>
          </a:xfrm>
          <a:prstGeom prst="rect">
            <a:avLst/>
          </a:prstGeom>
          <a:noFill/>
        </p:spPr>
        <p:txBody>
          <a:bodyPr wrap="square">
            <a:spAutoFit/>
          </a:bodyPr>
          <a:lstStyle/>
          <a:p>
            <a:pPr algn="ctr"/>
            <a:r>
              <a:rPr lang="en-US" b="1" u="sng" dirty="0">
                <a:solidFill>
                  <a:schemeClr val="accent2"/>
                </a:solidFill>
              </a:rPr>
              <a:t>DIFFERENCE BETWEEN AN OBJECT &amp; OBJECT CONSTRUCTOR</a:t>
            </a:r>
            <a:endParaRPr lang="en-US" dirty="0"/>
          </a:p>
        </p:txBody>
      </p:sp>
      <p:graphicFrame>
        <p:nvGraphicFramePr>
          <p:cNvPr id="2" name="Table 1">
            <a:extLst>
              <a:ext uri="{FF2B5EF4-FFF2-40B4-BE49-F238E27FC236}">
                <a16:creationId xmlns:a16="http://schemas.microsoft.com/office/drawing/2014/main" id="{D78FF81D-20B0-3046-2684-9181D3433B41}"/>
              </a:ext>
            </a:extLst>
          </p:cNvPr>
          <p:cNvGraphicFramePr>
            <a:graphicFrameLocks noGrp="1"/>
          </p:cNvGraphicFramePr>
          <p:nvPr>
            <p:extLst>
              <p:ext uri="{D42A27DB-BD31-4B8C-83A1-F6EECF244321}">
                <p14:modId xmlns:p14="http://schemas.microsoft.com/office/powerpoint/2010/main" val="3266146603"/>
              </p:ext>
            </p:extLst>
          </p:nvPr>
        </p:nvGraphicFramePr>
        <p:xfrm>
          <a:off x="1157670" y="1585228"/>
          <a:ext cx="7661476" cy="3756392"/>
        </p:xfrm>
        <a:graphic>
          <a:graphicData uri="http://schemas.openxmlformats.org/drawingml/2006/table">
            <a:tbl>
              <a:tblPr firstRow="1" bandRow="1">
                <a:tableStyleId>{2D5ABB26-0587-4C30-8999-92F81FD0307C}</a:tableStyleId>
              </a:tblPr>
              <a:tblGrid>
                <a:gridCol w="3762822">
                  <a:extLst>
                    <a:ext uri="{9D8B030D-6E8A-4147-A177-3AD203B41FA5}">
                      <a16:colId xmlns:a16="http://schemas.microsoft.com/office/drawing/2014/main" val="1629043829"/>
                    </a:ext>
                  </a:extLst>
                </a:gridCol>
                <a:gridCol w="3898654">
                  <a:extLst>
                    <a:ext uri="{9D8B030D-6E8A-4147-A177-3AD203B41FA5}">
                      <a16:colId xmlns:a16="http://schemas.microsoft.com/office/drawing/2014/main" val="2318249234"/>
                    </a:ext>
                  </a:extLst>
                </a:gridCol>
              </a:tblGrid>
              <a:tr h="477652">
                <a:tc>
                  <a:txBody>
                    <a:bodyPr/>
                    <a:lstStyle/>
                    <a:p>
                      <a:pPr algn="ctr">
                        <a:buNone/>
                      </a:pPr>
                      <a:r>
                        <a:rPr lang="en-US" sz="1600" dirty="0">
                          <a:solidFill>
                            <a:schemeClr val="bg1"/>
                          </a:solidFill>
                        </a:rPr>
                        <a:t>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600" dirty="0">
                          <a:solidFill>
                            <a:schemeClr val="bg1"/>
                          </a:solidFill>
                        </a:rPr>
                        <a:t>Object Constructor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721605841"/>
                  </a:ext>
                </a:extLst>
              </a:tr>
              <a:tr h="1186448">
                <a:tc>
                  <a:txBody>
                    <a:bodyPr/>
                    <a:lstStyle/>
                    <a:p>
                      <a:r>
                        <a:rPr lang="en-US" sz="1600" b="0" dirty="0"/>
                        <a:t>An object is a single collection of data stored as key-value pairs.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dirty="0"/>
                        <a:t>An object constructor is a function used to create multiple objects with the same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3697597"/>
                  </a:ext>
                </a:extLst>
              </a:tr>
              <a:tr h="737937">
                <a:tc>
                  <a:txBody>
                    <a:bodyPr/>
                    <a:lstStyle/>
                    <a:p>
                      <a:r>
                        <a:rPr lang="en-US" sz="1600" dirty="0"/>
                        <a:t>Used when you need to create only one object.</a:t>
                      </a:r>
                      <a:endParaRPr lang="en-US" sz="16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Used when you need to create many similar objects.</a:t>
                      </a:r>
                      <a:endParaRPr lang="en-US" sz="16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169720"/>
                  </a:ext>
                </a:extLst>
              </a:tr>
              <a:tr h="775235">
                <a:tc>
                  <a:txBody>
                    <a:bodyPr/>
                    <a:lstStyle/>
                    <a:p>
                      <a:r>
                        <a:rPr lang="en-US" sz="1600" dirty="0"/>
                        <a:t>Properties are written directly inside the object.</a:t>
                      </a:r>
                      <a:endParaRPr lang="en-US" sz="16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Properties are defined inside a constructor function and reused.</a:t>
                      </a:r>
                      <a:endParaRPr lang="en-US" sz="16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2972639"/>
                  </a:ext>
                </a:extLst>
              </a:tr>
              <a:tr h="572737">
                <a:tc>
                  <a:txBody>
                    <a:bodyPr/>
                    <a:lstStyle/>
                    <a:p>
                      <a:r>
                        <a:rPr lang="en-US" sz="1600" u="sng" dirty="0"/>
                        <a:t>Example: </a:t>
                      </a:r>
                      <a:r>
                        <a:rPr lang="en-US" sz="1600" dirty="0"/>
                        <a:t>One student record.</a:t>
                      </a:r>
                      <a:endParaRPr lang="en-US" sz="16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u="sng" dirty="0"/>
                        <a:t>Example: </a:t>
                      </a:r>
                      <a:r>
                        <a:rPr lang="en-US" sz="1600" dirty="0"/>
                        <a:t>Creating many student records.</a:t>
                      </a:r>
                      <a:endParaRPr lang="en-US" sz="16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5058544"/>
                  </a:ext>
                </a:extLst>
              </a:tr>
            </a:tbl>
          </a:graphicData>
        </a:graphic>
      </p:graphicFrame>
    </p:spTree>
    <p:extLst>
      <p:ext uri="{BB962C8B-B14F-4D97-AF65-F5344CB8AC3E}">
        <p14:creationId xmlns:p14="http://schemas.microsoft.com/office/powerpoint/2010/main" val="3658253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6C044-20C9-D34E-B689-92BF4FF10EF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62803FB-E074-95DF-6F99-A829417F2D7B}"/>
              </a:ext>
            </a:extLst>
          </p:cNvPr>
          <p:cNvSpPr txBox="1"/>
          <p:nvPr/>
        </p:nvSpPr>
        <p:spPr>
          <a:xfrm>
            <a:off x="1084077" y="1115743"/>
            <a:ext cx="7317271" cy="3508653"/>
          </a:xfrm>
          <a:prstGeom prst="rect">
            <a:avLst/>
          </a:prstGeom>
          <a:noFill/>
        </p:spPr>
        <p:txBody>
          <a:bodyPr wrap="square">
            <a:spAutoFit/>
          </a:bodyPr>
          <a:lstStyle/>
          <a:p>
            <a:pPr marL="285750" indent="-285750">
              <a:buFont typeface="Wingdings" panose="05000000000000000000" pitchFamily="2" charset="2"/>
              <a:buChar char="ü"/>
            </a:pPr>
            <a:r>
              <a:rPr lang="en-US" b="1" u="sng" dirty="0">
                <a:solidFill>
                  <a:schemeClr val="accent2"/>
                </a:solidFill>
              </a:rPr>
              <a:t>ADVANTAGES OF OBJECTS</a:t>
            </a:r>
          </a:p>
          <a:p>
            <a:pPr marL="285750" indent="-285750">
              <a:buFont typeface="Wingdings" panose="05000000000000000000" pitchFamily="2" charset="2"/>
              <a:buChar char="ü"/>
            </a:pPr>
            <a:endParaRPr lang="en-US" sz="600" b="1" u="sng" dirty="0">
              <a:solidFill>
                <a:schemeClr val="accent2"/>
              </a:solidFill>
            </a:endParaRPr>
          </a:p>
          <a:p>
            <a:pPr marL="342900" lvl="0" indent="-342900">
              <a:buFont typeface="+mj-lt"/>
              <a:buAutoNum type="arabicPeriod"/>
            </a:pPr>
            <a:r>
              <a:rPr lang="en-US" dirty="0"/>
              <a:t>Store related data in one place. </a:t>
            </a:r>
          </a:p>
          <a:p>
            <a:pPr marL="342900" lvl="0" indent="-342900">
              <a:buFont typeface="+mj-lt"/>
              <a:buAutoNum type="arabicPeriod"/>
            </a:pPr>
            <a:r>
              <a:rPr lang="en-US" dirty="0"/>
              <a:t>Easy to access and update properties. </a:t>
            </a:r>
          </a:p>
          <a:p>
            <a:pPr marL="342900" lvl="0" indent="-342900">
              <a:buFont typeface="+mj-lt"/>
              <a:buAutoNum type="arabicPeriod"/>
            </a:pPr>
            <a:r>
              <a:rPr lang="en-US" dirty="0"/>
              <a:t>Makes code more organized and readable. </a:t>
            </a:r>
          </a:p>
          <a:p>
            <a:pPr marL="342900" lvl="0" indent="-342900">
              <a:buFont typeface="+mj-lt"/>
              <a:buAutoNum type="arabicPeriod"/>
            </a:pPr>
            <a:r>
              <a:rPr lang="en-US" dirty="0"/>
              <a:t>Reduces code repetition. </a:t>
            </a:r>
          </a:p>
          <a:p>
            <a:pPr marL="342900" lvl="0" indent="-342900">
              <a:buFont typeface="+mj-lt"/>
              <a:buAutoNum type="arabicPeriod"/>
            </a:pPr>
            <a:r>
              <a:rPr lang="en-US" dirty="0"/>
              <a:t>Widely used in real-world applications such as student records, employee management systems, online shopping websites, and user profiles. </a:t>
            </a:r>
          </a:p>
          <a:p>
            <a:r>
              <a:rPr lang="en-US" dirty="0"/>
              <a:t> </a:t>
            </a:r>
          </a:p>
          <a:p>
            <a:endParaRPr lang="en-US" dirty="0"/>
          </a:p>
          <a:p>
            <a:endParaRPr lang="en-US" dirty="0"/>
          </a:p>
          <a:p>
            <a:endParaRPr lang="en-US" b="1" u="sng" dirty="0">
              <a:solidFill>
                <a:schemeClr val="accent2"/>
              </a:solidFill>
            </a:endParaRPr>
          </a:p>
        </p:txBody>
      </p:sp>
    </p:spTree>
    <p:extLst>
      <p:ext uri="{BB962C8B-B14F-4D97-AF65-F5344CB8AC3E}">
        <p14:creationId xmlns:p14="http://schemas.microsoft.com/office/powerpoint/2010/main" val="1039344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A2F336-33BE-8886-8A84-9B1ED7DC8D06}"/>
              </a:ext>
            </a:extLst>
          </p:cNvPr>
          <p:cNvSpPr/>
          <p:nvPr/>
        </p:nvSpPr>
        <p:spPr>
          <a:xfrm>
            <a:off x="3294627" y="2967335"/>
            <a:ext cx="3987310"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p:txBody>
      </p:sp>
    </p:spTree>
    <p:extLst>
      <p:ext uri="{BB962C8B-B14F-4D97-AF65-F5344CB8AC3E}">
        <p14:creationId xmlns:p14="http://schemas.microsoft.com/office/powerpoint/2010/main" val="1269746666"/>
      </p:ext>
    </p:extLst>
  </p:cSld>
  <p:clrMapOvr>
    <a:masterClrMapping/>
  </p:clrMapOvr>
</p:sld>
</file>

<file path=ppt/theme/theme1.xml><?xml version="1.0" encoding="utf-8"?>
<a:theme xmlns:a="http://schemas.openxmlformats.org/drawingml/2006/main" name="Facet">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710</TotalTime>
  <Words>1501</Words>
  <Application>Microsoft Office PowerPoint</Application>
  <PresentationFormat>Widescreen</PresentationFormat>
  <Paragraphs>151</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Romaisa Shahbaz</dc:creator>
  <cp:lastModifiedBy>Romaisa Shahbaz</cp:lastModifiedBy>
  <cp:revision>14</cp:revision>
  <dcterms:created xsi:type="dcterms:W3CDTF">2026-07-22T07:12:02Z</dcterms:created>
  <dcterms:modified xsi:type="dcterms:W3CDTF">2026-07-23T22:24:49Z</dcterms:modified>
</cp:coreProperties>
</file>