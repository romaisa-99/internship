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6" autoAdjust="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B2E07B-5DC9-4860-B1ED-2479ACE5070F}"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1855739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B2E07B-5DC9-4860-B1ED-2479ACE5070F}"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1760301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B2E07B-5DC9-4860-B1ED-2479ACE5070F}"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1045319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B2E07B-5DC9-4860-B1ED-2479ACE5070F}"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347352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B2E07B-5DC9-4860-B1ED-2479ACE5070F}" type="datetimeFigureOut">
              <a:rPr lang="en-US" smtClean="0"/>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641185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B2E07B-5DC9-4860-B1ED-2479ACE5070F}" type="datetimeFigureOut">
              <a:rPr lang="en-US" smtClean="0"/>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4264676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B2E07B-5DC9-4860-B1ED-2479ACE5070F}" type="datetimeFigureOut">
              <a:rPr lang="en-US" smtClean="0"/>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3052489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B2E07B-5DC9-4860-B1ED-2479ACE5070F}"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556646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B2E07B-5DC9-4860-B1ED-2479ACE5070F}"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3184762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B2E07B-5DC9-4860-B1ED-2479ACE5070F}"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868679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B2E07B-5DC9-4860-B1ED-2479ACE5070F}"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CA7D2-13D2-43BB-AFF6-80B2C3066CBA}"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78078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B2E07B-5DC9-4860-B1ED-2479ACE5070F}"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34011634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B2E07B-5DC9-4860-B1ED-2479ACE5070F}"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CA7D2-13D2-43BB-AFF6-80B2C3066CB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64535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B2E07B-5DC9-4860-B1ED-2479ACE5070F}"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2377097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B2E07B-5DC9-4860-B1ED-2479ACE5070F}"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3674777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B2E07B-5DC9-4860-B1ED-2479ACE5070F}"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3CA7D2-13D2-43BB-AFF6-80B2C3066CBA}" type="slidenum">
              <a:rPr lang="en-US" smtClean="0"/>
              <a:t>‹#›</a:t>
            </a:fld>
            <a:endParaRPr lang="en-US"/>
          </a:p>
        </p:txBody>
      </p:sp>
    </p:spTree>
    <p:extLst>
      <p:ext uri="{BB962C8B-B14F-4D97-AF65-F5344CB8AC3E}">
        <p14:creationId xmlns:p14="http://schemas.microsoft.com/office/powerpoint/2010/main" val="4070992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0B2E07B-5DC9-4860-B1ED-2479ACE5070F}" type="datetimeFigureOut">
              <a:rPr lang="en-US" smtClean="0"/>
              <a:t>7/25/2026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E3CA7D2-13D2-43BB-AFF6-80B2C3066CBA}" type="slidenum">
              <a:rPr lang="en-US" smtClean="0"/>
              <a:t>‹#›</a:t>
            </a:fld>
            <a:endParaRPr lang="en-US"/>
          </a:p>
        </p:txBody>
      </p:sp>
    </p:spTree>
    <p:extLst>
      <p:ext uri="{BB962C8B-B14F-4D97-AF65-F5344CB8AC3E}">
        <p14:creationId xmlns:p14="http://schemas.microsoft.com/office/powerpoint/2010/main" val="40485653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D44015-C8D0-655B-002C-E158FD545041}"/>
              </a:ext>
            </a:extLst>
          </p:cNvPr>
          <p:cNvSpPr/>
          <p:nvPr/>
        </p:nvSpPr>
        <p:spPr>
          <a:xfrm>
            <a:off x="2632365" y="2551837"/>
            <a:ext cx="5806398" cy="1754326"/>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STRING METHODS</a:t>
            </a:r>
          </a:p>
          <a:p>
            <a:pPr algn="ctr"/>
            <a:r>
              <a:rPr lang="en-US" sz="5400" b="1" dirty="0">
                <a:ln w="22225">
                  <a:solidFill>
                    <a:schemeClr val="accent2"/>
                  </a:solidFill>
                  <a:prstDash val="solid"/>
                </a:ln>
                <a:solidFill>
                  <a:schemeClr val="accent2">
                    <a:lumMod val="40000"/>
                    <a:lumOff val="60000"/>
                  </a:schemeClr>
                </a:solidFill>
              </a:rPr>
              <a:t>IN JAVASCRIPT</a:t>
            </a:r>
          </a:p>
        </p:txBody>
      </p:sp>
    </p:spTree>
    <p:extLst>
      <p:ext uri="{BB962C8B-B14F-4D97-AF65-F5344CB8AC3E}">
        <p14:creationId xmlns:p14="http://schemas.microsoft.com/office/powerpoint/2010/main" val="4135699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A714C-9009-CB88-CE00-EBAB9EA4F7D3}"/>
              </a:ext>
            </a:extLst>
          </p:cNvPr>
          <p:cNvSpPr>
            <a:spLocks noGrp="1"/>
          </p:cNvSpPr>
          <p:nvPr>
            <p:ph type="title"/>
          </p:nvPr>
        </p:nvSpPr>
        <p:spPr/>
        <p:txBody>
          <a:bodyPr>
            <a:noAutofit/>
          </a:bodyPr>
          <a:lstStyle/>
          <a:p>
            <a:pPr marL="285750" indent="-285750">
              <a:buFont typeface="Wingdings" panose="05000000000000000000" pitchFamily="2" charset="2"/>
              <a:buChar char="v"/>
            </a:pPr>
            <a:r>
              <a:rPr lang="en-US" sz="1800" b="1" dirty="0">
                <a:latin typeface="Eras Medium ITC" panose="020B0602030504020804" pitchFamily="34" charset="0"/>
              </a:rPr>
              <a:t>What is a String?</a:t>
            </a:r>
            <a:br>
              <a:rPr lang="en-US" sz="1800" dirty="0">
                <a:latin typeface="Eras Medium ITC" panose="020B0602030504020804" pitchFamily="34" charset="0"/>
              </a:rPr>
            </a:br>
            <a:r>
              <a:rPr lang="en-US" sz="1800" dirty="0">
                <a:solidFill>
                  <a:schemeClr val="tx1"/>
                </a:solidFill>
                <a:latin typeface="Eras Medium ITC" panose="020B0602030504020804" pitchFamily="34" charset="0"/>
              </a:rPr>
              <a:t>A string is a sequence of characters used to store text in JavaScript. It can contain letters, numbers, symbols, and spaces. Strings are written inside single quotes (' '), double quotes (" "), or backticks ( ).</a:t>
            </a: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br>
              <a:rPr lang="en-US" sz="1800" dirty="0">
                <a:solidFill>
                  <a:schemeClr val="tx1"/>
                </a:solidFill>
                <a:latin typeface="Eras Medium ITC" panose="020B0602030504020804" pitchFamily="34" charset="0"/>
              </a:rPr>
            </a:br>
            <a:endParaRPr lang="en-US" sz="1800" dirty="0">
              <a:solidFill>
                <a:schemeClr val="tx1"/>
              </a:solidFill>
              <a:latin typeface="Eras Medium ITC" panose="020B0602030504020804" pitchFamily="34" charset="0"/>
            </a:endParaRPr>
          </a:p>
        </p:txBody>
      </p:sp>
      <p:pic>
        <p:nvPicPr>
          <p:cNvPr id="5" name="Picture 4">
            <a:extLst>
              <a:ext uri="{FF2B5EF4-FFF2-40B4-BE49-F238E27FC236}">
                <a16:creationId xmlns:a16="http://schemas.microsoft.com/office/drawing/2014/main" id="{D139C890-5264-33F1-A6A9-2F3D18F93BCE}"/>
              </a:ext>
            </a:extLst>
          </p:cNvPr>
          <p:cNvPicPr>
            <a:picLocks noChangeAspect="1"/>
          </p:cNvPicPr>
          <p:nvPr/>
        </p:nvPicPr>
        <p:blipFill>
          <a:blip r:embed="rId2"/>
          <a:srcRect l="-1" r="14971"/>
          <a:stretch>
            <a:fillRect/>
          </a:stretch>
        </p:blipFill>
        <p:spPr>
          <a:xfrm>
            <a:off x="1053026" y="2253497"/>
            <a:ext cx="4921905" cy="1320800"/>
          </a:xfrm>
          <a:prstGeom prst="rect">
            <a:avLst/>
          </a:prstGeom>
        </p:spPr>
      </p:pic>
      <p:pic>
        <p:nvPicPr>
          <p:cNvPr id="7" name="Picture 6">
            <a:extLst>
              <a:ext uri="{FF2B5EF4-FFF2-40B4-BE49-F238E27FC236}">
                <a16:creationId xmlns:a16="http://schemas.microsoft.com/office/drawing/2014/main" id="{122CE50A-C3B1-9013-F6AF-93DACE1156C7}"/>
              </a:ext>
            </a:extLst>
          </p:cNvPr>
          <p:cNvPicPr>
            <a:picLocks noChangeAspect="1"/>
          </p:cNvPicPr>
          <p:nvPr/>
        </p:nvPicPr>
        <p:blipFill>
          <a:blip r:embed="rId3"/>
          <a:stretch>
            <a:fillRect/>
          </a:stretch>
        </p:blipFill>
        <p:spPr>
          <a:xfrm>
            <a:off x="1053026" y="3668794"/>
            <a:ext cx="4921905" cy="1634581"/>
          </a:xfrm>
          <a:prstGeom prst="rect">
            <a:avLst/>
          </a:prstGeom>
        </p:spPr>
      </p:pic>
      <p:sp>
        <p:nvSpPr>
          <p:cNvPr id="8" name="TextBox 7">
            <a:extLst>
              <a:ext uri="{FF2B5EF4-FFF2-40B4-BE49-F238E27FC236}">
                <a16:creationId xmlns:a16="http://schemas.microsoft.com/office/drawing/2014/main" id="{50762D64-4212-485A-4D3D-D087BCDE9CAB}"/>
              </a:ext>
            </a:extLst>
          </p:cNvPr>
          <p:cNvSpPr txBox="1"/>
          <p:nvPr/>
        </p:nvSpPr>
        <p:spPr>
          <a:xfrm>
            <a:off x="6278880" y="2444356"/>
            <a:ext cx="2667000" cy="3139321"/>
          </a:xfrm>
          <a:prstGeom prst="rect">
            <a:avLst/>
          </a:prstGeom>
          <a:noFill/>
        </p:spPr>
        <p:txBody>
          <a:bodyPr wrap="square" rtlCol="0">
            <a:spAutoFit/>
          </a:bodyPr>
          <a:lstStyle/>
          <a:p>
            <a:pPr marL="285750" indent="-285750">
              <a:buFont typeface="Wingdings" panose="05000000000000000000" pitchFamily="2" charset="2"/>
              <a:buChar char="v"/>
            </a:pPr>
            <a:r>
              <a:rPr lang="en-US" b="1" dirty="0">
                <a:solidFill>
                  <a:schemeClr val="accent1"/>
                </a:solidFill>
                <a:latin typeface="Eras Medium ITC" panose="020B0602030504020804" pitchFamily="34" charset="0"/>
              </a:rPr>
              <a:t>Why do we use Strings?</a:t>
            </a:r>
            <a:br>
              <a:rPr lang="en-US" b="1" dirty="0">
                <a:latin typeface="Eras Medium ITC" panose="020B0602030504020804" pitchFamily="34" charset="0"/>
              </a:rPr>
            </a:br>
            <a:r>
              <a:rPr lang="en-US" dirty="0">
                <a:latin typeface="Eras Medium ITC" panose="020B0602030504020804" pitchFamily="34" charset="0"/>
              </a:rPr>
              <a:t>Strings are used to store and display textual information such as names, addresses, messages, emails, passwords, and other text-based data.</a:t>
            </a:r>
            <a:br>
              <a:rPr lang="en-US" dirty="0">
                <a:latin typeface="Eras Medium ITC" panose="020B0602030504020804" pitchFamily="34" charset="0"/>
              </a:rPr>
            </a:br>
            <a:endParaRPr lang="en-US" dirty="0">
              <a:latin typeface="Eras Medium ITC" panose="020B0602030504020804" pitchFamily="34" charset="0"/>
            </a:endParaRPr>
          </a:p>
        </p:txBody>
      </p:sp>
    </p:spTree>
    <p:extLst>
      <p:ext uri="{BB962C8B-B14F-4D97-AF65-F5344CB8AC3E}">
        <p14:creationId xmlns:p14="http://schemas.microsoft.com/office/powerpoint/2010/main" val="1283403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35CDA-76E7-29CE-5782-491D36FDE33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702B0A-A40C-72C0-9CB2-1375F79B74ED}"/>
              </a:ext>
            </a:extLst>
          </p:cNvPr>
          <p:cNvSpPr txBox="1"/>
          <p:nvPr/>
        </p:nvSpPr>
        <p:spPr>
          <a:xfrm>
            <a:off x="985586" y="2571561"/>
            <a:ext cx="6226386" cy="3416320"/>
          </a:xfrm>
          <a:prstGeom prst="rect">
            <a:avLst/>
          </a:prstGeom>
          <a:noFill/>
        </p:spPr>
        <p:txBody>
          <a:bodyPr wrap="square" numCol="2" spcCol="0" rtlCol="0">
            <a:spAutoFit/>
          </a:bodyPr>
          <a:lstStyle/>
          <a:p>
            <a:pPr marL="342900" indent="-342900">
              <a:buFont typeface="+mj-lt"/>
              <a:buAutoNum type="arabicParenR"/>
            </a:pPr>
            <a:r>
              <a:rPr lang="en-US" dirty="0">
                <a:latin typeface="Eras Medium ITC" panose="020B0602030504020804" pitchFamily="34" charset="0"/>
              </a:rPr>
              <a:t>length </a:t>
            </a:r>
          </a:p>
          <a:p>
            <a:pPr marL="342900" indent="-342900">
              <a:buFont typeface="+mj-lt"/>
              <a:buAutoNum type="arabicParenR"/>
            </a:pPr>
            <a:r>
              <a:rPr lang="en-US" dirty="0">
                <a:latin typeface="Eras Medium ITC" panose="020B0602030504020804" pitchFamily="34" charset="0"/>
              </a:rPr>
              <a:t>toLowerCase()</a:t>
            </a:r>
          </a:p>
          <a:p>
            <a:pPr marL="342900" indent="-342900">
              <a:buFont typeface="+mj-lt"/>
              <a:buAutoNum type="arabicParenR"/>
            </a:pPr>
            <a:r>
              <a:rPr lang="en-US" dirty="0" err="1">
                <a:latin typeface="Eras Medium ITC" panose="020B0602030504020804" pitchFamily="34" charset="0"/>
              </a:rPr>
              <a:t>toUpperCase</a:t>
            </a:r>
            <a:r>
              <a:rPr lang="en-US" dirty="0">
                <a:latin typeface="Eras Medium ITC" panose="020B0602030504020804" pitchFamily="34" charset="0"/>
              </a:rPr>
              <a:t>()</a:t>
            </a:r>
          </a:p>
          <a:p>
            <a:pPr marL="342900" indent="-342900">
              <a:buFont typeface="+mj-lt"/>
              <a:buAutoNum type="arabicParenR"/>
            </a:pPr>
            <a:r>
              <a:rPr lang="en-US" dirty="0">
                <a:latin typeface="Eras Medium ITC" panose="020B0602030504020804" pitchFamily="34" charset="0"/>
              </a:rPr>
              <a:t>includes() </a:t>
            </a:r>
          </a:p>
          <a:p>
            <a:pPr marL="342900" indent="-342900">
              <a:buFont typeface="+mj-lt"/>
              <a:buAutoNum type="arabicParenR"/>
            </a:pPr>
            <a:r>
              <a:rPr lang="en-US" dirty="0" err="1">
                <a:latin typeface="Eras Medium ITC" panose="020B0602030504020804" pitchFamily="34" charset="0"/>
              </a:rPr>
              <a:t>startsWith</a:t>
            </a:r>
            <a:r>
              <a:rPr lang="en-US" dirty="0">
                <a:latin typeface="Eras Medium ITC" panose="020B0602030504020804" pitchFamily="34" charset="0"/>
              </a:rPr>
              <a:t>() </a:t>
            </a:r>
          </a:p>
          <a:p>
            <a:pPr marL="342900" indent="-342900">
              <a:buFont typeface="+mj-lt"/>
              <a:buAutoNum type="arabicParenR"/>
            </a:pPr>
            <a:r>
              <a:rPr lang="en-US" dirty="0" err="1">
                <a:latin typeface="Eras Medium ITC" panose="020B0602030504020804" pitchFamily="34" charset="0"/>
              </a:rPr>
              <a:t>endsWith</a:t>
            </a:r>
            <a:r>
              <a:rPr lang="en-US" dirty="0">
                <a:latin typeface="Eras Medium ITC" panose="020B0602030504020804" pitchFamily="34" charset="0"/>
              </a:rPr>
              <a:t>() </a:t>
            </a:r>
          </a:p>
          <a:p>
            <a:pPr marL="342900" indent="-342900">
              <a:buFont typeface="+mj-lt"/>
              <a:buAutoNum type="arabicParenR"/>
            </a:pPr>
            <a:r>
              <a:rPr lang="en-US" dirty="0">
                <a:latin typeface="Eras Medium ITC" panose="020B0602030504020804" pitchFamily="34" charset="0"/>
              </a:rPr>
              <a:t>search() </a:t>
            </a:r>
          </a:p>
          <a:p>
            <a:pPr marL="342900" indent="-342900">
              <a:buFont typeface="+mj-lt"/>
              <a:buAutoNum type="arabicParenR"/>
            </a:pPr>
            <a:r>
              <a:rPr lang="en-US" dirty="0">
                <a:latin typeface="Eras Medium ITC" panose="020B0602030504020804" pitchFamily="34" charset="0"/>
              </a:rPr>
              <a:t>match() </a:t>
            </a:r>
          </a:p>
          <a:p>
            <a:pPr marL="342900" indent="-342900">
              <a:buFont typeface="+mj-lt"/>
              <a:buAutoNum type="arabicParenR"/>
            </a:pPr>
            <a:r>
              <a:rPr lang="en-US" dirty="0">
                <a:latin typeface="Eras Medium ITC" panose="020B0602030504020804" pitchFamily="34" charset="0"/>
              </a:rPr>
              <a:t>indexOf() </a:t>
            </a:r>
          </a:p>
          <a:p>
            <a:pPr marL="342900" indent="-342900">
              <a:buFont typeface="+mj-lt"/>
              <a:buAutoNum type="arabicParenR"/>
            </a:pPr>
            <a:r>
              <a:rPr lang="en-US" dirty="0">
                <a:latin typeface="Eras Medium ITC" panose="020B0602030504020804" pitchFamily="34" charset="0"/>
              </a:rPr>
              <a:t>lastIndexOf() </a:t>
            </a:r>
          </a:p>
          <a:p>
            <a:pPr marL="342900" indent="-342900">
              <a:buFont typeface="+mj-lt"/>
              <a:buAutoNum type="arabicParenR"/>
            </a:pPr>
            <a:r>
              <a:rPr lang="en-US" dirty="0">
                <a:latin typeface="Eras Medium ITC" panose="020B0602030504020804" pitchFamily="34" charset="0"/>
              </a:rPr>
              <a:t>replace()</a:t>
            </a:r>
          </a:p>
          <a:p>
            <a:pPr marL="342900" indent="-342900">
              <a:buFont typeface="+mj-lt"/>
              <a:buAutoNum type="arabicParenR"/>
            </a:pPr>
            <a:r>
              <a:rPr lang="en-US" dirty="0">
                <a:latin typeface="Eras Medium ITC" panose="020B0602030504020804" pitchFamily="34" charset="0"/>
              </a:rPr>
              <a:t>trim() </a:t>
            </a:r>
          </a:p>
          <a:p>
            <a:pPr marL="342900" indent="-342900">
              <a:buFont typeface="+mj-lt"/>
              <a:buAutoNum type="arabicParenR"/>
            </a:pPr>
            <a:r>
              <a:rPr lang="en-US" dirty="0" err="1">
                <a:latin typeface="Eras Medium ITC" panose="020B0602030504020804" pitchFamily="34" charset="0"/>
              </a:rPr>
              <a:t>charAt</a:t>
            </a:r>
            <a:r>
              <a:rPr lang="en-US" dirty="0">
                <a:latin typeface="Eras Medium ITC" panose="020B0602030504020804" pitchFamily="34" charset="0"/>
              </a:rPr>
              <a:t>() </a:t>
            </a:r>
          </a:p>
          <a:p>
            <a:pPr marL="342900" indent="-342900">
              <a:buFont typeface="+mj-lt"/>
              <a:buAutoNum type="arabicParenR"/>
            </a:pPr>
            <a:r>
              <a:rPr lang="en-US" dirty="0">
                <a:latin typeface="Eras Medium ITC" panose="020B0602030504020804" pitchFamily="34" charset="0"/>
              </a:rPr>
              <a:t>concat() </a:t>
            </a:r>
          </a:p>
          <a:p>
            <a:pPr marL="342900" indent="-342900">
              <a:buFont typeface="+mj-lt"/>
              <a:buAutoNum type="arabicParenR"/>
            </a:pPr>
            <a:r>
              <a:rPr lang="en-US" dirty="0">
                <a:latin typeface="Eras Medium ITC" panose="020B0602030504020804" pitchFamily="34" charset="0"/>
              </a:rPr>
              <a:t>split() </a:t>
            </a:r>
          </a:p>
          <a:p>
            <a:pPr marL="342900" indent="-342900">
              <a:buFont typeface="+mj-lt"/>
              <a:buAutoNum type="arabicParenR"/>
            </a:pPr>
            <a:r>
              <a:rPr lang="en-US" dirty="0">
                <a:latin typeface="Eras Medium ITC" panose="020B0602030504020804" pitchFamily="34" charset="0"/>
              </a:rPr>
              <a:t>repeat() </a:t>
            </a:r>
          </a:p>
          <a:p>
            <a:pPr marL="342900" indent="-342900">
              <a:buFont typeface="+mj-lt"/>
              <a:buAutoNum type="arabicParenR"/>
            </a:pPr>
            <a:r>
              <a:rPr lang="en-US" dirty="0">
                <a:latin typeface="Eras Medium ITC" panose="020B0602030504020804" pitchFamily="34" charset="0"/>
              </a:rPr>
              <a:t>slice() </a:t>
            </a:r>
          </a:p>
          <a:p>
            <a:pPr marL="342900" indent="-342900">
              <a:buFont typeface="+mj-lt"/>
              <a:buAutoNum type="arabicParenR"/>
            </a:pPr>
            <a:r>
              <a:rPr lang="en-US" dirty="0" err="1">
                <a:latin typeface="Eras Medium ITC" panose="020B0602030504020804" pitchFamily="34" charset="0"/>
              </a:rPr>
              <a:t>substr</a:t>
            </a:r>
            <a:r>
              <a:rPr lang="en-US" dirty="0">
                <a:latin typeface="Eras Medium ITC" panose="020B0602030504020804" pitchFamily="34" charset="0"/>
              </a:rPr>
              <a:t>() </a:t>
            </a:r>
          </a:p>
          <a:p>
            <a:pPr marL="342900" indent="-342900">
              <a:buFont typeface="+mj-lt"/>
              <a:buAutoNum type="arabicParenR"/>
            </a:pPr>
            <a:r>
              <a:rPr lang="en-US" dirty="0">
                <a:latin typeface="Eras Medium ITC" panose="020B0602030504020804" pitchFamily="34" charset="0"/>
              </a:rPr>
              <a:t>substring() </a:t>
            </a:r>
          </a:p>
          <a:p>
            <a:pPr marL="342900" indent="-342900">
              <a:buFont typeface="+mj-lt"/>
              <a:buAutoNum type="arabicParenR"/>
            </a:pPr>
            <a:r>
              <a:rPr lang="en-US" dirty="0">
                <a:latin typeface="Eras Medium ITC" panose="020B0602030504020804" pitchFamily="34" charset="0"/>
              </a:rPr>
              <a:t>toString() </a:t>
            </a:r>
          </a:p>
          <a:p>
            <a:pPr marL="342900" indent="-342900">
              <a:buFont typeface="+mj-lt"/>
              <a:buAutoNum type="arabicParenR"/>
            </a:pPr>
            <a:r>
              <a:rPr lang="en-US" dirty="0">
                <a:latin typeface="Eras Medium ITC" panose="020B0602030504020804" pitchFamily="34" charset="0"/>
              </a:rPr>
              <a:t>valueOf()</a:t>
            </a:r>
          </a:p>
          <a:p>
            <a:pPr marL="342900" indent="-342900">
              <a:buFont typeface="+mj-lt"/>
              <a:buAutoNum type="arabicParenR"/>
            </a:pPr>
            <a:r>
              <a:rPr lang="en-US" dirty="0">
                <a:latin typeface="Eras Medium ITC" panose="020B0602030504020804" pitchFamily="34" charset="0"/>
              </a:rPr>
              <a:t>charCodeAt() </a:t>
            </a:r>
          </a:p>
          <a:p>
            <a:pPr marL="342900" indent="-342900">
              <a:buFont typeface="+mj-lt"/>
              <a:buAutoNum type="arabicParenR"/>
            </a:pPr>
            <a:r>
              <a:rPr lang="en-US" dirty="0" err="1">
                <a:latin typeface="Eras Medium ITC" panose="020B0602030504020804" pitchFamily="34" charset="0"/>
              </a:rPr>
              <a:t>String.fromCharCode</a:t>
            </a:r>
            <a:r>
              <a:rPr lang="en-US" dirty="0">
                <a:latin typeface="Eras Medium ITC" panose="020B0602030504020804" pitchFamily="34" charset="0"/>
              </a:rPr>
              <a:t>()</a:t>
            </a:r>
          </a:p>
        </p:txBody>
      </p:sp>
      <p:sp>
        <p:nvSpPr>
          <p:cNvPr id="6" name="TextBox 5">
            <a:extLst>
              <a:ext uri="{FF2B5EF4-FFF2-40B4-BE49-F238E27FC236}">
                <a16:creationId xmlns:a16="http://schemas.microsoft.com/office/drawing/2014/main" id="{7AF57636-170F-48E0-BD31-40E7CE23C659}"/>
              </a:ext>
            </a:extLst>
          </p:cNvPr>
          <p:cNvSpPr txBox="1"/>
          <p:nvPr/>
        </p:nvSpPr>
        <p:spPr>
          <a:xfrm>
            <a:off x="781050" y="896431"/>
            <a:ext cx="8451426" cy="369332"/>
          </a:xfrm>
          <a:prstGeom prst="rect">
            <a:avLst/>
          </a:prstGeom>
          <a:noFill/>
        </p:spPr>
        <p:txBody>
          <a:bodyPr wrap="square" numCol="1" spcCol="0" rtlCol="0">
            <a:spAutoFit/>
          </a:bodyPr>
          <a:lstStyle/>
          <a:p>
            <a:pPr algn="ctr"/>
            <a:r>
              <a:rPr lang="en-US" b="1" u="sng" dirty="0">
                <a:solidFill>
                  <a:schemeClr val="accent1"/>
                </a:solidFill>
                <a:latin typeface="Eras Medium ITC" panose="020B0602030504020804" pitchFamily="34" charset="0"/>
              </a:rPr>
              <a:t>STRING METHODS</a:t>
            </a:r>
            <a:endParaRPr lang="en-US" dirty="0">
              <a:solidFill>
                <a:schemeClr val="accent1"/>
              </a:solidFill>
              <a:latin typeface="Eras Medium ITC" panose="020B0602030504020804" pitchFamily="34" charset="0"/>
            </a:endParaRPr>
          </a:p>
        </p:txBody>
      </p:sp>
      <p:sp>
        <p:nvSpPr>
          <p:cNvPr id="10" name="TextBox 9">
            <a:extLst>
              <a:ext uri="{FF2B5EF4-FFF2-40B4-BE49-F238E27FC236}">
                <a16:creationId xmlns:a16="http://schemas.microsoft.com/office/drawing/2014/main" id="{D886891B-157B-30DD-5E83-14E0E7A300D7}"/>
              </a:ext>
            </a:extLst>
          </p:cNvPr>
          <p:cNvSpPr txBox="1"/>
          <p:nvPr/>
        </p:nvSpPr>
        <p:spPr>
          <a:xfrm>
            <a:off x="873292" y="1382236"/>
            <a:ext cx="7965908" cy="923330"/>
          </a:xfrm>
          <a:prstGeom prst="rect">
            <a:avLst/>
          </a:prstGeom>
          <a:noFill/>
        </p:spPr>
        <p:txBody>
          <a:bodyPr wrap="square">
            <a:spAutoFit/>
          </a:bodyPr>
          <a:lstStyle/>
          <a:p>
            <a:r>
              <a:rPr lang="en-US" sz="1800" dirty="0">
                <a:latin typeface="Eras Medium ITC" panose="020B0602030504020804" pitchFamily="34" charset="0"/>
              </a:rPr>
              <a:t>They are </a:t>
            </a:r>
            <a:r>
              <a:rPr lang="en-US" sz="1800" b="1" dirty="0">
                <a:latin typeface="Eras Medium ITC" panose="020B0602030504020804" pitchFamily="34" charset="0"/>
              </a:rPr>
              <a:t>built-in JavaScript functions</a:t>
            </a:r>
            <a:r>
              <a:rPr lang="en-US" sz="1800" dirty="0">
                <a:latin typeface="Eras Medium ITC" panose="020B0602030504020804" pitchFamily="34" charset="0"/>
              </a:rPr>
              <a:t> that help us perform different operations on strings. They allow us to search, modify, compare, combine, and extract text without writing long code.</a:t>
            </a:r>
          </a:p>
        </p:txBody>
      </p:sp>
    </p:spTree>
    <p:extLst>
      <p:ext uri="{BB962C8B-B14F-4D97-AF65-F5344CB8AC3E}">
        <p14:creationId xmlns:p14="http://schemas.microsoft.com/office/powerpoint/2010/main" val="2901704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F42D22-C8D6-710F-4992-ED9CD58324B8}"/>
              </a:ext>
            </a:extLst>
          </p:cNvPr>
          <p:cNvSpPr txBox="1"/>
          <p:nvPr/>
        </p:nvSpPr>
        <p:spPr>
          <a:xfrm>
            <a:off x="818147" y="793122"/>
            <a:ext cx="8069179" cy="4524315"/>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1. length</a:t>
            </a:r>
          </a:p>
          <a:p>
            <a:r>
              <a:rPr lang="en-US" dirty="0">
                <a:latin typeface="Eras Medium ITC" panose="020B0602030504020804" pitchFamily="34" charset="0"/>
              </a:rPr>
              <a:t>The </a:t>
            </a:r>
            <a:r>
              <a:rPr lang="en-US" b="1" dirty="0">
                <a:latin typeface="Eras Medium ITC" panose="020B0602030504020804" pitchFamily="34" charset="0"/>
              </a:rPr>
              <a:t>length</a:t>
            </a:r>
            <a:r>
              <a:rPr lang="en-US" dirty="0">
                <a:latin typeface="Eras Medium ITC" panose="020B0602030504020804" pitchFamily="34" charset="0"/>
              </a:rPr>
              <a:t> property returns the total number of characters in a string. It counts every character, including letters, numbers, spaces, and special symbols.</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r>
              <a:rPr lang="en-US" b="1" dirty="0">
                <a:solidFill>
                  <a:schemeClr val="accent1"/>
                </a:solidFill>
                <a:latin typeface="Eras Medium ITC" panose="020B0602030504020804" pitchFamily="34" charset="0"/>
              </a:rPr>
              <a:t>2</a:t>
            </a:r>
            <a:r>
              <a:rPr lang="en-US" b="1" u="sng" dirty="0">
                <a:solidFill>
                  <a:schemeClr val="accent1"/>
                </a:solidFill>
                <a:latin typeface="Eras Medium ITC" panose="020B0602030504020804" pitchFamily="34" charset="0"/>
              </a:rPr>
              <a:t>. toLowerCase()</a:t>
            </a:r>
          </a:p>
          <a:p>
            <a:r>
              <a:rPr lang="en-US" dirty="0">
                <a:latin typeface="Eras Medium ITC" panose="020B0602030504020804" pitchFamily="34" charset="0"/>
              </a:rPr>
              <a:t>This method converts all uppercase letters in a string into lowercase letters. It returns a new string without changing the original string.</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p:txBody>
      </p:sp>
      <p:pic>
        <p:nvPicPr>
          <p:cNvPr id="6" name="Picture 5">
            <a:extLst>
              <a:ext uri="{FF2B5EF4-FFF2-40B4-BE49-F238E27FC236}">
                <a16:creationId xmlns:a16="http://schemas.microsoft.com/office/drawing/2014/main" id="{791295BA-0EA4-4F50-2223-95CEC6A57C97}"/>
              </a:ext>
            </a:extLst>
          </p:cNvPr>
          <p:cNvPicPr>
            <a:picLocks noChangeAspect="1"/>
          </p:cNvPicPr>
          <p:nvPr/>
        </p:nvPicPr>
        <p:blipFill>
          <a:blip r:embed="rId2"/>
          <a:srcRect l="13724" t="9085" r="8116" b="3965"/>
          <a:stretch>
            <a:fillRect/>
          </a:stretch>
        </p:blipFill>
        <p:spPr>
          <a:xfrm>
            <a:off x="934719" y="2153576"/>
            <a:ext cx="5374641" cy="1045622"/>
          </a:xfrm>
          <a:prstGeom prst="rect">
            <a:avLst/>
          </a:prstGeom>
        </p:spPr>
      </p:pic>
      <p:pic>
        <p:nvPicPr>
          <p:cNvPr id="8" name="Picture 7">
            <a:extLst>
              <a:ext uri="{FF2B5EF4-FFF2-40B4-BE49-F238E27FC236}">
                <a16:creationId xmlns:a16="http://schemas.microsoft.com/office/drawing/2014/main" id="{2CDF6B11-CA09-1293-D335-2EDB2767DDE7}"/>
              </a:ext>
            </a:extLst>
          </p:cNvPr>
          <p:cNvPicPr>
            <a:picLocks noChangeAspect="1"/>
          </p:cNvPicPr>
          <p:nvPr/>
        </p:nvPicPr>
        <p:blipFill>
          <a:blip r:embed="rId3"/>
          <a:srcRect r="16556"/>
          <a:stretch>
            <a:fillRect/>
          </a:stretch>
        </p:blipFill>
        <p:spPr>
          <a:xfrm>
            <a:off x="6606339" y="2507920"/>
            <a:ext cx="1984008" cy="685859"/>
          </a:xfrm>
          <a:prstGeom prst="rect">
            <a:avLst/>
          </a:prstGeom>
          <a:ln>
            <a:solidFill>
              <a:schemeClr val="accent1"/>
            </a:solidFill>
          </a:ln>
        </p:spPr>
      </p:pic>
      <p:pic>
        <p:nvPicPr>
          <p:cNvPr id="10" name="Picture 9">
            <a:extLst>
              <a:ext uri="{FF2B5EF4-FFF2-40B4-BE49-F238E27FC236}">
                <a16:creationId xmlns:a16="http://schemas.microsoft.com/office/drawing/2014/main" id="{FA948AB5-0A8E-953F-F2A7-1C37B11DF880}"/>
              </a:ext>
            </a:extLst>
          </p:cNvPr>
          <p:cNvPicPr>
            <a:picLocks noChangeAspect="1"/>
          </p:cNvPicPr>
          <p:nvPr/>
        </p:nvPicPr>
        <p:blipFill>
          <a:blip r:embed="rId4"/>
          <a:srcRect r="3848"/>
          <a:stretch>
            <a:fillRect/>
          </a:stretch>
        </p:blipFill>
        <p:spPr>
          <a:xfrm>
            <a:off x="919479" y="4559652"/>
            <a:ext cx="7127241" cy="1109227"/>
          </a:xfrm>
          <a:prstGeom prst="rect">
            <a:avLst/>
          </a:prstGeom>
        </p:spPr>
      </p:pic>
    </p:spTree>
    <p:extLst>
      <p:ext uri="{BB962C8B-B14F-4D97-AF65-F5344CB8AC3E}">
        <p14:creationId xmlns:p14="http://schemas.microsoft.com/office/powerpoint/2010/main" val="196809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7190A-9428-20C4-C5AD-784C1C88F31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B171F8D-7616-289B-52B0-F4E25A92A8C5}"/>
              </a:ext>
            </a:extLst>
          </p:cNvPr>
          <p:cNvSpPr txBox="1"/>
          <p:nvPr/>
        </p:nvSpPr>
        <p:spPr>
          <a:xfrm>
            <a:off x="848627" y="2911482"/>
            <a:ext cx="8069179" cy="923330"/>
          </a:xfrm>
          <a:prstGeom prst="rect">
            <a:avLst/>
          </a:prstGeom>
          <a:noFill/>
          <a:ln>
            <a:noFill/>
          </a:ln>
        </p:spPr>
        <p:txBody>
          <a:bodyPr wrap="square" rtlCol="0">
            <a:spAutoFit/>
          </a:bodyPr>
          <a:lstStyle/>
          <a:p>
            <a:r>
              <a:rPr lang="en-US" b="1" u="sng" dirty="0">
                <a:solidFill>
                  <a:schemeClr val="accent1"/>
                </a:solidFill>
                <a:latin typeface="Eras Medium ITC" panose="020B0602030504020804" pitchFamily="34" charset="0"/>
              </a:rPr>
              <a:t>3. </a:t>
            </a:r>
            <a:r>
              <a:rPr lang="en-US" b="1" u="sng" dirty="0" err="1">
                <a:solidFill>
                  <a:schemeClr val="accent1"/>
                </a:solidFill>
                <a:latin typeface="Eras Medium ITC" panose="020B0602030504020804" pitchFamily="34" charset="0"/>
              </a:rPr>
              <a:t>toUpperCase</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converts all lowercase letters in a string into uppercase letters. It returns a new string without modifying the original string.</a:t>
            </a:r>
          </a:p>
        </p:txBody>
      </p:sp>
      <p:pic>
        <p:nvPicPr>
          <p:cNvPr id="3" name="Picture 2">
            <a:extLst>
              <a:ext uri="{FF2B5EF4-FFF2-40B4-BE49-F238E27FC236}">
                <a16:creationId xmlns:a16="http://schemas.microsoft.com/office/drawing/2014/main" id="{CC0E763B-CD13-28AA-CBCA-02CBAB139971}"/>
              </a:ext>
            </a:extLst>
          </p:cNvPr>
          <p:cNvPicPr>
            <a:picLocks noChangeAspect="1"/>
          </p:cNvPicPr>
          <p:nvPr/>
        </p:nvPicPr>
        <p:blipFill>
          <a:blip r:embed="rId2"/>
          <a:stretch>
            <a:fillRect/>
          </a:stretch>
        </p:blipFill>
        <p:spPr>
          <a:xfrm>
            <a:off x="954081" y="1028249"/>
            <a:ext cx="4625568" cy="573118"/>
          </a:xfrm>
          <a:prstGeom prst="rect">
            <a:avLst/>
          </a:prstGeom>
          <a:ln>
            <a:solidFill>
              <a:schemeClr val="accent1"/>
            </a:solidFill>
          </a:ln>
        </p:spPr>
      </p:pic>
      <p:pic>
        <p:nvPicPr>
          <p:cNvPr id="7" name="Picture 6">
            <a:extLst>
              <a:ext uri="{FF2B5EF4-FFF2-40B4-BE49-F238E27FC236}">
                <a16:creationId xmlns:a16="http://schemas.microsoft.com/office/drawing/2014/main" id="{FA314741-5D49-AE64-A856-2895BE890391}"/>
              </a:ext>
            </a:extLst>
          </p:cNvPr>
          <p:cNvPicPr>
            <a:picLocks noChangeAspect="1"/>
          </p:cNvPicPr>
          <p:nvPr/>
        </p:nvPicPr>
        <p:blipFill>
          <a:blip r:embed="rId3"/>
          <a:srcRect r="4624"/>
          <a:stretch>
            <a:fillRect/>
          </a:stretch>
        </p:blipFill>
        <p:spPr>
          <a:xfrm>
            <a:off x="928207" y="3947117"/>
            <a:ext cx="7789073" cy="1219766"/>
          </a:xfrm>
          <a:prstGeom prst="rect">
            <a:avLst/>
          </a:prstGeom>
        </p:spPr>
      </p:pic>
      <p:pic>
        <p:nvPicPr>
          <p:cNvPr id="11" name="Picture 10">
            <a:extLst>
              <a:ext uri="{FF2B5EF4-FFF2-40B4-BE49-F238E27FC236}">
                <a16:creationId xmlns:a16="http://schemas.microsoft.com/office/drawing/2014/main" id="{46CA9E57-AA7B-70C1-DF6D-176143AECB2B}"/>
              </a:ext>
            </a:extLst>
          </p:cNvPr>
          <p:cNvPicPr>
            <a:picLocks noChangeAspect="1"/>
          </p:cNvPicPr>
          <p:nvPr/>
        </p:nvPicPr>
        <p:blipFill>
          <a:blip r:embed="rId4"/>
          <a:stretch>
            <a:fillRect/>
          </a:stretch>
        </p:blipFill>
        <p:spPr>
          <a:xfrm>
            <a:off x="928207" y="5304589"/>
            <a:ext cx="5574193" cy="482262"/>
          </a:xfrm>
          <a:prstGeom prst="rect">
            <a:avLst/>
          </a:prstGeom>
          <a:ln>
            <a:solidFill>
              <a:schemeClr val="accent1"/>
            </a:solidFill>
          </a:ln>
        </p:spPr>
      </p:pic>
      <p:sp>
        <p:nvSpPr>
          <p:cNvPr id="13" name="TextBox 12">
            <a:extLst>
              <a:ext uri="{FF2B5EF4-FFF2-40B4-BE49-F238E27FC236}">
                <a16:creationId xmlns:a16="http://schemas.microsoft.com/office/drawing/2014/main" id="{F9CC1BAF-2CEC-C54C-2F2B-B8DE09D19483}"/>
              </a:ext>
            </a:extLst>
          </p:cNvPr>
          <p:cNvSpPr txBox="1"/>
          <p:nvPr/>
        </p:nvSpPr>
        <p:spPr>
          <a:xfrm>
            <a:off x="926115" y="1677567"/>
            <a:ext cx="8069179" cy="923330"/>
          </a:xfrm>
          <a:prstGeom prst="rect">
            <a:avLst/>
          </a:prstGeom>
          <a:noFill/>
          <a:ln>
            <a:noFill/>
          </a:ln>
        </p:spPr>
        <p:txBody>
          <a:bodyPr wrap="square" rtlCol="0">
            <a:spAutoFit/>
          </a:bodyPr>
          <a:lstStyle/>
          <a:p>
            <a:r>
              <a:rPr lang="en-US" dirty="0">
                <a:latin typeface="Eras Medium ITC" panose="020B0602030504020804" pitchFamily="34" charset="0"/>
              </a:rPr>
              <a:t>In this, the string </a:t>
            </a:r>
            <a:r>
              <a:rPr lang="en-US" b="1" dirty="0">
                <a:latin typeface="Eras Medium ITC" panose="020B0602030504020804" pitchFamily="34" charset="0"/>
              </a:rPr>
              <a:t>“	HELLO MY FRIEND!"</a:t>
            </a:r>
            <a:r>
              <a:rPr lang="en-US" dirty="0">
                <a:latin typeface="Eras Medium ITC" panose="020B0602030504020804" pitchFamily="34" charset="0"/>
              </a:rPr>
              <a:t> is stored in the variable </a:t>
            </a:r>
            <a:r>
              <a:rPr lang="en-US" b="1" dirty="0">
                <a:latin typeface="Eras Medium ITC" panose="020B0602030504020804" pitchFamily="34" charset="0"/>
              </a:rPr>
              <a:t>text</a:t>
            </a:r>
            <a:r>
              <a:rPr lang="en-US" dirty="0">
                <a:latin typeface="Eras Medium ITC" panose="020B0602030504020804" pitchFamily="34" charset="0"/>
              </a:rPr>
              <a:t>. The </a:t>
            </a:r>
            <a:r>
              <a:rPr lang="en-US" b="1" dirty="0">
                <a:latin typeface="Eras Medium ITC" panose="020B0602030504020804" pitchFamily="34" charset="0"/>
              </a:rPr>
              <a:t>toLowerCase()</a:t>
            </a:r>
            <a:r>
              <a:rPr lang="en-US" dirty="0">
                <a:latin typeface="Eras Medium ITC" panose="020B0602030504020804" pitchFamily="34" charset="0"/>
              </a:rPr>
              <a:t> method converts every uppercase letter into lowercase and displays </a:t>
            </a:r>
            <a:r>
              <a:rPr lang="en-US" b="1" dirty="0">
                <a:latin typeface="Eras Medium ITC" panose="020B0602030504020804" pitchFamily="34" charset="0"/>
              </a:rPr>
              <a:t>"hello my friend"</a:t>
            </a:r>
            <a:r>
              <a:rPr lang="en-US" dirty="0">
                <a:latin typeface="Eras Medium ITC" panose="020B0602030504020804" pitchFamily="34" charset="0"/>
              </a:rPr>
              <a:t>. The original string remains unchanged.</a:t>
            </a:r>
          </a:p>
        </p:txBody>
      </p:sp>
    </p:spTree>
    <p:extLst>
      <p:ext uri="{BB962C8B-B14F-4D97-AF65-F5344CB8AC3E}">
        <p14:creationId xmlns:p14="http://schemas.microsoft.com/office/powerpoint/2010/main" val="667750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CCA7D-7EB4-9C23-26FE-D98A05310AB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2511E7-0687-A5C3-1F39-03E155EB821A}"/>
              </a:ext>
            </a:extLst>
          </p:cNvPr>
          <p:cNvSpPr txBox="1"/>
          <p:nvPr/>
        </p:nvSpPr>
        <p:spPr>
          <a:xfrm>
            <a:off x="818147" y="793122"/>
            <a:ext cx="7929613" cy="5447645"/>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4. includes()</a:t>
            </a:r>
          </a:p>
          <a:p>
            <a:r>
              <a:rPr lang="en-US" dirty="0">
                <a:latin typeface="Eras Medium ITC" panose="020B0602030504020804" pitchFamily="34" charset="0"/>
              </a:rPr>
              <a:t>This method checks whether a string contains a specified word or character. If the value exists, it returns true; otherwise, it returns false.</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2400" dirty="0">
              <a:latin typeface="Eras Medium ITC" panose="020B0602030504020804" pitchFamily="34" charset="0"/>
            </a:endParaRPr>
          </a:p>
          <a:p>
            <a:r>
              <a:rPr lang="en-US" dirty="0">
                <a:latin typeface="Eras Medium ITC" panose="020B0602030504020804" pitchFamily="34" charset="0"/>
              </a:rPr>
              <a:t>In this, the string “I’m learning JavaScript" contains the word "Java". Therefore, the includes() method returns true, indicating that the specified text exists in the string.</a:t>
            </a:r>
          </a:p>
          <a:p>
            <a:endParaRPr lang="en-US" dirty="0">
              <a:latin typeface="Eras Medium ITC" panose="020B0602030504020804" pitchFamily="34" charset="0"/>
            </a:endParaRPr>
          </a:p>
          <a:p>
            <a:r>
              <a:rPr lang="en-US" b="1" dirty="0">
                <a:solidFill>
                  <a:schemeClr val="accent1"/>
                </a:solidFill>
                <a:latin typeface="Eras Medium ITC" panose="020B0602030504020804" pitchFamily="34" charset="0"/>
              </a:rPr>
              <a:t>5. </a:t>
            </a:r>
            <a:r>
              <a:rPr lang="en-US" b="1" dirty="0" err="1">
                <a:solidFill>
                  <a:schemeClr val="accent1"/>
                </a:solidFill>
                <a:latin typeface="Eras Medium ITC" panose="020B0602030504020804" pitchFamily="34" charset="0"/>
              </a:rPr>
              <a:t>startsWith</a:t>
            </a:r>
            <a:r>
              <a:rPr lang="en-US" b="1" dirty="0">
                <a:solidFill>
                  <a:schemeClr val="accent1"/>
                </a:solidFill>
                <a:latin typeface="Eras Medium ITC" panose="020B0602030504020804" pitchFamily="34" charset="0"/>
              </a:rPr>
              <a:t>()</a:t>
            </a:r>
          </a:p>
          <a:p>
            <a:r>
              <a:rPr lang="en-US" dirty="0">
                <a:latin typeface="Eras Medium ITC" panose="020B0602030504020804" pitchFamily="34" charset="0"/>
              </a:rPr>
              <a:t>This method checks whether a string begins with the specified text. If the string starts with the given value, it returns true; otherwise, it returns false.</a:t>
            </a:r>
          </a:p>
          <a:p>
            <a:endParaRPr lang="en-US" dirty="0">
              <a:latin typeface="Eras Medium ITC" panose="020B0602030504020804" pitchFamily="34" charset="0"/>
            </a:endParaRPr>
          </a:p>
          <a:p>
            <a:endParaRPr lang="en-US" dirty="0">
              <a:latin typeface="Eras Medium ITC" panose="020B0602030504020804" pitchFamily="34" charset="0"/>
            </a:endParaRPr>
          </a:p>
        </p:txBody>
      </p:sp>
      <p:pic>
        <p:nvPicPr>
          <p:cNvPr id="7" name="Picture 6">
            <a:extLst>
              <a:ext uri="{FF2B5EF4-FFF2-40B4-BE49-F238E27FC236}">
                <a16:creationId xmlns:a16="http://schemas.microsoft.com/office/drawing/2014/main" id="{5B80DB69-0FE7-2DEA-2E42-37A38D711F2A}"/>
              </a:ext>
            </a:extLst>
          </p:cNvPr>
          <p:cNvPicPr>
            <a:picLocks noChangeAspect="1"/>
          </p:cNvPicPr>
          <p:nvPr/>
        </p:nvPicPr>
        <p:blipFill>
          <a:blip r:embed="rId2"/>
          <a:stretch>
            <a:fillRect/>
          </a:stretch>
        </p:blipFill>
        <p:spPr>
          <a:xfrm>
            <a:off x="950958" y="3051634"/>
            <a:ext cx="2269761" cy="451694"/>
          </a:xfrm>
          <a:prstGeom prst="rect">
            <a:avLst/>
          </a:prstGeom>
          <a:ln>
            <a:solidFill>
              <a:schemeClr val="accent1"/>
            </a:solidFill>
          </a:ln>
        </p:spPr>
      </p:pic>
      <p:pic>
        <p:nvPicPr>
          <p:cNvPr id="11" name="Picture 10">
            <a:extLst>
              <a:ext uri="{FF2B5EF4-FFF2-40B4-BE49-F238E27FC236}">
                <a16:creationId xmlns:a16="http://schemas.microsoft.com/office/drawing/2014/main" id="{F9F564B9-7243-AE1A-B433-F982CB5BFBE6}"/>
              </a:ext>
            </a:extLst>
          </p:cNvPr>
          <p:cNvPicPr>
            <a:picLocks noChangeAspect="1"/>
          </p:cNvPicPr>
          <p:nvPr/>
        </p:nvPicPr>
        <p:blipFill>
          <a:blip r:embed="rId3"/>
          <a:stretch>
            <a:fillRect/>
          </a:stretch>
        </p:blipFill>
        <p:spPr>
          <a:xfrm>
            <a:off x="924756" y="1798663"/>
            <a:ext cx="8047549" cy="1146849"/>
          </a:xfrm>
          <a:prstGeom prst="rect">
            <a:avLst/>
          </a:prstGeom>
        </p:spPr>
      </p:pic>
    </p:spTree>
    <p:extLst>
      <p:ext uri="{BB962C8B-B14F-4D97-AF65-F5344CB8AC3E}">
        <p14:creationId xmlns:p14="http://schemas.microsoft.com/office/powerpoint/2010/main" val="3924420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5870C-4DAB-5792-00E4-8201E6CA0BE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E865D9-2E24-C512-C552-DB5C8A283BD7}"/>
              </a:ext>
            </a:extLst>
          </p:cNvPr>
          <p:cNvSpPr txBox="1"/>
          <p:nvPr/>
        </p:nvSpPr>
        <p:spPr>
          <a:xfrm>
            <a:off x="818148" y="793122"/>
            <a:ext cx="8129208" cy="4524315"/>
          </a:xfrm>
          <a:prstGeom prst="rect">
            <a:avLst/>
          </a:prstGeom>
          <a:noFill/>
        </p:spPr>
        <p:txBody>
          <a:bodyPr wrap="square" rtlCol="0">
            <a:spAutoFit/>
          </a:bodyPr>
          <a:lstStyle/>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1600" dirty="0">
              <a:latin typeface="Eras Medium ITC" panose="020B0602030504020804" pitchFamily="34" charset="0"/>
            </a:endParaRPr>
          </a:p>
          <a:p>
            <a:r>
              <a:rPr lang="en-US" dirty="0">
                <a:latin typeface="Eras Medium ITC" panose="020B0602030504020804" pitchFamily="34" charset="0"/>
              </a:rPr>
              <a:t>In this example, the string "JavaScript" starts with the word "Java". Therefore, the </a:t>
            </a:r>
            <a:r>
              <a:rPr lang="en-US" dirty="0" err="1">
                <a:latin typeface="Eras Medium ITC" panose="020B0602030504020804" pitchFamily="34" charset="0"/>
              </a:rPr>
              <a:t>startsWith</a:t>
            </a:r>
            <a:r>
              <a:rPr lang="en-US" dirty="0">
                <a:latin typeface="Eras Medium ITC" panose="020B0602030504020804" pitchFamily="34" charset="0"/>
              </a:rPr>
              <a:t>() method returns true because the specified text is found at the beginning of the string.</a:t>
            </a:r>
          </a:p>
          <a:p>
            <a:endParaRPr lang="en-US" dirty="0">
              <a:latin typeface="Eras Medium ITC" panose="020B0602030504020804" pitchFamily="34" charset="0"/>
            </a:endParaRPr>
          </a:p>
          <a:p>
            <a:endParaRPr lang="en-US" dirty="0">
              <a:latin typeface="Eras Medium ITC" panose="020B0602030504020804" pitchFamily="34" charset="0"/>
            </a:endParaRPr>
          </a:p>
          <a:p>
            <a:r>
              <a:rPr lang="en-US" b="1" dirty="0">
                <a:solidFill>
                  <a:schemeClr val="accent1"/>
                </a:solidFill>
                <a:latin typeface="Eras Medium ITC" panose="020B0602030504020804" pitchFamily="34" charset="0"/>
              </a:rPr>
              <a:t>6. </a:t>
            </a:r>
            <a:r>
              <a:rPr lang="en-US" b="1" dirty="0" err="1">
                <a:solidFill>
                  <a:schemeClr val="accent1"/>
                </a:solidFill>
                <a:latin typeface="Eras Medium ITC" panose="020B0602030504020804" pitchFamily="34" charset="0"/>
              </a:rPr>
              <a:t>endsWith</a:t>
            </a:r>
            <a:r>
              <a:rPr lang="en-US" b="1" dirty="0">
                <a:solidFill>
                  <a:schemeClr val="accent1"/>
                </a:solidFill>
                <a:latin typeface="Eras Medium ITC" panose="020B0602030504020804" pitchFamily="34" charset="0"/>
              </a:rPr>
              <a:t>()</a:t>
            </a:r>
          </a:p>
          <a:p>
            <a:r>
              <a:rPr lang="en-US" dirty="0">
                <a:latin typeface="Eras Medium ITC" panose="020B0602030504020804" pitchFamily="34" charset="0"/>
              </a:rPr>
              <a:t>This method checks whether a string ends with the specified text. It returns </a:t>
            </a:r>
            <a:r>
              <a:rPr lang="en-US" b="1" dirty="0">
                <a:latin typeface="Eras Medium ITC" panose="020B0602030504020804" pitchFamily="34" charset="0"/>
              </a:rPr>
              <a:t>true</a:t>
            </a:r>
            <a:r>
              <a:rPr lang="en-US" dirty="0">
                <a:latin typeface="Eras Medium ITC" panose="020B0602030504020804" pitchFamily="34" charset="0"/>
              </a:rPr>
              <a:t> if the ending matches; otherwise, it returns </a:t>
            </a:r>
            <a:r>
              <a:rPr lang="en-US" b="1" dirty="0">
                <a:latin typeface="Eras Medium ITC" panose="020B0602030504020804" pitchFamily="34" charset="0"/>
              </a:rPr>
              <a:t>false</a:t>
            </a:r>
            <a:r>
              <a:rPr lang="en-US" dirty="0">
                <a:latin typeface="Eras Medium ITC" panose="020B0602030504020804" pitchFamily="34" charset="0"/>
              </a:rPr>
              <a:t>.</a:t>
            </a:r>
          </a:p>
        </p:txBody>
      </p:sp>
      <p:pic>
        <p:nvPicPr>
          <p:cNvPr id="3" name="Picture 2">
            <a:extLst>
              <a:ext uri="{FF2B5EF4-FFF2-40B4-BE49-F238E27FC236}">
                <a16:creationId xmlns:a16="http://schemas.microsoft.com/office/drawing/2014/main" id="{C7A14344-4C39-CDFD-4107-66CFDE6AD705}"/>
              </a:ext>
            </a:extLst>
          </p:cNvPr>
          <p:cNvPicPr>
            <a:picLocks noChangeAspect="1"/>
          </p:cNvPicPr>
          <p:nvPr/>
        </p:nvPicPr>
        <p:blipFill>
          <a:blip r:embed="rId2"/>
          <a:stretch>
            <a:fillRect/>
          </a:stretch>
        </p:blipFill>
        <p:spPr>
          <a:xfrm>
            <a:off x="916769" y="1218576"/>
            <a:ext cx="7791696" cy="1111798"/>
          </a:xfrm>
          <a:prstGeom prst="rect">
            <a:avLst/>
          </a:prstGeom>
        </p:spPr>
      </p:pic>
      <p:pic>
        <p:nvPicPr>
          <p:cNvPr id="6" name="Picture 5">
            <a:extLst>
              <a:ext uri="{FF2B5EF4-FFF2-40B4-BE49-F238E27FC236}">
                <a16:creationId xmlns:a16="http://schemas.microsoft.com/office/drawing/2014/main" id="{F75A4989-6ADB-5B59-0968-1A83AE1A2F7B}"/>
              </a:ext>
            </a:extLst>
          </p:cNvPr>
          <p:cNvPicPr>
            <a:picLocks noChangeAspect="1"/>
          </p:cNvPicPr>
          <p:nvPr/>
        </p:nvPicPr>
        <p:blipFill>
          <a:blip r:embed="rId3"/>
          <a:stretch>
            <a:fillRect/>
          </a:stretch>
        </p:blipFill>
        <p:spPr>
          <a:xfrm>
            <a:off x="924827" y="2445997"/>
            <a:ext cx="2054593" cy="388035"/>
          </a:xfrm>
          <a:prstGeom prst="rect">
            <a:avLst/>
          </a:prstGeom>
          <a:ln>
            <a:solidFill>
              <a:schemeClr val="accent1"/>
            </a:solidFill>
          </a:ln>
        </p:spPr>
      </p:pic>
    </p:spTree>
    <p:extLst>
      <p:ext uri="{BB962C8B-B14F-4D97-AF65-F5344CB8AC3E}">
        <p14:creationId xmlns:p14="http://schemas.microsoft.com/office/powerpoint/2010/main" val="1281664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C1268-B560-24F2-3FAB-5A4FB91E45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4B4AD0-936F-603C-CAEB-E6FD4EAEADAC}"/>
              </a:ext>
            </a:extLst>
          </p:cNvPr>
          <p:cNvSpPr txBox="1"/>
          <p:nvPr/>
        </p:nvSpPr>
        <p:spPr>
          <a:xfrm>
            <a:off x="818148" y="793122"/>
            <a:ext cx="8129208" cy="3662541"/>
          </a:xfrm>
          <a:prstGeom prst="rect">
            <a:avLst/>
          </a:prstGeom>
          <a:noFill/>
        </p:spPr>
        <p:txBody>
          <a:bodyPr wrap="square" rtlCol="0">
            <a:spAutoFit/>
          </a:bodyPr>
          <a:lstStyle/>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1000" dirty="0">
              <a:latin typeface="Eras Medium ITC" panose="020B0602030504020804" pitchFamily="34" charset="0"/>
            </a:endParaRPr>
          </a:p>
          <a:p>
            <a:r>
              <a:rPr lang="en-US" dirty="0">
                <a:latin typeface="Eras Medium ITC" panose="020B0602030504020804" pitchFamily="34" charset="0"/>
              </a:rPr>
              <a:t>In this, The string "JavaScript" ends with "Script", so the </a:t>
            </a:r>
            <a:r>
              <a:rPr lang="en-US" dirty="0" err="1">
                <a:latin typeface="Eras Medium ITC" panose="020B0602030504020804" pitchFamily="34" charset="0"/>
              </a:rPr>
              <a:t>endsWith</a:t>
            </a:r>
            <a:r>
              <a:rPr lang="en-US" dirty="0">
                <a:latin typeface="Eras Medium ITC" panose="020B0602030504020804" pitchFamily="34" charset="0"/>
              </a:rPr>
              <a:t>() method returns true.</a:t>
            </a:r>
          </a:p>
          <a:p>
            <a:endParaRPr lang="en-US" sz="2400" dirty="0">
              <a:latin typeface="Eras Medium ITC" panose="020B0602030504020804" pitchFamily="34" charset="0"/>
            </a:endParaRPr>
          </a:p>
          <a:p>
            <a:r>
              <a:rPr lang="en-US" b="1" dirty="0">
                <a:solidFill>
                  <a:schemeClr val="accent1"/>
                </a:solidFill>
                <a:latin typeface="Eras Medium ITC" panose="020B0602030504020804" pitchFamily="34" charset="0"/>
              </a:rPr>
              <a:t>7. search()</a:t>
            </a:r>
          </a:p>
          <a:p>
            <a:r>
              <a:rPr lang="en-US" dirty="0">
                <a:latin typeface="Eras Medium ITC" panose="020B0602030504020804" pitchFamily="34" charset="0"/>
              </a:rPr>
              <a:t>This method searches a string for a specified value and returns the position of its first occurrence. If the value is not found, it returns -1.</a:t>
            </a:r>
          </a:p>
        </p:txBody>
      </p:sp>
      <p:pic>
        <p:nvPicPr>
          <p:cNvPr id="5" name="Picture 4">
            <a:extLst>
              <a:ext uri="{FF2B5EF4-FFF2-40B4-BE49-F238E27FC236}">
                <a16:creationId xmlns:a16="http://schemas.microsoft.com/office/drawing/2014/main" id="{EA12A5EE-4E20-6E97-7C44-EB634CB71D5B}"/>
              </a:ext>
            </a:extLst>
          </p:cNvPr>
          <p:cNvPicPr>
            <a:picLocks noChangeAspect="1"/>
          </p:cNvPicPr>
          <p:nvPr/>
        </p:nvPicPr>
        <p:blipFill>
          <a:blip r:embed="rId2"/>
          <a:stretch>
            <a:fillRect/>
          </a:stretch>
        </p:blipFill>
        <p:spPr>
          <a:xfrm>
            <a:off x="818146" y="793122"/>
            <a:ext cx="7423811" cy="1032731"/>
          </a:xfrm>
          <a:prstGeom prst="rect">
            <a:avLst/>
          </a:prstGeom>
        </p:spPr>
      </p:pic>
      <p:pic>
        <p:nvPicPr>
          <p:cNvPr id="8" name="Picture 7">
            <a:extLst>
              <a:ext uri="{FF2B5EF4-FFF2-40B4-BE49-F238E27FC236}">
                <a16:creationId xmlns:a16="http://schemas.microsoft.com/office/drawing/2014/main" id="{3C383AA6-08DB-1573-B5D0-1C523BA721A4}"/>
              </a:ext>
            </a:extLst>
          </p:cNvPr>
          <p:cNvPicPr>
            <a:picLocks noChangeAspect="1"/>
          </p:cNvPicPr>
          <p:nvPr/>
        </p:nvPicPr>
        <p:blipFill>
          <a:blip r:embed="rId3"/>
          <a:stretch>
            <a:fillRect/>
          </a:stretch>
        </p:blipFill>
        <p:spPr>
          <a:xfrm>
            <a:off x="818146" y="2001796"/>
            <a:ext cx="2011550" cy="396799"/>
          </a:xfrm>
          <a:prstGeom prst="rect">
            <a:avLst/>
          </a:prstGeom>
          <a:ln>
            <a:solidFill>
              <a:schemeClr val="accent1"/>
            </a:solidFill>
          </a:ln>
        </p:spPr>
      </p:pic>
      <p:pic>
        <p:nvPicPr>
          <p:cNvPr id="10" name="Picture 9">
            <a:extLst>
              <a:ext uri="{FF2B5EF4-FFF2-40B4-BE49-F238E27FC236}">
                <a16:creationId xmlns:a16="http://schemas.microsoft.com/office/drawing/2014/main" id="{73FE0839-7B64-EFFA-53D2-E8137AAEDDDE}"/>
              </a:ext>
            </a:extLst>
          </p:cNvPr>
          <p:cNvPicPr>
            <a:picLocks noChangeAspect="1"/>
          </p:cNvPicPr>
          <p:nvPr/>
        </p:nvPicPr>
        <p:blipFill>
          <a:blip r:embed="rId4"/>
          <a:stretch>
            <a:fillRect/>
          </a:stretch>
        </p:blipFill>
        <p:spPr>
          <a:xfrm>
            <a:off x="818146" y="4592579"/>
            <a:ext cx="7324957" cy="1090356"/>
          </a:xfrm>
          <a:prstGeom prst="rect">
            <a:avLst/>
          </a:prstGeom>
        </p:spPr>
      </p:pic>
    </p:spTree>
    <p:extLst>
      <p:ext uri="{BB962C8B-B14F-4D97-AF65-F5344CB8AC3E}">
        <p14:creationId xmlns:p14="http://schemas.microsoft.com/office/powerpoint/2010/main" val="2561335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1C213-41A5-DB12-6C2C-128A5E0110E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C3EF345-1DDC-7ECB-08FE-4F4F5F00AFFA}"/>
              </a:ext>
            </a:extLst>
          </p:cNvPr>
          <p:cNvSpPr txBox="1"/>
          <p:nvPr/>
        </p:nvSpPr>
        <p:spPr>
          <a:xfrm>
            <a:off x="818148" y="793122"/>
            <a:ext cx="8129208" cy="2954655"/>
          </a:xfrm>
          <a:prstGeom prst="rect">
            <a:avLst/>
          </a:prstGeom>
          <a:noFill/>
        </p:spPr>
        <p:txBody>
          <a:bodyPr wrap="square" rtlCol="0">
            <a:spAutoFit/>
          </a:bodyPr>
          <a:lstStyle/>
          <a:p>
            <a:r>
              <a:rPr lang="en-US" dirty="0">
                <a:latin typeface="Eras Medium ITC" panose="020B0602030504020804" pitchFamily="34" charset="0"/>
              </a:rPr>
              <a:t>In this, The search() method finds the word "Java" starting at index 7 and returns its position.</a:t>
            </a:r>
          </a:p>
          <a:p>
            <a:endParaRPr lang="en-US" sz="2400" dirty="0">
              <a:latin typeface="Eras Medium ITC" panose="020B0602030504020804" pitchFamily="34" charset="0"/>
            </a:endParaRPr>
          </a:p>
          <a:p>
            <a:endParaRPr lang="en-US" sz="2400" dirty="0">
              <a:latin typeface="Eras Medium ITC" panose="020B0602030504020804" pitchFamily="34" charset="0"/>
            </a:endParaRPr>
          </a:p>
          <a:p>
            <a:endParaRPr lang="en-US" sz="2400" dirty="0">
              <a:latin typeface="Eras Medium ITC" panose="020B0602030504020804" pitchFamily="34" charset="0"/>
            </a:endParaRPr>
          </a:p>
          <a:p>
            <a:endParaRPr lang="en-US" dirty="0">
              <a:latin typeface="Eras Medium ITC" panose="020B0602030504020804" pitchFamily="34" charset="0"/>
            </a:endParaRPr>
          </a:p>
          <a:p>
            <a:r>
              <a:rPr lang="en-US" b="1" u="sng" dirty="0">
                <a:solidFill>
                  <a:schemeClr val="accent1"/>
                </a:solidFill>
                <a:latin typeface="Eras Medium ITC" panose="020B0602030504020804" pitchFamily="34" charset="0"/>
              </a:rPr>
              <a:t>8. match()</a:t>
            </a:r>
          </a:p>
          <a:p>
            <a:r>
              <a:rPr lang="en-US" dirty="0">
                <a:latin typeface="Eras Medium ITC" panose="020B0602030504020804" pitchFamily="34" charset="0"/>
              </a:rPr>
              <a:t>This method searches a string and returns the matched text. If no match is found, it returns null.</a:t>
            </a:r>
          </a:p>
        </p:txBody>
      </p:sp>
      <p:pic>
        <p:nvPicPr>
          <p:cNvPr id="3" name="Picture 2">
            <a:extLst>
              <a:ext uri="{FF2B5EF4-FFF2-40B4-BE49-F238E27FC236}">
                <a16:creationId xmlns:a16="http://schemas.microsoft.com/office/drawing/2014/main" id="{4E8CB7FB-7DC9-79DD-EE5B-39DBB64CC55C}"/>
              </a:ext>
            </a:extLst>
          </p:cNvPr>
          <p:cNvPicPr>
            <a:picLocks noChangeAspect="1"/>
          </p:cNvPicPr>
          <p:nvPr/>
        </p:nvPicPr>
        <p:blipFill>
          <a:blip r:embed="rId2"/>
          <a:stretch>
            <a:fillRect/>
          </a:stretch>
        </p:blipFill>
        <p:spPr>
          <a:xfrm>
            <a:off x="941716" y="1523137"/>
            <a:ext cx="2122762" cy="527474"/>
          </a:xfrm>
          <a:prstGeom prst="rect">
            <a:avLst/>
          </a:prstGeom>
          <a:ln>
            <a:solidFill>
              <a:schemeClr val="accent1"/>
            </a:solidFill>
          </a:ln>
        </p:spPr>
      </p:pic>
      <p:pic>
        <p:nvPicPr>
          <p:cNvPr id="7" name="Picture 6">
            <a:extLst>
              <a:ext uri="{FF2B5EF4-FFF2-40B4-BE49-F238E27FC236}">
                <a16:creationId xmlns:a16="http://schemas.microsoft.com/office/drawing/2014/main" id="{8FF53ABE-50ED-F9BF-71CB-5C3F6E63BE19}"/>
              </a:ext>
            </a:extLst>
          </p:cNvPr>
          <p:cNvPicPr>
            <a:picLocks noChangeAspect="1"/>
          </p:cNvPicPr>
          <p:nvPr/>
        </p:nvPicPr>
        <p:blipFill>
          <a:blip r:embed="rId3"/>
          <a:stretch>
            <a:fillRect/>
          </a:stretch>
        </p:blipFill>
        <p:spPr>
          <a:xfrm>
            <a:off x="818146" y="3680988"/>
            <a:ext cx="7783196" cy="1237004"/>
          </a:xfrm>
          <a:prstGeom prst="rect">
            <a:avLst/>
          </a:prstGeom>
        </p:spPr>
      </p:pic>
      <p:pic>
        <p:nvPicPr>
          <p:cNvPr id="11" name="Picture 10">
            <a:extLst>
              <a:ext uri="{FF2B5EF4-FFF2-40B4-BE49-F238E27FC236}">
                <a16:creationId xmlns:a16="http://schemas.microsoft.com/office/drawing/2014/main" id="{2FE46007-72A4-5ACC-D5D7-02FA6DE128B4}"/>
              </a:ext>
            </a:extLst>
          </p:cNvPr>
          <p:cNvPicPr>
            <a:picLocks noChangeAspect="1"/>
          </p:cNvPicPr>
          <p:nvPr/>
        </p:nvPicPr>
        <p:blipFill>
          <a:blip r:embed="rId4"/>
          <a:stretch>
            <a:fillRect/>
          </a:stretch>
        </p:blipFill>
        <p:spPr>
          <a:xfrm>
            <a:off x="818146" y="5009040"/>
            <a:ext cx="2153414" cy="486464"/>
          </a:xfrm>
          <a:prstGeom prst="rect">
            <a:avLst/>
          </a:prstGeom>
          <a:ln>
            <a:solidFill>
              <a:schemeClr val="accent1"/>
            </a:solidFill>
          </a:ln>
        </p:spPr>
      </p:pic>
    </p:spTree>
    <p:extLst>
      <p:ext uri="{BB962C8B-B14F-4D97-AF65-F5344CB8AC3E}">
        <p14:creationId xmlns:p14="http://schemas.microsoft.com/office/powerpoint/2010/main" val="315181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A86E6-FBCA-2A32-85C7-8FC2538D9E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3ECA94A-E38C-4E00-7F5C-A3E6B779D068}"/>
              </a:ext>
            </a:extLst>
          </p:cNvPr>
          <p:cNvSpPr txBox="1"/>
          <p:nvPr/>
        </p:nvSpPr>
        <p:spPr>
          <a:xfrm>
            <a:off x="818148" y="793122"/>
            <a:ext cx="8129208" cy="3970318"/>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9. indexOf()</a:t>
            </a:r>
          </a:p>
          <a:p>
            <a:r>
              <a:rPr lang="en-US" dirty="0">
                <a:latin typeface="Eras Medium ITC" panose="020B0602030504020804" pitchFamily="34" charset="0"/>
              </a:rPr>
              <a:t>This method returns the index (position) of the first occurrence of a specified value in a string. If the value is not found, it returns -1.</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1100" dirty="0">
              <a:latin typeface="Eras Medium ITC" panose="020B0602030504020804" pitchFamily="34" charset="0"/>
            </a:endParaRPr>
          </a:p>
          <a:p>
            <a:r>
              <a:rPr lang="en-US" b="1" u="sng" dirty="0">
                <a:solidFill>
                  <a:schemeClr val="accent1"/>
                </a:solidFill>
                <a:latin typeface="Eras Medium ITC" panose="020B0602030504020804" pitchFamily="34" charset="0"/>
              </a:rPr>
              <a:t>10. lastIndexOf()</a:t>
            </a:r>
          </a:p>
          <a:p>
            <a:r>
              <a:rPr lang="en-US" dirty="0">
                <a:latin typeface="Eras Medium ITC" panose="020B0602030504020804" pitchFamily="34" charset="0"/>
              </a:rPr>
              <a:t>This method returns the index of the last occurrence of a specified value in a string. If the value is not found, it returns -1.</a:t>
            </a:r>
          </a:p>
        </p:txBody>
      </p:sp>
      <p:pic>
        <p:nvPicPr>
          <p:cNvPr id="5" name="Picture 4">
            <a:extLst>
              <a:ext uri="{FF2B5EF4-FFF2-40B4-BE49-F238E27FC236}">
                <a16:creationId xmlns:a16="http://schemas.microsoft.com/office/drawing/2014/main" id="{CB7889DD-7AAD-0AC2-0A24-E4F4B571CD68}"/>
              </a:ext>
            </a:extLst>
          </p:cNvPr>
          <p:cNvPicPr>
            <a:picLocks noChangeAspect="1"/>
          </p:cNvPicPr>
          <p:nvPr/>
        </p:nvPicPr>
        <p:blipFill>
          <a:blip r:embed="rId2"/>
          <a:srcRect t="19498"/>
          <a:stretch>
            <a:fillRect/>
          </a:stretch>
        </p:blipFill>
        <p:spPr>
          <a:xfrm>
            <a:off x="892289" y="1765816"/>
            <a:ext cx="7634596" cy="959096"/>
          </a:xfrm>
          <a:prstGeom prst="rect">
            <a:avLst/>
          </a:prstGeom>
        </p:spPr>
      </p:pic>
      <p:pic>
        <p:nvPicPr>
          <p:cNvPr id="8" name="Picture 7">
            <a:extLst>
              <a:ext uri="{FF2B5EF4-FFF2-40B4-BE49-F238E27FC236}">
                <a16:creationId xmlns:a16="http://schemas.microsoft.com/office/drawing/2014/main" id="{10AB1B7D-10E3-D3CC-99CA-6FF4F9AA5E92}"/>
              </a:ext>
            </a:extLst>
          </p:cNvPr>
          <p:cNvPicPr>
            <a:picLocks noChangeAspect="1"/>
          </p:cNvPicPr>
          <p:nvPr/>
        </p:nvPicPr>
        <p:blipFill>
          <a:blip r:embed="rId3"/>
          <a:stretch>
            <a:fillRect/>
          </a:stretch>
        </p:blipFill>
        <p:spPr>
          <a:xfrm>
            <a:off x="892289" y="2849896"/>
            <a:ext cx="1816187" cy="423987"/>
          </a:xfrm>
          <a:prstGeom prst="rect">
            <a:avLst/>
          </a:prstGeom>
          <a:ln>
            <a:solidFill>
              <a:schemeClr val="accent1"/>
            </a:solidFill>
          </a:ln>
        </p:spPr>
      </p:pic>
      <p:pic>
        <p:nvPicPr>
          <p:cNvPr id="10" name="Picture 9">
            <a:extLst>
              <a:ext uri="{FF2B5EF4-FFF2-40B4-BE49-F238E27FC236}">
                <a16:creationId xmlns:a16="http://schemas.microsoft.com/office/drawing/2014/main" id="{9867A638-AC84-2D63-9747-14407E2EA19A}"/>
              </a:ext>
            </a:extLst>
          </p:cNvPr>
          <p:cNvPicPr>
            <a:picLocks noChangeAspect="1"/>
          </p:cNvPicPr>
          <p:nvPr/>
        </p:nvPicPr>
        <p:blipFill>
          <a:blip r:embed="rId4"/>
          <a:stretch>
            <a:fillRect/>
          </a:stretch>
        </p:blipFill>
        <p:spPr>
          <a:xfrm>
            <a:off x="892289" y="4710742"/>
            <a:ext cx="7671962" cy="1111324"/>
          </a:xfrm>
          <a:prstGeom prst="rect">
            <a:avLst/>
          </a:prstGeom>
        </p:spPr>
      </p:pic>
    </p:spTree>
    <p:extLst>
      <p:ext uri="{BB962C8B-B14F-4D97-AF65-F5344CB8AC3E}">
        <p14:creationId xmlns:p14="http://schemas.microsoft.com/office/powerpoint/2010/main" val="4105302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84D3E-A72A-4E4C-A0C4-72F0A65B57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0AE0AB2-6594-3B6D-D397-0E41C2AAC584}"/>
              </a:ext>
            </a:extLst>
          </p:cNvPr>
          <p:cNvSpPr txBox="1"/>
          <p:nvPr/>
        </p:nvSpPr>
        <p:spPr>
          <a:xfrm>
            <a:off x="818148" y="793122"/>
            <a:ext cx="8129208" cy="4416594"/>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11. replace()</a:t>
            </a:r>
          </a:p>
          <a:p>
            <a:r>
              <a:rPr lang="en-US" dirty="0">
                <a:latin typeface="Eras Medium ITC" panose="020B0602030504020804" pitchFamily="34" charset="0"/>
              </a:rPr>
              <a:t>This method replaces the first occurrence of a specified value with another value and returns the updated string.</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r>
              <a:rPr lang="en-US" dirty="0">
                <a:latin typeface="Eras Medium ITC" panose="020B0602030504020804" pitchFamily="34" charset="0"/>
              </a:rPr>
              <a:t>The replace() method changes the word "Tea" to "Coffee". The updated string is then displayed.</a:t>
            </a:r>
          </a:p>
          <a:p>
            <a:endParaRPr lang="en-US" dirty="0">
              <a:latin typeface="Eras Medium ITC" panose="020B0602030504020804" pitchFamily="34" charset="0"/>
            </a:endParaRPr>
          </a:p>
          <a:p>
            <a:endParaRPr lang="en-US" sz="1100" dirty="0">
              <a:latin typeface="Eras Medium ITC" panose="020B0602030504020804" pitchFamily="34" charset="0"/>
            </a:endParaRPr>
          </a:p>
          <a:p>
            <a:r>
              <a:rPr lang="en-US" b="1" u="sng" dirty="0">
                <a:solidFill>
                  <a:schemeClr val="accent1"/>
                </a:solidFill>
                <a:latin typeface="Eras Medium ITC" panose="020B0602030504020804" pitchFamily="34" charset="0"/>
              </a:rPr>
              <a:t>12. trim()</a:t>
            </a:r>
          </a:p>
          <a:p>
            <a:r>
              <a:rPr lang="en-US" dirty="0">
                <a:latin typeface="Eras Medium ITC" panose="020B0602030504020804" pitchFamily="34" charset="0"/>
              </a:rPr>
              <a:t>This method removes extra spaces from the beginning and end of a string. It does not remove spaces between words.</a:t>
            </a:r>
          </a:p>
        </p:txBody>
      </p:sp>
      <p:pic>
        <p:nvPicPr>
          <p:cNvPr id="3" name="Picture 2">
            <a:extLst>
              <a:ext uri="{FF2B5EF4-FFF2-40B4-BE49-F238E27FC236}">
                <a16:creationId xmlns:a16="http://schemas.microsoft.com/office/drawing/2014/main" id="{C870431B-F7A2-C768-476E-0BD0A61A5B6C}"/>
              </a:ext>
            </a:extLst>
          </p:cNvPr>
          <p:cNvPicPr>
            <a:picLocks noChangeAspect="1"/>
          </p:cNvPicPr>
          <p:nvPr/>
        </p:nvPicPr>
        <p:blipFill>
          <a:blip r:embed="rId2"/>
          <a:srcRect t="15409"/>
          <a:stretch>
            <a:fillRect/>
          </a:stretch>
        </p:blipFill>
        <p:spPr>
          <a:xfrm>
            <a:off x="892289" y="1736203"/>
            <a:ext cx="7671962" cy="883864"/>
          </a:xfrm>
          <a:prstGeom prst="rect">
            <a:avLst/>
          </a:prstGeom>
        </p:spPr>
      </p:pic>
      <p:pic>
        <p:nvPicPr>
          <p:cNvPr id="7" name="Picture 6">
            <a:extLst>
              <a:ext uri="{FF2B5EF4-FFF2-40B4-BE49-F238E27FC236}">
                <a16:creationId xmlns:a16="http://schemas.microsoft.com/office/drawing/2014/main" id="{83234E5E-3EDB-2508-F811-A5D33293F6A6}"/>
              </a:ext>
            </a:extLst>
          </p:cNvPr>
          <p:cNvPicPr>
            <a:picLocks noChangeAspect="1"/>
          </p:cNvPicPr>
          <p:nvPr/>
        </p:nvPicPr>
        <p:blipFill>
          <a:blip r:embed="rId3"/>
          <a:stretch>
            <a:fillRect/>
          </a:stretch>
        </p:blipFill>
        <p:spPr>
          <a:xfrm>
            <a:off x="892289" y="2713425"/>
            <a:ext cx="2804727" cy="431029"/>
          </a:xfrm>
          <a:prstGeom prst="rect">
            <a:avLst/>
          </a:prstGeom>
          <a:ln>
            <a:solidFill>
              <a:schemeClr val="accent1"/>
            </a:solidFill>
          </a:ln>
        </p:spPr>
      </p:pic>
    </p:spTree>
    <p:extLst>
      <p:ext uri="{BB962C8B-B14F-4D97-AF65-F5344CB8AC3E}">
        <p14:creationId xmlns:p14="http://schemas.microsoft.com/office/powerpoint/2010/main" val="2894861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FBA0C-1146-E525-E75F-21281BDA0C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1A8F2F-A3E0-B048-7144-14C65130DBAA}"/>
              </a:ext>
            </a:extLst>
          </p:cNvPr>
          <p:cNvSpPr txBox="1"/>
          <p:nvPr/>
        </p:nvSpPr>
        <p:spPr>
          <a:xfrm>
            <a:off x="818148" y="827846"/>
            <a:ext cx="8129208" cy="5170646"/>
          </a:xfrm>
          <a:prstGeom prst="rect">
            <a:avLst/>
          </a:prstGeom>
          <a:noFill/>
        </p:spPr>
        <p:txBody>
          <a:bodyPr wrap="square" rtlCol="0">
            <a:spAutoFit/>
          </a:bodyPr>
          <a:lstStyle/>
          <a:p>
            <a:endParaRPr lang="en-US" b="1" u="sng" dirty="0">
              <a:solidFill>
                <a:schemeClr val="accent1"/>
              </a:solidFill>
              <a:latin typeface="Eras Medium ITC" panose="020B0602030504020804" pitchFamily="34" charset="0"/>
            </a:endParaRPr>
          </a:p>
          <a:p>
            <a:endParaRPr lang="en-US" b="1" u="sng" dirty="0">
              <a:solidFill>
                <a:schemeClr val="accent1"/>
              </a:solidFill>
              <a:latin typeface="Eras Medium ITC" panose="020B0602030504020804" pitchFamily="34" charset="0"/>
            </a:endParaRPr>
          </a:p>
          <a:p>
            <a:endParaRPr lang="en-US" b="1" u="sng" dirty="0">
              <a:solidFill>
                <a:schemeClr val="accent1"/>
              </a:solidFill>
              <a:latin typeface="Eras Medium ITC" panose="020B0602030504020804" pitchFamily="34" charset="0"/>
            </a:endParaRPr>
          </a:p>
          <a:p>
            <a:endParaRPr lang="en-US" b="1" u="sng" dirty="0">
              <a:solidFill>
                <a:schemeClr val="accent1"/>
              </a:solidFill>
              <a:latin typeface="Eras Medium ITC" panose="020B0602030504020804" pitchFamily="34" charset="0"/>
            </a:endParaRPr>
          </a:p>
          <a:p>
            <a:endParaRPr lang="en-US" b="1" u="sng" dirty="0">
              <a:solidFill>
                <a:schemeClr val="accent1"/>
              </a:solidFill>
              <a:latin typeface="Eras Medium ITC" panose="020B0602030504020804" pitchFamily="34" charset="0"/>
            </a:endParaRPr>
          </a:p>
          <a:p>
            <a:endParaRPr lang="en-US" b="1" u="sng" dirty="0">
              <a:solidFill>
                <a:schemeClr val="accent1"/>
              </a:solidFill>
              <a:latin typeface="Eras Medium ITC" panose="020B0602030504020804" pitchFamily="34" charset="0"/>
            </a:endParaRPr>
          </a:p>
          <a:p>
            <a:endParaRPr lang="en-US" sz="2400" b="1" u="sng" dirty="0">
              <a:solidFill>
                <a:schemeClr val="accent1"/>
              </a:solidFill>
              <a:latin typeface="Eras Medium ITC" panose="020B0602030504020804" pitchFamily="34" charset="0"/>
            </a:endParaRPr>
          </a:p>
          <a:p>
            <a:r>
              <a:rPr lang="en-US" b="1" u="sng" dirty="0">
                <a:solidFill>
                  <a:schemeClr val="accent1"/>
                </a:solidFill>
                <a:latin typeface="Eras Medium ITC" panose="020B0602030504020804" pitchFamily="34" charset="0"/>
              </a:rPr>
              <a:t>13. </a:t>
            </a:r>
            <a:r>
              <a:rPr lang="en-US" b="1" u="sng" dirty="0" err="1">
                <a:solidFill>
                  <a:schemeClr val="accent1"/>
                </a:solidFill>
                <a:latin typeface="Eras Medium ITC" panose="020B0602030504020804" pitchFamily="34" charset="0"/>
              </a:rPr>
              <a:t>charAt</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returns the character at a specified index in a string.</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u="sng"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1200" dirty="0">
              <a:latin typeface="Eras Medium ITC" panose="020B0602030504020804" pitchFamily="34" charset="0"/>
            </a:endParaRPr>
          </a:p>
          <a:p>
            <a:r>
              <a:rPr lang="en-US" dirty="0">
                <a:latin typeface="Eras Medium ITC" panose="020B0602030504020804" pitchFamily="34" charset="0"/>
              </a:rPr>
              <a:t>The character at index 2 is "v", so </a:t>
            </a:r>
            <a:r>
              <a:rPr lang="en-US" dirty="0" err="1">
                <a:latin typeface="Eras Medium ITC" panose="020B0602030504020804" pitchFamily="34" charset="0"/>
              </a:rPr>
              <a:t>charAt</a:t>
            </a:r>
            <a:r>
              <a:rPr lang="en-US" dirty="0">
                <a:latin typeface="Eras Medium ITC" panose="020B0602030504020804" pitchFamily="34" charset="0"/>
              </a:rPr>
              <a:t>() returns "v".</a:t>
            </a:r>
          </a:p>
        </p:txBody>
      </p:sp>
      <p:pic>
        <p:nvPicPr>
          <p:cNvPr id="5" name="Picture 4">
            <a:extLst>
              <a:ext uri="{FF2B5EF4-FFF2-40B4-BE49-F238E27FC236}">
                <a16:creationId xmlns:a16="http://schemas.microsoft.com/office/drawing/2014/main" id="{DEC97162-83EA-31B6-E7ED-B79F114EDD21}"/>
              </a:ext>
            </a:extLst>
          </p:cNvPr>
          <p:cNvPicPr>
            <a:picLocks noChangeAspect="1"/>
          </p:cNvPicPr>
          <p:nvPr/>
        </p:nvPicPr>
        <p:blipFill>
          <a:blip r:embed="rId2"/>
          <a:stretch>
            <a:fillRect/>
          </a:stretch>
        </p:blipFill>
        <p:spPr>
          <a:xfrm>
            <a:off x="818148" y="920444"/>
            <a:ext cx="7088316" cy="966229"/>
          </a:xfrm>
          <a:prstGeom prst="rect">
            <a:avLst/>
          </a:prstGeom>
        </p:spPr>
      </p:pic>
      <p:pic>
        <p:nvPicPr>
          <p:cNvPr id="8" name="Picture 7">
            <a:extLst>
              <a:ext uri="{FF2B5EF4-FFF2-40B4-BE49-F238E27FC236}">
                <a16:creationId xmlns:a16="http://schemas.microsoft.com/office/drawing/2014/main" id="{07513E9C-9760-FC64-AA75-CB5901ECF25F}"/>
              </a:ext>
            </a:extLst>
          </p:cNvPr>
          <p:cNvPicPr>
            <a:picLocks noChangeAspect="1"/>
          </p:cNvPicPr>
          <p:nvPr/>
        </p:nvPicPr>
        <p:blipFill>
          <a:blip r:embed="rId3"/>
          <a:stretch>
            <a:fillRect/>
          </a:stretch>
        </p:blipFill>
        <p:spPr>
          <a:xfrm>
            <a:off x="818148" y="2013996"/>
            <a:ext cx="3753852" cy="496644"/>
          </a:xfrm>
          <a:prstGeom prst="rect">
            <a:avLst/>
          </a:prstGeom>
          <a:ln>
            <a:solidFill>
              <a:schemeClr val="accent1"/>
            </a:solidFill>
          </a:ln>
        </p:spPr>
      </p:pic>
      <p:pic>
        <p:nvPicPr>
          <p:cNvPr id="10" name="Picture 9">
            <a:extLst>
              <a:ext uri="{FF2B5EF4-FFF2-40B4-BE49-F238E27FC236}">
                <a16:creationId xmlns:a16="http://schemas.microsoft.com/office/drawing/2014/main" id="{BB725A0B-936B-E88D-896A-AF8CB1442323}"/>
              </a:ext>
            </a:extLst>
          </p:cNvPr>
          <p:cNvPicPr>
            <a:picLocks noChangeAspect="1"/>
          </p:cNvPicPr>
          <p:nvPr/>
        </p:nvPicPr>
        <p:blipFill>
          <a:blip r:embed="rId4"/>
          <a:stretch>
            <a:fillRect/>
          </a:stretch>
        </p:blipFill>
        <p:spPr>
          <a:xfrm>
            <a:off x="818148" y="3512678"/>
            <a:ext cx="7452045" cy="1232942"/>
          </a:xfrm>
          <a:prstGeom prst="rect">
            <a:avLst/>
          </a:prstGeom>
        </p:spPr>
      </p:pic>
      <p:pic>
        <p:nvPicPr>
          <p:cNvPr id="12" name="Picture 11">
            <a:extLst>
              <a:ext uri="{FF2B5EF4-FFF2-40B4-BE49-F238E27FC236}">
                <a16:creationId xmlns:a16="http://schemas.microsoft.com/office/drawing/2014/main" id="{CF1B6AB3-BC1D-F6F8-3E05-034DBA6CC183}"/>
              </a:ext>
            </a:extLst>
          </p:cNvPr>
          <p:cNvPicPr>
            <a:picLocks noChangeAspect="1"/>
          </p:cNvPicPr>
          <p:nvPr/>
        </p:nvPicPr>
        <p:blipFill>
          <a:blip r:embed="rId5"/>
          <a:stretch>
            <a:fillRect/>
          </a:stretch>
        </p:blipFill>
        <p:spPr>
          <a:xfrm>
            <a:off x="825866" y="4830988"/>
            <a:ext cx="2472922" cy="485021"/>
          </a:xfrm>
          <a:prstGeom prst="rect">
            <a:avLst/>
          </a:prstGeom>
          <a:ln>
            <a:solidFill>
              <a:schemeClr val="accent1"/>
            </a:solidFill>
          </a:ln>
        </p:spPr>
      </p:pic>
    </p:spTree>
    <p:extLst>
      <p:ext uri="{BB962C8B-B14F-4D97-AF65-F5344CB8AC3E}">
        <p14:creationId xmlns:p14="http://schemas.microsoft.com/office/powerpoint/2010/main" val="706622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3C621-691C-F231-7D03-B9E5FFF1F12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859BDD8-D999-8BB3-4AFE-F7291B96A959}"/>
              </a:ext>
            </a:extLst>
          </p:cNvPr>
          <p:cNvSpPr txBox="1"/>
          <p:nvPr/>
        </p:nvSpPr>
        <p:spPr>
          <a:xfrm>
            <a:off x="818148" y="827846"/>
            <a:ext cx="8129208" cy="4985980"/>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14. charCodeAt()</a:t>
            </a:r>
          </a:p>
          <a:p>
            <a:r>
              <a:rPr lang="en-US" dirty="0">
                <a:latin typeface="Eras Medium ITC" panose="020B0602030504020804" pitchFamily="34" charset="0"/>
              </a:rPr>
              <a:t>This method returns the Unicode value of the character at the specified index.</a:t>
            </a:r>
          </a:p>
          <a:p>
            <a:endParaRPr lang="en-US" u="sng"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1200" dirty="0">
              <a:latin typeface="Eras Medium ITC" panose="020B0602030504020804" pitchFamily="34" charset="0"/>
            </a:endParaRPr>
          </a:p>
          <a:p>
            <a:endParaRPr lang="en-US" sz="1200" dirty="0">
              <a:latin typeface="Eras Medium ITC" panose="020B0602030504020804" pitchFamily="34" charset="0"/>
            </a:endParaRPr>
          </a:p>
          <a:p>
            <a:endParaRPr lang="en-US" sz="1200" dirty="0">
              <a:latin typeface="Eras Medium ITC" panose="020B0602030504020804" pitchFamily="34" charset="0"/>
            </a:endParaRPr>
          </a:p>
          <a:p>
            <a:endParaRPr lang="en-US" sz="1200" dirty="0">
              <a:latin typeface="Eras Medium ITC" panose="020B0602030504020804" pitchFamily="34" charset="0"/>
            </a:endParaRPr>
          </a:p>
          <a:p>
            <a:r>
              <a:rPr lang="en-US" dirty="0">
                <a:latin typeface="Eras Medium ITC" panose="020B0602030504020804" pitchFamily="34" charset="0"/>
              </a:rPr>
              <a:t>The first character is </a:t>
            </a:r>
            <a:r>
              <a:rPr lang="en-US" b="1" dirty="0">
                <a:latin typeface="Eras Medium ITC" panose="020B0602030504020804" pitchFamily="34" charset="0"/>
              </a:rPr>
              <a:t>"A"</a:t>
            </a:r>
            <a:r>
              <a:rPr lang="en-US" dirty="0">
                <a:latin typeface="Eras Medium ITC" panose="020B0602030504020804" pitchFamily="34" charset="0"/>
              </a:rPr>
              <a:t>, and its Unicode value is </a:t>
            </a:r>
            <a:r>
              <a:rPr lang="en-US" b="1" dirty="0">
                <a:latin typeface="Eras Medium ITC" panose="020B0602030504020804" pitchFamily="34" charset="0"/>
              </a:rPr>
              <a:t>65</a:t>
            </a:r>
            <a:r>
              <a:rPr lang="en-US" dirty="0">
                <a:latin typeface="Eras Medium ITC" panose="020B0602030504020804" pitchFamily="34" charset="0"/>
              </a:rPr>
              <a:t>, so </a:t>
            </a:r>
            <a:r>
              <a:rPr lang="en-US" b="1" dirty="0">
                <a:latin typeface="Eras Medium ITC" panose="020B0602030504020804" pitchFamily="34" charset="0"/>
              </a:rPr>
              <a:t>charCodeAt()</a:t>
            </a:r>
            <a:r>
              <a:rPr lang="en-US" dirty="0">
                <a:latin typeface="Eras Medium ITC" panose="020B0602030504020804" pitchFamily="34" charset="0"/>
              </a:rPr>
              <a:t> returns </a:t>
            </a:r>
            <a:r>
              <a:rPr lang="en-US" b="1" dirty="0">
                <a:latin typeface="Eras Medium ITC" panose="020B0602030504020804" pitchFamily="34" charset="0"/>
              </a:rPr>
              <a:t>65.</a:t>
            </a:r>
          </a:p>
          <a:p>
            <a:endParaRPr lang="en-US" b="1" dirty="0">
              <a:latin typeface="Eras Medium ITC" panose="020B0602030504020804" pitchFamily="34" charset="0"/>
            </a:endParaRPr>
          </a:p>
          <a:p>
            <a:endParaRPr lang="en-US" sz="1050" b="1" u="sng" dirty="0">
              <a:solidFill>
                <a:schemeClr val="accent1"/>
              </a:solidFill>
              <a:latin typeface="Eras Medium ITC" panose="020B0602030504020804" pitchFamily="34" charset="0"/>
            </a:endParaRPr>
          </a:p>
          <a:p>
            <a:r>
              <a:rPr lang="en-US" b="1" u="sng" dirty="0">
                <a:solidFill>
                  <a:schemeClr val="accent1"/>
                </a:solidFill>
                <a:latin typeface="Eras Medium ITC" panose="020B0602030504020804" pitchFamily="34" charset="0"/>
              </a:rPr>
              <a:t>15. String.fromCharCode()</a:t>
            </a:r>
          </a:p>
          <a:p>
            <a:r>
              <a:rPr lang="en-US" dirty="0">
                <a:latin typeface="Eras Medium ITC" panose="020B0602030504020804" pitchFamily="34" charset="0"/>
              </a:rPr>
              <a:t>This method converts one or more Unicode values into their corresponding characters.</a:t>
            </a:r>
          </a:p>
          <a:p>
            <a:endParaRPr lang="en-US" dirty="0">
              <a:latin typeface="Eras Medium ITC" panose="020B0602030504020804" pitchFamily="34" charset="0"/>
            </a:endParaRPr>
          </a:p>
        </p:txBody>
      </p:sp>
      <p:pic>
        <p:nvPicPr>
          <p:cNvPr id="3" name="Picture 2">
            <a:extLst>
              <a:ext uri="{FF2B5EF4-FFF2-40B4-BE49-F238E27FC236}">
                <a16:creationId xmlns:a16="http://schemas.microsoft.com/office/drawing/2014/main" id="{A850A49B-BB64-CEF9-2B0F-8774C23D4732}"/>
              </a:ext>
            </a:extLst>
          </p:cNvPr>
          <p:cNvPicPr>
            <a:picLocks noChangeAspect="1"/>
          </p:cNvPicPr>
          <p:nvPr/>
        </p:nvPicPr>
        <p:blipFill>
          <a:blip r:embed="rId2"/>
          <a:stretch>
            <a:fillRect/>
          </a:stretch>
        </p:blipFill>
        <p:spPr>
          <a:xfrm>
            <a:off x="931001" y="1561085"/>
            <a:ext cx="7809840" cy="1182115"/>
          </a:xfrm>
          <a:prstGeom prst="rect">
            <a:avLst/>
          </a:prstGeom>
        </p:spPr>
      </p:pic>
      <p:pic>
        <p:nvPicPr>
          <p:cNvPr id="7" name="Picture 6">
            <a:extLst>
              <a:ext uri="{FF2B5EF4-FFF2-40B4-BE49-F238E27FC236}">
                <a16:creationId xmlns:a16="http://schemas.microsoft.com/office/drawing/2014/main" id="{7C8CEAF3-C45D-0EBD-49ED-5888C6A71718}"/>
              </a:ext>
            </a:extLst>
          </p:cNvPr>
          <p:cNvPicPr>
            <a:picLocks noChangeAspect="1"/>
          </p:cNvPicPr>
          <p:nvPr/>
        </p:nvPicPr>
        <p:blipFill>
          <a:blip r:embed="rId3"/>
          <a:srcRect r="18759"/>
          <a:stretch>
            <a:fillRect/>
          </a:stretch>
        </p:blipFill>
        <p:spPr>
          <a:xfrm>
            <a:off x="931001" y="2843229"/>
            <a:ext cx="2113189" cy="469497"/>
          </a:xfrm>
          <a:prstGeom prst="rect">
            <a:avLst/>
          </a:prstGeom>
          <a:ln>
            <a:solidFill>
              <a:schemeClr val="accent1"/>
            </a:solidFill>
          </a:ln>
        </p:spPr>
      </p:pic>
    </p:spTree>
    <p:extLst>
      <p:ext uri="{BB962C8B-B14F-4D97-AF65-F5344CB8AC3E}">
        <p14:creationId xmlns:p14="http://schemas.microsoft.com/office/powerpoint/2010/main" val="1892306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EA821-DA8F-74B6-E773-448F14625A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1D01D73-248C-B2A5-3823-F747FEB32DDC}"/>
              </a:ext>
            </a:extLst>
          </p:cNvPr>
          <p:cNvSpPr txBox="1"/>
          <p:nvPr/>
        </p:nvSpPr>
        <p:spPr>
          <a:xfrm>
            <a:off x="818148" y="827846"/>
            <a:ext cx="8129208" cy="4685898"/>
          </a:xfrm>
          <a:prstGeom prst="rect">
            <a:avLst/>
          </a:prstGeom>
          <a:noFill/>
        </p:spPr>
        <p:txBody>
          <a:bodyPr wrap="square" rtlCol="0">
            <a:spAutoFit/>
          </a:bodyPr>
          <a:lstStyle/>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r>
              <a:rPr lang="en-US" dirty="0">
                <a:latin typeface="Eras Medium ITC" panose="020B0602030504020804" pitchFamily="34" charset="0"/>
              </a:rPr>
              <a:t>The Unicode values </a:t>
            </a:r>
            <a:r>
              <a:rPr lang="en-US" b="1" dirty="0">
                <a:latin typeface="Eras Medium ITC" panose="020B0602030504020804" pitchFamily="34" charset="0"/>
              </a:rPr>
              <a:t>65</a:t>
            </a:r>
            <a:r>
              <a:rPr lang="en-US" dirty="0">
                <a:latin typeface="Eras Medium ITC" panose="020B0602030504020804" pitchFamily="34" charset="0"/>
              </a:rPr>
              <a:t>, </a:t>
            </a:r>
            <a:r>
              <a:rPr lang="en-US" b="1" dirty="0">
                <a:latin typeface="Eras Medium ITC" panose="020B0602030504020804" pitchFamily="34" charset="0"/>
              </a:rPr>
              <a:t>66</a:t>
            </a:r>
            <a:r>
              <a:rPr lang="en-US" dirty="0">
                <a:latin typeface="Eras Medium ITC" panose="020B0602030504020804" pitchFamily="34" charset="0"/>
              </a:rPr>
              <a:t>, and </a:t>
            </a:r>
            <a:r>
              <a:rPr lang="en-US" b="1" dirty="0">
                <a:latin typeface="Eras Medium ITC" panose="020B0602030504020804" pitchFamily="34" charset="0"/>
              </a:rPr>
              <a:t>67</a:t>
            </a:r>
            <a:r>
              <a:rPr lang="en-US" dirty="0">
                <a:latin typeface="Eras Medium ITC" panose="020B0602030504020804" pitchFamily="34" charset="0"/>
              </a:rPr>
              <a:t> represent </a:t>
            </a:r>
            <a:r>
              <a:rPr lang="en-US" b="1" dirty="0">
                <a:latin typeface="Eras Medium ITC" panose="020B0602030504020804" pitchFamily="34" charset="0"/>
              </a:rPr>
              <a:t>A</a:t>
            </a:r>
            <a:r>
              <a:rPr lang="en-US" dirty="0">
                <a:latin typeface="Eras Medium ITC" panose="020B0602030504020804" pitchFamily="34" charset="0"/>
              </a:rPr>
              <a:t>, </a:t>
            </a:r>
            <a:r>
              <a:rPr lang="en-US" b="1" dirty="0">
                <a:latin typeface="Eras Medium ITC" panose="020B0602030504020804" pitchFamily="34" charset="0"/>
              </a:rPr>
              <a:t>B</a:t>
            </a:r>
            <a:r>
              <a:rPr lang="en-US" dirty="0">
                <a:latin typeface="Eras Medium ITC" panose="020B0602030504020804" pitchFamily="34" charset="0"/>
              </a:rPr>
              <a:t>, and </a:t>
            </a:r>
            <a:r>
              <a:rPr lang="en-US" b="1" dirty="0">
                <a:latin typeface="Eras Medium ITC" panose="020B0602030504020804" pitchFamily="34" charset="0"/>
              </a:rPr>
              <a:t>C</a:t>
            </a:r>
            <a:r>
              <a:rPr lang="en-US" dirty="0">
                <a:latin typeface="Eras Medium ITC" panose="020B0602030504020804" pitchFamily="34" charset="0"/>
              </a:rPr>
              <a:t>. Therefore, the method returns the string </a:t>
            </a:r>
            <a:r>
              <a:rPr lang="en-US" b="1" dirty="0">
                <a:latin typeface="Eras Medium ITC" panose="020B0602030504020804" pitchFamily="34" charset="0"/>
              </a:rPr>
              <a:t>"ABC"</a:t>
            </a:r>
            <a:r>
              <a:rPr lang="en-US" dirty="0">
                <a:latin typeface="Eras Medium ITC" panose="020B0602030504020804" pitchFamily="34" charset="0"/>
              </a:rPr>
              <a:t>.</a:t>
            </a:r>
          </a:p>
          <a:p>
            <a:endParaRPr lang="en-US" sz="1050" dirty="0">
              <a:latin typeface="Eras Medium ITC" panose="020B0602030504020804" pitchFamily="34" charset="0"/>
            </a:endParaRPr>
          </a:p>
          <a:p>
            <a:endParaRPr lang="en-US" sz="1200" dirty="0">
              <a:latin typeface="Eras Medium ITC" panose="020B0602030504020804" pitchFamily="34" charset="0"/>
            </a:endParaRPr>
          </a:p>
          <a:p>
            <a:r>
              <a:rPr lang="en-US" b="1" u="sng" dirty="0">
                <a:solidFill>
                  <a:schemeClr val="accent1"/>
                </a:solidFill>
                <a:latin typeface="Eras Medium ITC" panose="020B0602030504020804" pitchFamily="34" charset="0"/>
              </a:rPr>
              <a:t>16. concat()</a:t>
            </a:r>
          </a:p>
          <a:p>
            <a:r>
              <a:rPr lang="en-US" dirty="0">
                <a:latin typeface="Eras Medium ITC" panose="020B0602030504020804" pitchFamily="34" charset="0"/>
              </a:rPr>
              <a:t>This method combines two or more strings into a single string. It returns a new string without changing the original strings.</a:t>
            </a:r>
          </a:p>
          <a:p>
            <a:endParaRPr lang="en-US" b="1" u="sng" dirty="0">
              <a:solidFill>
                <a:schemeClr val="accent1"/>
              </a:solidFill>
              <a:latin typeface="Eras Medium ITC" panose="020B0602030504020804" pitchFamily="34" charset="0"/>
            </a:endParaRPr>
          </a:p>
          <a:p>
            <a:endParaRPr lang="en-US" b="1" u="sng" dirty="0">
              <a:solidFill>
                <a:schemeClr val="accent1"/>
              </a:solidFill>
              <a:latin typeface="Eras Medium ITC" panose="020B0602030504020804" pitchFamily="34" charset="0"/>
            </a:endParaRPr>
          </a:p>
          <a:p>
            <a:endParaRPr lang="en-US" b="1" u="sng" dirty="0">
              <a:solidFill>
                <a:schemeClr val="accent1"/>
              </a:solidFill>
              <a:latin typeface="Eras Medium ITC" panose="020B0602030504020804" pitchFamily="34" charset="0"/>
            </a:endParaRPr>
          </a:p>
        </p:txBody>
      </p:sp>
      <p:pic>
        <p:nvPicPr>
          <p:cNvPr id="6" name="Picture 5">
            <a:extLst>
              <a:ext uri="{FF2B5EF4-FFF2-40B4-BE49-F238E27FC236}">
                <a16:creationId xmlns:a16="http://schemas.microsoft.com/office/drawing/2014/main" id="{860D8D8A-5D97-7127-7880-AFB23E9DC926}"/>
              </a:ext>
            </a:extLst>
          </p:cNvPr>
          <p:cNvPicPr>
            <a:picLocks noChangeAspect="1"/>
          </p:cNvPicPr>
          <p:nvPr/>
        </p:nvPicPr>
        <p:blipFill>
          <a:blip r:embed="rId2"/>
          <a:srcRect l="5290"/>
          <a:stretch>
            <a:fillRect/>
          </a:stretch>
        </p:blipFill>
        <p:spPr>
          <a:xfrm>
            <a:off x="818148" y="827846"/>
            <a:ext cx="8186511" cy="1151425"/>
          </a:xfrm>
          <a:prstGeom prst="rect">
            <a:avLst/>
          </a:prstGeom>
        </p:spPr>
      </p:pic>
      <p:pic>
        <p:nvPicPr>
          <p:cNvPr id="8" name="Picture 7">
            <a:extLst>
              <a:ext uri="{FF2B5EF4-FFF2-40B4-BE49-F238E27FC236}">
                <a16:creationId xmlns:a16="http://schemas.microsoft.com/office/drawing/2014/main" id="{83BEA41B-C25B-6A07-D7DB-1549E3E65F78}"/>
              </a:ext>
            </a:extLst>
          </p:cNvPr>
          <p:cNvPicPr>
            <a:picLocks noChangeAspect="1"/>
          </p:cNvPicPr>
          <p:nvPr/>
        </p:nvPicPr>
        <p:blipFill>
          <a:blip r:embed="rId3"/>
          <a:stretch>
            <a:fillRect/>
          </a:stretch>
        </p:blipFill>
        <p:spPr>
          <a:xfrm>
            <a:off x="837812" y="2071931"/>
            <a:ext cx="3521788" cy="496515"/>
          </a:xfrm>
          <a:prstGeom prst="rect">
            <a:avLst/>
          </a:prstGeom>
          <a:ln>
            <a:solidFill>
              <a:schemeClr val="accent1"/>
            </a:solidFill>
          </a:ln>
        </p:spPr>
      </p:pic>
      <p:pic>
        <p:nvPicPr>
          <p:cNvPr id="10" name="Picture 9">
            <a:extLst>
              <a:ext uri="{FF2B5EF4-FFF2-40B4-BE49-F238E27FC236}">
                <a16:creationId xmlns:a16="http://schemas.microsoft.com/office/drawing/2014/main" id="{A5CA90CB-156F-88C1-A853-6054FA5A4CBD}"/>
              </a:ext>
            </a:extLst>
          </p:cNvPr>
          <p:cNvPicPr>
            <a:picLocks noChangeAspect="1"/>
          </p:cNvPicPr>
          <p:nvPr/>
        </p:nvPicPr>
        <p:blipFill>
          <a:blip r:embed="rId4"/>
          <a:srcRect t="16408"/>
          <a:stretch>
            <a:fillRect/>
          </a:stretch>
        </p:blipFill>
        <p:spPr>
          <a:xfrm>
            <a:off x="905507" y="4706765"/>
            <a:ext cx="7272556" cy="1053316"/>
          </a:xfrm>
          <a:prstGeom prst="rect">
            <a:avLst/>
          </a:prstGeom>
        </p:spPr>
      </p:pic>
    </p:spTree>
    <p:extLst>
      <p:ext uri="{BB962C8B-B14F-4D97-AF65-F5344CB8AC3E}">
        <p14:creationId xmlns:p14="http://schemas.microsoft.com/office/powerpoint/2010/main" val="813258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40ABF-4739-4EDD-5694-51B995E28C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0560E19-C0A0-82A6-C0F8-A23EA6300EC0}"/>
              </a:ext>
            </a:extLst>
          </p:cNvPr>
          <p:cNvSpPr txBox="1"/>
          <p:nvPr/>
        </p:nvSpPr>
        <p:spPr>
          <a:xfrm>
            <a:off x="818148" y="827846"/>
            <a:ext cx="8129208" cy="4801314"/>
          </a:xfrm>
          <a:prstGeom prst="rect">
            <a:avLst/>
          </a:prstGeom>
          <a:noFill/>
        </p:spPr>
        <p:txBody>
          <a:bodyPr wrap="square" rtlCol="0">
            <a:spAutoFit/>
          </a:bodyPr>
          <a:lstStyle/>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r>
              <a:rPr lang="en-US" b="1" u="sng" dirty="0">
                <a:solidFill>
                  <a:schemeClr val="accent1"/>
                </a:solidFill>
                <a:latin typeface="Eras Medium ITC" panose="020B0602030504020804" pitchFamily="34" charset="0"/>
              </a:rPr>
              <a:t>17. split()</a:t>
            </a:r>
          </a:p>
          <a:p>
            <a:r>
              <a:rPr lang="en-US" dirty="0">
                <a:latin typeface="Eras Medium ITC" panose="020B0602030504020804" pitchFamily="34" charset="0"/>
              </a:rPr>
              <a:t>This method divides a string into an array using a specified separator. It returns a new array without changing the original string.</a:t>
            </a:r>
          </a:p>
          <a:p>
            <a:endParaRPr lang="en-US" sz="1200"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r>
              <a:rPr lang="en-US" dirty="0">
                <a:latin typeface="Eras Medium ITC" panose="020B0602030504020804" pitchFamily="34" charset="0"/>
              </a:rPr>
              <a:t>The split() method uses the comma (,) as a separator and divides the string into separate values. The result is an array containing Apple, Banana, Mango, and Orange.</a:t>
            </a:r>
          </a:p>
        </p:txBody>
      </p:sp>
      <p:pic>
        <p:nvPicPr>
          <p:cNvPr id="9" name="Picture 8">
            <a:extLst>
              <a:ext uri="{FF2B5EF4-FFF2-40B4-BE49-F238E27FC236}">
                <a16:creationId xmlns:a16="http://schemas.microsoft.com/office/drawing/2014/main" id="{425DC77A-6F86-BC8A-78CA-CBBA58ED24CC}"/>
              </a:ext>
            </a:extLst>
          </p:cNvPr>
          <p:cNvPicPr>
            <a:picLocks noChangeAspect="1"/>
          </p:cNvPicPr>
          <p:nvPr/>
        </p:nvPicPr>
        <p:blipFill>
          <a:blip r:embed="rId2"/>
          <a:stretch>
            <a:fillRect/>
          </a:stretch>
        </p:blipFill>
        <p:spPr>
          <a:xfrm>
            <a:off x="896806" y="925563"/>
            <a:ext cx="3675194" cy="418693"/>
          </a:xfrm>
          <a:prstGeom prst="rect">
            <a:avLst/>
          </a:prstGeom>
          <a:ln>
            <a:solidFill>
              <a:schemeClr val="accent1"/>
            </a:solidFill>
          </a:ln>
        </p:spPr>
      </p:pic>
      <p:pic>
        <p:nvPicPr>
          <p:cNvPr id="12" name="Picture 11">
            <a:extLst>
              <a:ext uri="{FF2B5EF4-FFF2-40B4-BE49-F238E27FC236}">
                <a16:creationId xmlns:a16="http://schemas.microsoft.com/office/drawing/2014/main" id="{A38ABEF7-EE8D-2489-67BD-79D62BFA8956}"/>
              </a:ext>
            </a:extLst>
          </p:cNvPr>
          <p:cNvPicPr>
            <a:picLocks noChangeAspect="1"/>
          </p:cNvPicPr>
          <p:nvPr/>
        </p:nvPicPr>
        <p:blipFill>
          <a:blip r:embed="rId3"/>
          <a:srcRect t="18178"/>
          <a:stretch>
            <a:fillRect/>
          </a:stretch>
        </p:blipFill>
        <p:spPr>
          <a:xfrm>
            <a:off x="896806" y="2871015"/>
            <a:ext cx="7735917" cy="988787"/>
          </a:xfrm>
          <a:prstGeom prst="rect">
            <a:avLst/>
          </a:prstGeom>
        </p:spPr>
      </p:pic>
      <p:pic>
        <p:nvPicPr>
          <p:cNvPr id="14" name="Picture 13">
            <a:extLst>
              <a:ext uri="{FF2B5EF4-FFF2-40B4-BE49-F238E27FC236}">
                <a16:creationId xmlns:a16="http://schemas.microsoft.com/office/drawing/2014/main" id="{90F8D2BB-EFD3-7FAF-78BA-C4607B0A7B7E}"/>
              </a:ext>
            </a:extLst>
          </p:cNvPr>
          <p:cNvPicPr>
            <a:picLocks noChangeAspect="1"/>
          </p:cNvPicPr>
          <p:nvPr/>
        </p:nvPicPr>
        <p:blipFill>
          <a:blip r:embed="rId4"/>
          <a:stretch>
            <a:fillRect/>
          </a:stretch>
        </p:blipFill>
        <p:spPr>
          <a:xfrm>
            <a:off x="896806" y="4001748"/>
            <a:ext cx="3537542" cy="440896"/>
          </a:xfrm>
          <a:prstGeom prst="rect">
            <a:avLst/>
          </a:prstGeom>
          <a:ln>
            <a:solidFill>
              <a:schemeClr val="accent1"/>
            </a:solidFill>
          </a:ln>
        </p:spPr>
      </p:pic>
    </p:spTree>
    <p:extLst>
      <p:ext uri="{BB962C8B-B14F-4D97-AF65-F5344CB8AC3E}">
        <p14:creationId xmlns:p14="http://schemas.microsoft.com/office/powerpoint/2010/main" val="3866299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2C0DD-4441-409F-D724-FB8FA3D41F3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C58783A-4474-E1B7-7805-A3CBE605D2B1}"/>
              </a:ext>
            </a:extLst>
          </p:cNvPr>
          <p:cNvSpPr txBox="1"/>
          <p:nvPr/>
        </p:nvSpPr>
        <p:spPr>
          <a:xfrm>
            <a:off x="818148" y="793122"/>
            <a:ext cx="8129208" cy="4555093"/>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18. repeat()</a:t>
            </a:r>
          </a:p>
          <a:p>
            <a:r>
              <a:rPr lang="en-US" dirty="0">
                <a:latin typeface="Eras Medium ITC" panose="020B0602030504020804" pitchFamily="34" charset="0"/>
              </a:rPr>
              <a:t>This method creates a new string by repeating the original string a specified number of times.</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200" dirty="0">
              <a:latin typeface="Eras Medium ITC" panose="020B0602030504020804" pitchFamily="34" charset="0"/>
            </a:endParaRPr>
          </a:p>
          <a:p>
            <a:r>
              <a:rPr lang="en-US" dirty="0">
                <a:latin typeface="Eras Medium ITC" panose="020B0602030504020804" pitchFamily="34" charset="0"/>
              </a:rPr>
              <a:t>In this example, the string "Hello " is repeated 3 times using the repeat() method. The returned string is "Hello </a:t>
            </a:r>
            <a:r>
              <a:rPr lang="en-US" dirty="0" err="1">
                <a:latin typeface="Eras Medium ITC" panose="020B0602030504020804" pitchFamily="34" charset="0"/>
              </a:rPr>
              <a:t>Hello</a:t>
            </a:r>
            <a:r>
              <a:rPr lang="en-US" dirty="0">
                <a:latin typeface="Eras Medium ITC" panose="020B0602030504020804" pitchFamily="34" charset="0"/>
              </a:rPr>
              <a:t> </a:t>
            </a:r>
            <a:r>
              <a:rPr lang="en-US" dirty="0" err="1">
                <a:latin typeface="Eras Medium ITC" panose="020B0602030504020804" pitchFamily="34" charset="0"/>
              </a:rPr>
              <a:t>Hello</a:t>
            </a:r>
            <a:r>
              <a:rPr lang="en-US" dirty="0">
                <a:latin typeface="Eras Medium ITC" panose="020B0602030504020804" pitchFamily="34" charset="0"/>
              </a:rPr>
              <a:t>".</a:t>
            </a:r>
          </a:p>
          <a:p>
            <a:endParaRPr lang="en-US" dirty="0">
              <a:latin typeface="Eras Medium ITC" panose="020B0602030504020804" pitchFamily="34" charset="0"/>
            </a:endParaRPr>
          </a:p>
          <a:p>
            <a:r>
              <a:rPr lang="en-US" b="1" u="sng" dirty="0">
                <a:solidFill>
                  <a:schemeClr val="accent1"/>
                </a:solidFill>
                <a:latin typeface="Eras Medium ITC" panose="020B0602030504020804" pitchFamily="34" charset="0"/>
              </a:rPr>
              <a:t>19. slice()</a:t>
            </a:r>
          </a:p>
          <a:p>
            <a:r>
              <a:rPr lang="en-US" dirty="0">
                <a:latin typeface="Eras Medium ITC" panose="020B0602030504020804" pitchFamily="34" charset="0"/>
              </a:rPr>
              <a:t>This method extracts a part of a string and returns it as a new string. It does not change the original string.</a:t>
            </a:r>
          </a:p>
        </p:txBody>
      </p:sp>
      <p:pic>
        <p:nvPicPr>
          <p:cNvPr id="5" name="Picture 4">
            <a:extLst>
              <a:ext uri="{FF2B5EF4-FFF2-40B4-BE49-F238E27FC236}">
                <a16:creationId xmlns:a16="http://schemas.microsoft.com/office/drawing/2014/main" id="{DF133E2B-BB1E-CFFA-2CCE-0E71685BA030}"/>
              </a:ext>
            </a:extLst>
          </p:cNvPr>
          <p:cNvPicPr>
            <a:picLocks noChangeAspect="1"/>
          </p:cNvPicPr>
          <p:nvPr/>
        </p:nvPicPr>
        <p:blipFill>
          <a:blip r:embed="rId2"/>
          <a:srcRect t="4776"/>
          <a:stretch>
            <a:fillRect/>
          </a:stretch>
        </p:blipFill>
        <p:spPr>
          <a:xfrm>
            <a:off x="872625" y="1818967"/>
            <a:ext cx="7417465" cy="1071716"/>
          </a:xfrm>
          <a:prstGeom prst="rect">
            <a:avLst/>
          </a:prstGeom>
        </p:spPr>
      </p:pic>
      <p:pic>
        <p:nvPicPr>
          <p:cNvPr id="8" name="Picture 7">
            <a:extLst>
              <a:ext uri="{FF2B5EF4-FFF2-40B4-BE49-F238E27FC236}">
                <a16:creationId xmlns:a16="http://schemas.microsoft.com/office/drawing/2014/main" id="{0093E8A0-65E3-0894-BE0F-12458F32715E}"/>
              </a:ext>
            </a:extLst>
          </p:cNvPr>
          <p:cNvPicPr>
            <a:picLocks noChangeAspect="1"/>
          </p:cNvPicPr>
          <p:nvPr/>
        </p:nvPicPr>
        <p:blipFill>
          <a:blip r:embed="rId3"/>
          <a:stretch>
            <a:fillRect/>
          </a:stretch>
        </p:blipFill>
        <p:spPr>
          <a:xfrm>
            <a:off x="886498" y="2996354"/>
            <a:ext cx="3252883" cy="452575"/>
          </a:xfrm>
          <a:prstGeom prst="rect">
            <a:avLst/>
          </a:prstGeom>
          <a:ln>
            <a:solidFill>
              <a:schemeClr val="accent1"/>
            </a:solidFill>
          </a:ln>
        </p:spPr>
      </p:pic>
    </p:spTree>
    <p:extLst>
      <p:ext uri="{BB962C8B-B14F-4D97-AF65-F5344CB8AC3E}">
        <p14:creationId xmlns:p14="http://schemas.microsoft.com/office/powerpoint/2010/main" val="382202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D97D5-70C3-8648-1467-42590C4982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05C39F-18F9-5ED2-C1B0-E2E211EA9072}"/>
              </a:ext>
            </a:extLst>
          </p:cNvPr>
          <p:cNvSpPr txBox="1"/>
          <p:nvPr/>
        </p:nvSpPr>
        <p:spPr>
          <a:xfrm>
            <a:off x="818148" y="827846"/>
            <a:ext cx="8129208" cy="4247317"/>
          </a:xfrm>
          <a:prstGeom prst="rect">
            <a:avLst/>
          </a:prstGeom>
          <a:noFill/>
        </p:spPr>
        <p:txBody>
          <a:bodyPr wrap="square" rtlCol="0">
            <a:spAutoFit/>
          </a:bodyPr>
          <a:lstStyle/>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r>
              <a:rPr lang="en-US" dirty="0">
                <a:latin typeface="Eras Medium ITC" panose="020B0602030504020804" pitchFamily="34" charset="0"/>
              </a:rPr>
              <a:t>The slice() method starts from index 4 and extracts characters until index 10 (10 is not included). Therefore, it returns "Script".</a:t>
            </a:r>
            <a:endParaRPr lang="en-US" sz="1050" dirty="0">
              <a:latin typeface="Eras Medium ITC" panose="020B0602030504020804" pitchFamily="34" charset="0"/>
            </a:endParaRPr>
          </a:p>
          <a:p>
            <a:endParaRPr lang="en-US" dirty="0">
              <a:latin typeface="Eras Medium ITC" panose="020B0602030504020804" pitchFamily="34" charset="0"/>
            </a:endParaRPr>
          </a:p>
          <a:p>
            <a:r>
              <a:rPr lang="en-US" b="1" u="sng" dirty="0">
                <a:solidFill>
                  <a:schemeClr val="accent1"/>
                </a:solidFill>
                <a:latin typeface="Eras Medium ITC" panose="020B0602030504020804" pitchFamily="34" charset="0"/>
              </a:rPr>
              <a:t>20. </a:t>
            </a:r>
            <a:r>
              <a:rPr lang="en-US" b="1" u="sng" dirty="0" err="1">
                <a:solidFill>
                  <a:schemeClr val="accent1"/>
                </a:solidFill>
                <a:latin typeface="Eras Medium ITC" panose="020B0602030504020804" pitchFamily="34" charset="0"/>
              </a:rPr>
              <a:t>substr</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extracts characters from a string starting at a specified position for a given number of characters.</a:t>
            </a:r>
            <a:endParaRPr lang="en-US" b="1" u="sng" dirty="0">
              <a:solidFill>
                <a:schemeClr val="accent1"/>
              </a:solidFill>
              <a:latin typeface="Eras Medium ITC" panose="020B0602030504020804" pitchFamily="34" charset="0"/>
            </a:endParaRPr>
          </a:p>
          <a:p>
            <a:endParaRPr lang="en-US" b="1" u="sng" dirty="0">
              <a:solidFill>
                <a:schemeClr val="accent1"/>
              </a:solidFill>
              <a:latin typeface="Eras Medium ITC" panose="020B0602030504020804" pitchFamily="34" charset="0"/>
            </a:endParaRPr>
          </a:p>
          <a:p>
            <a:endParaRPr lang="en-US" b="1" u="sng" dirty="0">
              <a:solidFill>
                <a:schemeClr val="accent1"/>
              </a:solidFill>
              <a:latin typeface="Eras Medium ITC" panose="020B0602030504020804" pitchFamily="34" charset="0"/>
            </a:endParaRPr>
          </a:p>
        </p:txBody>
      </p:sp>
      <p:pic>
        <p:nvPicPr>
          <p:cNvPr id="3" name="Picture 2">
            <a:extLst>
              <a:ext uri="{FF2B5EF4-FFF2-40B4-BE49-F238E27FC236}">
                <a16:creationId xmlns:a16="http://schemas.microsoft.com/office/drawing/2014/main" id="{5F3D38FC-92BC-7DD5-DFC2-4BFE0C28CF49}"/>
              </a:ext>
            </a:extLst>
          </p:cNvPr>
          <p:cNvPicPr>
            <a:picLocks noChangeAspect="1"/>
          </p:cNvPicPr>
          <p:nvPr/>
        </p:nvPicPr>
        <p:blipFill>
          <a:blip r:embed="rId2"/>
          <a:stretch>
            <a:fillRect/>
          </a:stretch>
        </p:blipFill>
        <p:spPr>
          <a:xfrm>
            <a:off x="954667" y="923705"/>
            <a:ext cx="7048790" cy="1070603"/>
          </a:xfrm>
          <a:prstGeom prst="rect">
            <a:avLst/>
          </a:prstGeom>
        </p:spPr>
      </p:pic>
      <p:pic>
        <p:nvPicPr>
          <p:cNvPr id="7" name="Picture 6">
            <a:extLst>
              <a:ext uri="{FF2B5EF4-FFF2-40B4-BE49-F238E27FC236}">
                <a16:creationId xmlns:a16="http://schemas.microsoft.com/office/drawing/2014/main" id="{1F714AD3-E2E7-8275-3910-FF77D7C598EB}"/>
              </a:ext>
            </a:extLst>
          </p:cNvPr>
          <p:cNvPicPr>
            <a:picLocks noChangeAspect="1"/>
          </p:cNvPicPr>
          <p:nvPr/>
        </p:nvPicPr>
        <p:blipFill>
          <a:blip r:embed="rId3"/>
          <a:stretch>
            <a:fillRect/>
          </a:stretch>
        </p:blipFill>
        <p:spPr>
          <a:xfrm>
            <a:off x="1023491" y="2109832"/>
            <a:ext cx="2525951" cy="489920"/>
          </a:xfrm>
          <a:prstGeom prst="rect">
            <a:avLst/>
          </a:prstGeom>
          <a:ln>
            <a:solidFill>
              <a:schemeClr val="accent1"/>
            </a:solidFill>
          </a:ln>
        </p:spPr>
      </p:pic>
      <p:pic>
        <p:nvPicPr>
          <p:cNvPr id="11" name="Picture 10">
            <a:extLst>
              <a:ext uri="{FF2B5EF4-FFF2-40B4-BE49-F238E27FC236}">
                <a16:creationId xmlns:a16="http://schemas.microsoft.com/office/drawing/2014/main" id="{CC4173E4-5D72-BEEA-BB38-19795A8E384D}"/>
              </a:ext>
            </a:extLst>
          </p:cNvPr>
          <p:cNvPicPr>
            <a:picLocks noChangeAspect="1"/>
          </p:cNvPicPr>
          <p:nvPr/>
        </p:nvPicPr>
        <p:blipFill>
          <a:blip r:embed="rId4"/>
          <a:stretch>
            <a:fillRect/>
          </a:stretch>
        </p:blipFill>
        <p:spPr>
          <a:xfrm>
            <a:off x="925170" y="4629354"/>
            <a:ext cx="7047073" cy="945536"/>
          </a:xfrm>
          <a:prstGeom prst="rect">
            <a:avLst/>
          </a:prstGeom>
        </p:spPr>
      </p:pic>
    </p:spTree>
    <p:extLst>
      <p:ext uri="{BB962C8B-B14F-4D97-AF65-F5344CB8AC3E}">
        <p14:creationId xmlns:p14="http://schemas.microsoft.com/office/powerpoint/2010/main" val="2492061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175B8-F2C9-035D-A69C-327B666D0FB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A6439E-CD2A-73B1-EB4D-B5A2FD2EE48D}"/>
              </a:ext>
            </a:extLst>
          </p:cNvPr>
          <p:cNvSpPr txBox="1"/>
          <p:nvPr/>
        </p:nvSpPr>
        <p:spPr>
          <a:xfrm>
            <a:off x="818148" y="955662"/>
            <a:ext cx="8129208" cy="4616648"/>
          </a:xfrm>
          <a:prstGeom prst="rect">
            <a:avLst/>
          </a:prstGeom>
          <a:noFill/>
        </p:spPr>
        <p:txBody>
          <a:bodyPr wrap="square" rtlCol="0">
            <a:spAutoFit/>
          </a:bodyPr>
          <a:lstStyle/>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2400" dirty="0">
              <a:latin typeface="Eras Medium ITC" panose="020B0602030504020804" pitchFamily="34" charset="0"/>
            </a:endParaRPr>
          </a:p>
          <a:p>
            <a:r>
              <a:rPr lang="en-US" b="1" u="sng" dirty="0">
                <a:solidFill>
                  <a:schemeClr val="accent1"/>
                </a:solidFill>
                <a:latin typeface="Eras Medium ITC" panose="020B0602030504020804" pitchFamily="34" charset="0"/>
              </a:rPr>
              <a:t>21. substring()</a:t>
            </a:r>
          </a:p>
          <a:p>
            <a:r>
              <a:rPr lang="en-US" dirty="0">
                <a:latin typeface="Eras Medium ITC" panose="020B0602030504020804" pitchFamily="34" charset="0"/>
              </a:rPr>
              <a:t>This method returns the characters between two specified indexes. It does not include the ending index.</a:t>
            </a:r>
            <a:endParaRPr lang="en-US" sz="1200"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r>
              <a:rPr lang="en-US" dirty="0">
                <a:latin typeface="Eras Medium ITC" panose="020B0602030504020804" pitchFamily="34" charset="0"/>
              </a:rPr>
              <a:t>The substring() method extracts characters from index 4 up to index 10 (excluding 10). The result is "Script".</a:t>
            </a:r>
          </a:p>
        </p:txBody>
      </p:sp>
      <p:pic>
        <p:nvPicPr>
          <p:cNvPr id="3" name="Picture 2">
            <a:extLst>
              <a:ext uri="{FF2B5EF4-FFF2-40B4-BE49-F238E27FC236}">
                <a16:creationId xmlns:a16="http://schemas.microsoft.com/office/drawing/2014/main" id="{5A2C6105-6432-5696-73EA-5B7857DF4E24}"/>
              </a:ext>
            </a:extLst>
          </p:cNvPr>
          <p:cNvPicPr>
            <a:picLocks noChangeAspect="1"/>
          </p:cNvPicPr>
          <p:nvPr/>
        </p:nvPicPr>
        <p:blipFill>
          <a:blip r:embed="rId2"/>
          <a:stretch>
            <a:fillRect/>
          </a:stretch>
        </p:blipFill>
        <p:spPr>
          <a:xfrm>
            <a:off x="896806" y="1090266"/>
            <a:ext cx="2092200" cy="416062"/>
          </a:xfrm>
          <a:prstGeom prst="rect">
            <a:avLst/>
          </a:prstGeom>
          <a:ln>
            <a:solidFill>
              <a:schemeClr val="accent1"/>
            </a:solidFill>
          </a:ln>
        </p:spPr>
      </p:pic>
      <p:pic>
        <p:nvPicPr>
          <p:cNvPr id="6" name="Picture 5">
            <a:extLst>
              <a:ext uri="{FF2B5EF4-FFF2-40B4-BE49-F238E27FC236}">
                <a16:creationId xmlns:a16="http://schemas.microsoft.com/office/drawing/2014/main" id="{BAFB12C3-1D3D-B23A-88C2-6AE101F1A26B}"/>
              </a:ext>
            </a:extLst>
          </p:cNvPr>
          <p:cNvPicPr>
            <a:picLocks noChangeAspect="1"/>
          </p:cNvPicPr>
          <p:nvPr/>
        </p:nvPicPr>
        <p:blipFill>
          <a:blip r:embed="rId3"/>
          <a:stretch>
            <a:fillRect/>
          </a:stretch>
        </p:blipFill>
        <p:spPr>
          <a:xfrm>
            <a:off x="896806" y="3011194"/>
            <a:ext cx="7883402" cy="1091243"/>
          </a:xfrm>
          <a:prstGeom prst="rect">
            <a:avLst/>
          </a:prstGeom>
        </p:spPr>
      </p:pic>
      <p:pic>
        <p:nvPicPr>
          <p:cNvPr id="8" name="Picture 7">
            <a:extLst>
              <a:ext uri="{FF2B5EF4-FFF2-40B4-BE49-F238E27FC236}">
                <a16:creationId xmlns:a16="http://schemas.microsoft.com/office/drawing/2014/main" id="{66231124-B00D-46AC-E141-A361DD65AF87}"/>
              </a:ext>
            </a:extLst>
          </p:cNvPr>
          <p:cNvPicPr>
            <a:picLocks noChangeAspect="1"/>
          </p:cNvPicPr>
          <p:nvPr/>
        </p:nvPicPr>
        <p:blipFill>
          <a:blip r:embed="rId4"/>
          <a:stretch>
            <a:fillRect/>
          </a:stretch>
        </p:blipFill>
        <p:spPr>
          <a:xfrm>
            <a:off x="896806" y="4212479"/>
            <a:ext cx="2190523" cy="446823"/>
          </a:xfrm>
          <a:prstGeom prst="rect">
            <a:avLst/>
          </a:prstGeom>
          <a:ln>
            <a:solidFill>
              <a:schemeClr val="accent1"/>
            </a:solidFill>
          </a:ln>
        </p:spPr>
      </p:pic>
    </p:spTree>
    <p:extLst>
      <p:ext uri="{BB962C8B-B14F-4D97-AF65-F5344CB8AC3E}">
        <p14:creationId xmlns:p14="http://schemas.microsoft.com/office/powerpoint/2010/main" val="4171490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8AF7A-56C2-51B5-41A2-81CC8618EFB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3AAC882-DDE5-A684-58A3-4CA1C0E1D110}"/>
              </a:ext>
            </a:extLst>
          </p:cNvPr>
          <p:cNvSpPr txBox="1"/>
          <p:nvPr/>
        </p:nvSpPr>
        <p:spPr>
          <a:xfrm>
            <a:off x="818148" y="960266"/>
            <a:ext cx="8129208" cy="4585871"/>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22. toString()</a:t>
            </a:r>
          </a:p>
          <a:p>
            <a:r>
              <a:rPr lang="en-US" dirty="0">
                <a:latin typeface="Eras Medium ITC" panose="020B0602030504020804" pitchFamily="34" charset="0"/>
              </a:rPr>
              <a:t>This method converts a value into a string. It is commonly used to convert numbers, arrays, or other data types into string format.</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200" dirty="0">
              <a:latin typeface="Eras Medium ITC" panose="020B0602030504020804" pitchFamily="34" charset="0"/>
            </a:endParaRPr>
          </a:p>
          <a:p>
            <a:r>
              <a:rPr lang="en-US" dirty="0">
                <a:latin typeface="Eras Medium ITC" panose="020B0602030504020804" pitchFamily="34" charset="0"/>
              </a:rPr>
              <a:t>In this example, the variable num stores the number 123. The toString() method converts the number into a string and displays 123.</a:t>
            </a:r>
          </a:p>
          <a:p>
            <a:endParaRPr lang="en-US" sz="2000" dirty="0">
              <a:latin typeface="Eras Medium ITC" panose="020B0602030504020804" pitchFamily="34" charset="0"/>
            </a:endParaRPr>
          </a:p>
          <a:p>
            <a:r>
              <a:rPr lang="en-US" b="1" u="sng" dirty="0">
                <a:solidFill>
                  <a:schemeClr val="accent1"/>
                </a:solidFill>
                <a:latin typeface="Eras Medium ITC" panose="020B0602030504020804" pitchFamily="34" charset="0"/>
              </a:rPr>
              <a:t>23. valueOf()</a:t>
            </a:r>
          </a:p>
          <a:p>
            <a:r>
              <a:rPr lang="en-US" dirty="0">
                <a:latin typeface="Eras Medium ITC" panose="020B0602030504020804" pitchFamily="34" charset="0"/>
              </a:rPr>
              <a:t>This method returns the original value of a string object. In most cases, it returns the same string stored in the object.</a:t>
            </a:r>
          </a:p>
        </p:txBody>
      </p:sp>
      <p:pic>
        <p:nvPicPr>
          <p:cNvPr id="3" name="Picture 2">
            <a:extLst>
              <a:ext uri="{FF2B5EF4-FFF2-40B4-BE49-F238E27FC236}">
                <a16:creationId xmlns:a16="http://schemas.microsoft.com/office/drawing/2014/main" id="{D809A328-A11A-70D3-66A3-33ED88B2F069}"/>
              </a:ext>
            </a:extLst>
          </p:cNvPr>
          <p:cNvPicPr>
            <a:picLocks noChangeAspect="1"/>
          </p:cNvPicPr>
          <p:nvPr/>
        </p:nvPicPr>
        <p:blipFill>
          <a:blip r:embed="rId2"/>
          <a:stretch>
            <a:fillRect/>
          </a:stretch>
        </p:blipFill>
        <p:spPr>
          <a:xfrm>
            <a:off x="886498" y="1959701"/>
            <a:ext cx="7815050" cy="1056088"/>
          </a:xfrm>
          <a:prstGeom prst="rect">
            <a:avLst/>
          </a:prstGeom>
        </p:spPr>
      </p:pic>
      <p:pic>
        <p:nvPicPr>
          <p:cNvPr id="7" name="Picture 6">
            <a:extLst>
              <a:ext uri="{FF2B5EF4-FFF2-40B4-BE49-F238E27FC236}">
                <a16:creationId xmlns:a16="http://schemas.microsoft.com/office/drawing/2014/main" id="{E500F35D-10F5-178F-0790-A49C5D08FECD}"/>
              </a:ext>
            </a:extLst>
          </p:cNvPr>
          <p:cNvPicPr>
            <a:picLocks noChangeAspect="1"/>
          </p:cNvPicPr>
          <p:nvPr/>
        </p:nvPicPr>
        <p:blipFill>
          <a:blip r:embed="rId3"/>
          <a:stretch>
            <a:fillRect/>
          </a:stretch>
        </p:blipFill>
        <p:spPr>
          <a:xfrm>
            <a:off x="886498" y="3156845"/>
            <a:ext cx="2338483" cy="407667"/>
          </a:xfrm>
          <a:prstGeom prst="rect">
            <a:avLst/>
          </a:prstGeom>
          <a:ln>
            <a:solidFill>
              <a:schemeClr val="accent1"/>
            </a:solidFill>
          </a:ln>
        </p:spPr>
      </p:pic>
    </p:spTree>
    <p:extLst>
      <p:ext uri="{BB962C8B-B14F-4D97-AF65-F5344CB8AC3E}">
        <p14:creationId xmlns:p14="http://schemas.microsoft.com/office/powerpoint/2010/main" val="748767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0D5C3-4CF5-18CB-BCB4-695B02BF226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EEFF50-A212-C7DB-A3D8-883C35AB31D8}"/>
              </a:ext>
            </a:extLst>
          </p:cNvPr>
          <p:cNvSpPr txBox="1"/>
          <p:nvPr/>
        </p:nvSpPr>
        <p:spPr>
          <a:xfrm>
            <a:off x="818148" y="729526"/>
            <a:ext cx="8129208" cy="2862322"/>
          </a:xfrm>
          <a:prstGeom prst="rect">
            <a:avLst/>
          </a:prstGeom>
          <a:noFill/>
        </p:spPr>
        <p:txBody>
          <a:bodyPr wrap="square" rtlCol="0">
            <a:spAutoFit/>
          </a:bodyPr>
          <a:lstStyle/>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r>
              <a:rPr lang="en-US" dirty="0">
                <a:latin typeface="Eras Medium ITC" panose="020B0602030504020804" pitchFamily="34" charset="0"/>
              </a:rPr>
              <a:t>In this example, a String object is created with the value "JavaScript". The valueOf() method returns the original string value stored in the object.</a:t>
            </a:r>
          </a:p>
        </p:txBody>
      </p:sp>
      <p:pic>
        <p:nvPicPr>
          <p:cNvPr id="5" name="Picture 4">
            <a:extLst>
              <a:ext uri="{FF2B5EF4-FFF2-40B4-BE49-F238E27FC236}">
                <a16:creationId xmlns:a16="http://schemas.microsoft.com/office/drawing/2014/main" id="{227FC67B-0A15-F321-0F88-A17D2AB05BA7}"/>
              </a:ext>
            </a:extLst>
          </p:cNvPr>
          <p:cNvPicPr>
            <a:picLocks noChangeAspect="1"/>
          </p:cNvPicPr>
          <p:nvPr/>
        </p:nvPicPr>
        <p:blipFill>
          <a:blip r:embed="rId2"/>
          <a:stretch>
            <a:fillRect/>
          </a:stretch>
        </p:blipFill>
        <p:spPr>
          <a:xfrm>
            <a:off x="926300" y="1115472"/>
            <a:ext cx="7735917" cy="1045215"/>
          </a:xfrm>
          <a:prstGeom prst="rect">
            <a:avLst/>
          </a:prstGeom>
        </p:spPr>
      </p:pic>
      <p:pic>
        <p:nvPicPr>
          <p:cNvPr id="9" name="Picture 8">
            <a:extLst>
              <a:ext uri="{FF2B5EF4-FFF2-40B4-BE49-F238E27FC236}">
                <a16:creationId xmlns:a16="http://schemas.microsoft.com/office/drawing/2014/main" id="{0CCA91A2-1298-62C5-1082-363BCE425255}"/>
              </a:ext>
            </a:extLst>
          </p:cNvPr>
          <p:cNvPicPr>
            <a:picLocks noChangeAspect="1"/>
          </p:cNvPicPr>
          <p:nvPr/>
        </p:nvPicPr>
        <p:blipFill>
          <a:blip r:embed="rId3"/>
          <a:stretch>
            <a:fillRect/>
          </a:stretch>
        </p:blipFill>
        <p:spPr>
          <a:xfrm>
            <a:off x="945964" y="2295583"/>
            <a:ext cx="2971154" cy="443108"/>
          </a:xfrm>
          <a:prstGeom prst="rect">
            <a:avLst/>
          </a:prstGeom>
          <a:ln>
            <a:solidFill>
              <a:schemeClr val="accent1"/>
            </a:solidFill>
          </a:ln>
        </p:spPr>
      </p:pic>
      <p:sp>
        <p:nvSpPr>
          <p:cNvPr id="11" name="TextBox 10">
            <a:extLst>
              <a:ext uri="{FF2B5EF4-FFF2-40B4-BE49-F238E27FC236}">
                <a16:creationId xmlns:a16="http://schemas.microsoft.com/office/drawing/2014/main" id="{07B142E5-532E-274E-2726-FC53901B9357}"/>
              </a:ext>
            </a:extLst>
          </p:cNvPr>
          <p:cNvSpPr txBox="1"/>
          <p:nvPr/>
        </p:nvSpPr>
        <p:spPr>
          <a:xfrm>
            <a:off x="818148" y="3958130"/>
            <a:ext cx="7844069" cy="1754326"/>
          </a:xfrm>
          <a:prstGeom prst="rect">
            <a:avLst/>
          </a:prstGeom>
          <a:noFill/>
        </p:spPr>
        <p:txBody>
          <a:bodyPr wrap="square" rtlCol="0">
            <a:spAutoFit/>
          </a:bodyPr>
          <a:lstStyle/>
          <a:p>
            <a:pPr marL="285750" indent="-285750">
              <a:buFont typeface="Wingdings" panose="05000000000000000000" pitchFamily="2" charset="2"/>
              <a:buChar char="ü"/>
            </a:pPr>
            <a:r>
              <a:rPr lang="en-US" b="1" dirty="0">
                <a:solidFill>
                  <a:schemeClr val="accent1"/>
                </a:solidFill>
                <a:latin typeface="Eras Medium ITC" panose="020B0602030504020804" pitchFamily="34" charset="0"/>
              </a:rPr>
              <a:t>Why do we need String Methods?</a:t>
            </a:r>
          </a:p>
          <a:p>
            <a:r>
              <a:rPr lang="en-US" dirty="0">
                <a:latin typeface="Eras Medium ITC" panose="020B0602030504020804" pitchFamily="34" charset="0"/>
              </a:rPr>
              <a:t>String methods are used to easily work with text in JavaScript. They help us search, compare, modify, extract, join, and format strings without writing long code. They save time, reduce code repetition, and make programs easier to understand. String methods are commonly used in login systems, search bars, form validation, text editors, and web applications.</a:t>
            </a:r>
          </a:p>
        </p:txBody>
      </p:sp>
    </p:spTree>
    <p:extLst>
      <p:ext uri="{BB962C8B-B14F-4D97-AF65-F5344CB8AC3E}">
        <p14:creationId xmlns:p14="http://schemas.microsoft.com/office/powerpoint/2010/main" val="3806676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149E7-2210-0A0E-FBE9-A976CC42915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2C2311E-06B4-B1BD-6C51-459FBFEFB601}"/>
              </a:ext>
            </a:extLst>
          </p:cNvPr>
          <p:cNvSpPr/>
          <p:nvPr/>
        </p:nvSpPr>
        <p:spPr>
          <a:xfrm>
            <a:off x="3437713" y="2551837"/>
            <a:ext cx="4195700" cy="923330"/>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THANK YOU </a:t>
            </a:r>
          </a:p>
        </p:txBody>
      </p:sp>
    </p:spTree>
    <p:extLst>
      <p:ext uri="{BB962C8B-B14F-4D97-AF65-F5344CB8AC3E}">
        <p14:creationId xmlns:p14="http://schemas.microsoft.com/office/powerpoint/2010/main" val="2165352056"/>
      </p:ext>
    </p:extLst>
  </p:cSld>
  <p:clrMapOvr>
    <a:masterClrMapping/>
  </p:clrMapOvr>
</p:sld>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234</TotalTime>
  <Words>1303</Words>
  <Application>Microsoft Office PowerPoint</Application>
  <PresentationFormat>Widescreen</PresentationFormat>
  <Paragraphs>238</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Eras Medium ITC</vt:lpstr>
      <vt:lpstr>Trebuchet MS</vt:lpstr>
      <vt:lpstr>Wingdings</vt:lpstr>
      <vt:lpstr>Wingdings 3</vt:lpstr>
      <vt:lpstr>Facet</vt:lpstr>
      <vt:lpstr>PowerPoint Presentation</vt:lpstr>
      <vt:lpstr>What is a String? A string is a sequence of characters used to store text in JavaScript. It can contain letters, numbers, symbols, and spaces. Strings are written inside single quotes (' '), double quotes (" "), or backticks (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Romaisa Shahbaz</dc:creator>
  <cp:lastModifiedBy>Romaisa Shahbaz</cp:lastModifiedBy>
  <cp:revision>12</cp:revision>
  <dcterms:created xsi:type="dcterms:W3CDTF">2026-07-24T09:59:25Z</dcterms:created>
  <dcterms:modified xsi:type="dcterms:W3CDTF">2026-07-25T05:35:51Z</dcterms:modified>
</cp:coreProperties>
</file>