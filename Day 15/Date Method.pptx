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BB7D6-BF7A-4ED5-99ED-017D996485C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63070-DD5E-4690-BFE0-2D8F3DB1F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0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5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2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9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4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0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3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1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2865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79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5456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22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36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0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94362-B0E1-4738-987E-86645CA6BA6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6EAC092-5E70-43AB-914F-E28434A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9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8670DD-07FB-CB9A-22DB-2FF4EFD4FF11}"/>
              </a:ext>
            </a:extLst>
          </p:cNvPr>
          <p:cNvSpPr/>
          <p:nvPr/>
        </p:nvSpPr>
        <p:spPr>
          <a:xfrm>
            <a:off x="3042570" y="2397064"/>
            <a:ext cx="512364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DATE METHODS</a:t>
            </a: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 JAVASCRIPT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4519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21D2BD-D499-F7A3-C62F-C4DE8DCD896C}"/>
              </a:ext>
            </a:extLst>
          </p:cNvPr>
          <p:cNvSpPr txBox="1"/>
          <p:nvPr/>
        </p:nvSpPr>
        <p:spPr>
          <a:xfrm>
            <a:off x="865240" y="889843"/>
            <a:ext cx="80231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What is a Date?</a:t>
            </a:r>
          </a:p>
          <a:p>
            <a:r>
              <a:rPr lang="en-US" dirty="0">
                <a:latin typeface="Eras Medium ITC" panose="020B0602030504020804" pitchFamily="34" charset="0"/>
              </a:rPr>
              <a:t>A Date object in JavaScript is used to work with dates and time. It helps us get the current date and time or change it whenever needed.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Why do we use Date?</a:t>
            </a:r>
          </a:p>
          <a:p>
            <a:r>
              <a:rPr lang="en-US" dirty="0">
                <a:latin typeface="Eras Medium ITC" panose="020B0602030504020804" pitchFamily="34" charset="0"/>
              </a:rPr>
              <a:t>Date methods help us:</a:t>
            </a:r>
          </a:p>
          <a:p>
            <a:r>
              <a:rPr lang="en-US" dirty="0">
                <a:latin typeface="Eras Medium ITC" panose="020B0602030504020804" pitchFamily="34" charset="0"/>
              </a:rPr>
              <a:t>•	Display the current date and time. </a:t>
            </a:r>
          </a:p>
          <a:p>
            <a:r>
              <a:rPr lang="en-US" dirty="0">
                <a:latin typeface="Eras Medium ITC" panose="020B0602030504020804" pitchFamily="34" charset="0"/>
              </a:rPr>
              <a:t>•	Get the day, month, and year. </a:t>
            </a:r>
          </a:p>
          <a:p>
            <a:r>
              <a:rPr lang="en-US" dirty="0">
                <a:latin typeface="Eras Medium ITC" panose="020B0602030504020804" pitchFamily="34" charset="0"/>
              </a:rPr>
              <a:t>•	Change the date or time. </a:t>
            </a:r>
          </a:p>
          <a:p>
            <a:r>
              <a:rPr lang="en-US" dirty="0">
                <a:latin typeface="Eras Medium ITC" panose="020B0602030504020804" pitchFamily="34" charset="0"/>
              </a:rPr>
              <a:t>•	Build calendars, clocks, reminders, and scheduling systems. 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pPr algn="ctr"/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DATE METHODS</a:t>
            </a:r>
          </a:p>
          <a:p>
            <a:pPr algn="ctr"/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r>
              <a:rPr lang="en-US" dirty="0">
                <a:latin typeface="Eras Medium ITC" panose="020B0602030504020804" pitchFamily="34" charset="0"/>
              </a:rPr>
              <a:t>Date methods are built-in JavaScript functions that help us get or change different parts of a date and time.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93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DB3F0-CABF-0F23-A6BB-754647F0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0A120-4F05-F55F-CD87-0155089052BC}"/>
              </a:ext>
            </a:extLst>
          </p:cNvPr>
          <p:cNvSpPr txBox="1"/>
          <p:nvPr/>
        </p:nvSpPr>
        <p:spPr>
          <a:xfrm>
            <a:off x="865240" y="840683"/>
            <a:ext cx="802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5B7F5-63E6-A043-E996-91E8B355835B}"/>
              </a:ext>
            </a:extLst>
          </p:cNvPr>
          <p:cNvSpPr txBox="1"/>
          <p:nvPr/>
        </p:nvSpPr>
        <p:spPr>
          <a:xfrm>
            <a:off x="2497395" y="1348515"/>
            <a:ext cx="5279921" cy="2031325"/>
          </a:xfrm>
          <a:prstGeom prst="rect">
            <a:avLst/>
          </a:prstGeom>
          <a:noFill/>
        </p:spPr>
        <p:txBody>
          <a:bodyPr wrap="square" numCol="2" spcCol="914400" rtlCol="0">
            <a:spAutoFit/>
          </a:bodyPr>
          <a:lstStyle/>
          <a:p>
            <a:r>
              <a:rPr lang="en-US" dirty="0">
                <a:latin typeface="Eras Medium ITC" panose="020B0602030504020804" pitchFamily="34" charset="0"/>
              </a:rPr>
              <a:t>1.  new Date()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2. toDateString()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3. getDate()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4. </a:t>
            </a:r>
            <a:r>
              <a:rPr lang="en-US" dirty="0" err="1">
                <a:latin typeface="Eras Medium ITC" panose="020B0602030504020804" pitchFamily="34" charset="0"/>
              </a:rPr>
              <a:t>getMonth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5. </a:t>
            </a:r>
            <a:r>
              <a:rPr lang="en-US" dirty="0" err="1">
                <a:latin typeface="Eras Medium ITC" panose="020B0602030504020804" pitchFamily="34" charset="0"/>
              </a:rPr>
              <a:t>getFullYear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6. </a:t>
            </a:r>
            <a:r>
              <a:rPr lang="en-US" dirty="0" err="1">
                <a:latin typeface="Eras Medium ITC" panose="020B0602030504020804" pitchFamily="34" charset="0"/>
              </a:rPr>
              <a:t>getDay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7. </a:t>
            </a:r>
            <a:r>
              <a:rPr lang="en-US" dirty="0" err="1">
                <a:latin typeface="Eras Medium ITC" panose="020B0602030504020804" pitchFamily="34" charset="0"/>
              </a:rPr>
              <a:t>getHours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8. </a:t>
            </a:r>
            <a:r>
              <a:rPr lang="en-US" dirty="0" err="1">
                <a:latin typeface="Eras Medium ITC" panose="020B0602030504020804" pitchFamily="34" charset="0"/>
              </a:rPr>
              <a:t>getMinutes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9. </a:t>
            </a:r>
            <a:r>
              <a:rPr lang="en-US" dirty="0" err="1">
                <a:latin typeface="Eras Medium ITC" panose="020B0602030504020804" pitchFamily="34" charset="0"/>
              </a:rPr>
              <a:t>getSeconds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10. </a:t>
            </a:r>
            <a:r>
              <a:rPr lang="en-US" dirty="0" err="1">
                <a:latin typeface="Eras Medium ITC" panose="020B0602030504020804" pitchFamily="34" charset="0"/>
              </a:rPr>
              <a:t>getMilliseconds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11. </a:t>
            </a:r>
            <a:r>
              <a:rPr lang="en-US" dirty="0" err="1">
                <a:latin typeface="Eras Medium ITC" panose="020B0602030504020804" pitchFamily="34" charset="0"/>
              </a:rPr>
              <a:t>setDate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12. </a:t>
            </a:r>
            <a:r>
              <a:rPr lang="en-US" dirty="0" err="1">
                <a:latin typeface="Eras Medium ITC" panose="020B0602030504020804" pitchFamily="34" charset="0"/>
              </a:rPr>
              <a:t>setMonth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13.	</a:t>
            </a:r>
            <a:r>
              <a:rPr lang="en-US" dirty="0" err="1">
                <a:latin typeface="Eras Medium ITC" panose="020B0602030504020804" pitchFamily="34" charset="0"/>
              </a:rPr>
              <a:t>setFullYear</a:t>
            </a:r>
            <a:r>
              <a:rPr lang="en-US" dirty="0">
                <a:latin typeface="Eras Medium ITC" panose="020B0602030504020804" pitchFamily="34" charset="0"/>
              </a:rPr>
              <a:t>() </a:t>
            </a:r>
          </a:p>
          <a:p>
            <a:r>
              <a:rPr lang="en-US" dirty="0">
                <a:latin typeface="Eras Medium ITC" panose="020B0602030504020804" pitchFamily="34" charset="0"/>
              </a:rPr>
              <a:t>14.	</a:t>
            </a:r>
            <a:r>
              <a:rPr lang="en-US" dirty="0" err="1">
                <a:latin typeface="Eras Medium ITC" panose="020B0602030504020804" pitchFamily="34" charset="0"/>
              </a:rPr>
              <a:t>setHours</a:t>
            </a:r>
            <a:r>
              <a:rPr lang="en-US" dirty="0">
                <a:latin typeface="Eras Medium ITC" panose="020B0602030504020804" pitchFamily="34" charset="0"/>
              </a:rPr>
              <a:t>()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714C67-C2FC-CF5F-10BE-7814AADD1A01}"/>
              </a:ext>
            </a:extLst>
          </p:cNvPr>
          <p:cNvGrpSpPr/>
          <p:nvPr/>
        </p:nvGrpSpPr>
        <p:grpSpPr>
          <a:xfrm>
            <a:off x="752169" y="3687123"/>
            <a:ext cx="8023122" cy="2197520"/>
            <a:chOff x="742337" y="3687123"/>
            <a:chExt cx="8023122" cy="21975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4178F2-5C70-1A14-51E5-BDFF28586CFD}"/>
                </a:ext>
              </a:extLst>
            </p:cNvPr>
            <p:cNvSpPr txBox="1"/>
            <p:nvPr/>
          </p:nvSpPr>
          <p:spPr>
            <a:xfrm>
              <a:off x="742337" y="3687123"/>
              <a:ext cx="80231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u="sng" dirty="0">
                  <a:solidFill>
                    <a:schemeClr val="accent1"/>
                  </a:solidFill>
                  <a:latin typeface="Eras Medium ITC" panose="020B0602030504020804" pitchFamily="34" charset="0"/>
                </a:rPr>
                <a:t>1. new Date()</a:t>
              </a:r>
            </a:p>
            <a:p>
              <a:r>
                <a:rPr lang="en-US" dirty="0">
                  <a:latin typeface="Eras Medium ITC" panose="020B0602030504020804" pitchFamily="34" charset="0"/>
                </a:rPr>
                <a:t>The new Date() constructor creates a new Date object with the current date and time.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BF71966-F0DD-AAC3-B50C-7BA42C78D682}"/>
                </a:ext>
              </a:extLst>
            </p:cNvPr>
            <p:cNvGrpSpPr/>
            <p:nvPr/>
          </p:nvGrpSpPr>
          <p:grpSpPr>
            <a:xfrm>
              <a:off x="822568" y="4714666"/>
              <a:ext cx="6950922" cy="1169977"/>
              <a:chOff x="822568" y="4714666"/>
              <a:chExt cx="6950922" cy="116997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67F46ED-4D00-4867-B999-54CF9C07B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2568" y="4714666"/>
                <a:ext cx="6950922" cy="603406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1CE2E2F-DA62-4FC0-A168-0F60C0728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5408" y="5479989"/>
                <a:ext cx="6681018" cy="40465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011756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068E-0FEB-86F4-0F5E-0035CA7C2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513FF2E-4E1D-5359-4A4A-BF1B034AA57D}"/>
              </a:ext>
            </a:extLst>
          </p:cNvPr>
          <p:cNvSpPr txBox="1"/>
          <p:nvPr/>
        </p:nvSpPr>
        <p:spPr>
          <a:xfrm>
            <a:off x="732503" y="619462"/>
            <a:ext cx="772323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Eras Medium ITC" panose="020B0602030504020804" pitchFamily="34" charset="0"/>
              </a:rPr>
              <a:t>First, new Date() gets the current date and time from the computer and stores it in the variable today. Then document.write() displays the complete date and time on the webpage.</a:t>
            </a: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2. toDateString()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displays only the date in a simple and readable format.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sz="1000" dirty="0">
              <a:latin typeface="Eras Medium ITC" panose="020B0602030504020804" pitchFamily="34" charset="0"/>
            </a:endParaRPr>
          </a:p>
          <a:p>
            <a:r>
              <a:rPr lang="en-US" dirty="0">
                <a:latin typeface="Eras Medium ITC" panose="020B0602030504020804" pitchFamily="34" charset="0"/>
              </a:rPr>
              <a:t>This method removes the time from the Date object and shows only the day, month, date, and year.</a:t>
            </a: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3. getDate()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returns the current day of the month.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sz="400" dirty="0">
              <a:latin typeface="Eras Medium ITC" panose="020B0602030504020804" pitchFamily="34" charset="0"/>
            </a:endParaRPr>
          </a:p>
          <a:p>
            <a:r>
              <a:rPr lang="en-US" dirty="0">
                <a:latin typeface="Eras Medium ITC" panose="020B0602030504020804" pitchFamily="34" charset="0"/>
              </a:rPr>
              <a:t>This method reads the Date object and returns only the date. </a:t>
            </a:r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ACCB37-D06B-25F9-9D50-5AD0D026A013}"/>
              </a:ext>
            </a:extLst>
          </p:cNvPr>
          <p:cNvGrpSpPr/>
          <p:nvPr/>
        </p:nvGrpSpPr>
        <p:grpSpPr>
          <a:xfrm>
            <a:off x="830581" y="2464803"/>
            <a:ext cx="8325514" cy="672510"/>
            <a:chOff x="830581" y="2464803"/>
            <a:chExt cx="8325514" cy="6725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4380D9C-E4C5-6D56-3532-8F25CBD0D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7147" b="-2039"/>
            <a:stretch>
              <a:fillRect/>
            </a:stretch>
          </p:blipFill>
          <p:spPr>
            <a:xfrm>
              <a:off x="830581" y="2464803"/>
              <a:ext cx="5599716" cy="67251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0CCB9C9-6F79-4C95-A6CB-1EDD094C0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7194"/>
            <a:stretch>
              <a:fillRect/>
            </a:stretch>
          </p:blipFill>
          <p:spPr>
            <a:xfrm>
              <a:off x="6577780" y="2520413"/>
              <a:ext cx="2578315" cy="56128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E4E3C8-9A98-0067-5198-6B7D6983A611}"/>
              </a:ext>
            </a:extLst>
          </p:cNvPr>
          <p:cNvGrpSpPr/>
          <p:nvPr/>
        </p:nvGrpSpPr>
        <p:grpSpPr>
          <a:xfrm>
            <a:off x="830581" y="4764532"/>
            <a:ext cx="6641282" cy="672510"/>
            <a:chOff x="830581" y="4764532"/>
            <a:chExt cx="6641282" cy="6725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1F9F356-536F-8ACC-6129-2BFEC233E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" r="30537"/>
            <a:stretch>
              <a:fillRect/>
            </a:stretch>
          </p:blipFill>
          <p:spPr>
            <a:xfrm>
              <a:off x="830581" y="4764532"/>
              <a:ext cx="5599716" cy="67251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45DDEE5-6B63-D03B-D141-A958B0F86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77780" y="4782358"/>
              <a:ext cx="894083" cy="60544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84073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5F679-BF3E-2E4F-AD8D-6CC0DA63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E0896B-7053-8B58-396D-7764B306B5F0}"/>
              </a:ext>
            </a:extLst>
          </p:cNvPr>
          <p:cNvSpPr txBox="1"/>
          <p:nvPr/>
        </p:nvSpPr>
        <p:spPr>
          <a:xfrm>
            <a:off x="732503" y="560470"/>
            <a:ext cx="772323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4.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getMonth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returns the current month as a number.</a:t>
            </a:r>
          </a:p>
          <a:p>
            <a:r>
              <a:rPr lang="en-US" dirty="0">
                <a:latin typeface="Eras Medium ITC" panose="020B0602030504020804" pitchFamily="34" charset="0"/>
              </a:rPr>
              <a:t>a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sz="2000" dirty="0">
              <a:latin typeface="Eras Medium ITC" panose="020B0602030504020804" pitchFamily="34" charset="0"/>
            </a:endParaRPr>
          </a:p>
          <a:p>
            <a:r>
              <a:rPr lang="en-US" dirty="0">
                <a:latin typeface="Eras Medium ITC" panose="020B0602030504020804" pitchFamily="34" charset="0"/>
              </a:rPr>
              <a:t>JavaScript starts counting months from 0, so January is 0, February is 1, and December is 11. If you want the actual month number, add 1.</a:t>
            </a: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5.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getFullYear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returns the current year.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6.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getDay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returns the day of the week</a:t>
            </a: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405FA1-DEB5-028D-FCE8-67ED35E4E3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5"/>
          <a:stretch>
            <a:fillRect/>
          </a:stretch>
        </p:blipFill>
        <p:spPr>
          <a:xfrm>
            <a:off x="828341" y="1255912"/>
            <a:ext cx="5710110" cy="9366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4BEA55-03EB-6523-7EE0-5D8242859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167" y="1275576"/>
            <a:ext cx="455642" cy="8580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C8ED7E4-F7E9-9D99-0D34-4F9590F2A6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899"/>
          <a:stretch>
            <a:fillRect/>
          </a:stretch>
        </p:blipFill>
        <p:spPr>
          <a:xfrm>
            <a:off x="828341" y="3740783"/>
            <a:ext cx="5710110" cy="6506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A2745A-FFA1-D7AD-8B85-E13624292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593" y="3839103"/>
            <a:ext cx="1036430" cy="5247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0DBBF92-79DA-9841-4138-329BC12CCE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8078"/>
          <a:stretch>
            <a:fillRect/>
          </a:stretch>
        </p:blipFill>
        <p:spPr>
          <a:xfrm>
            <a:off x="828341" y="5405448"/>
            <a:ext cx="5710110" cy="6506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A56AF8-2A70-9F6D-DD87-D5FCC9DE3F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175" y="5498353"/>
            <a:ext cx="457240" cy="50296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70350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FD74-7B89-0D86-5845-699B8D18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ED072B-EA86-1CCD-7134-B37A8C73F02F}"/>
              </a:ext>
            </a:extLst>
          </p:cNvPr>
          <p:cNvSpPr txBox="1"/>
          <p:nvPr/>
        </p:nvSpPr>
        <p:spPr>
          <a:xfrm>
            <a:off x="732503" y="619462"/>
            <a:ext cx="772323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Eras Medium ITC" panose="020B0602030504020804" pitchFamily="34" charset="0"/>
              </a:rPr>
              <a:t>This method returns the day as a number from 0 to 6. Sunday is 0, Monday is 1, and Saturday is 6.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7.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getHours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returns the current hour.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r>
              <a:rPr lang="en-US" dirty="0">
                <a:latin typeface="Eras Medium ITC" panose="020B0602030504020804" pitchFamily="34" charset="0"/>
              </a:rPr>
              <a:t>This method gets the hour from the current time. It uses the 24-hour clock, so 4 PM is shown as 16.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8.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getMinutes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returns the current minutes.</a:t>
            </a:r>
          </a:p>
          <a:p>
            <a:endParaRPr lang="en-US" sz="2400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r>
              <a:rPr lang="en-US" dirty="0">
                <a:latin typeface="Eras Medium ITC" panose="020B0602030504020804" pitchFamily="34" charset="0"/>
              </a:rPr>
              <a:t>This method gets only the minutes from the current time and displays them.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42731A-BEE1-A208-E877-DC4260146552}"/>
              </a:ext>
            </a:extLst>
          </p:cNvPr>
          <p:cNvGrpSpPr/>
          <p:nvPr/>
        </p:nvGrpSpPr>
        <p:grpSpPr>
          <a:xfrm>
            <a:off x="850487" y="2127341"/>
            <a:ext cx="5849518" cy="606026"/>
            <a:chOff x="850487" y="2107677"/>
            <a:chExt cx="5849518" cy="6060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F914DD-EDEB-0223-F118-383E47582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7416"/>
            <a:stretch>
              <a:fillRect/>
            </a:stretch>
          </p:blipFill>
          <p:spPr>
            <a:xfrm>
              <a:off x="850487" y="2107677"/>
              <a:ext cx="4940713" cy="60602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A9B342-8E35-617E-38F8-B439CF2DD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141388"/>
              <a:ext cx="604005" cy="53099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39DA4-9AB6-4EFA-E716-7143F1B6691A}"/>
              </a:ext>
            </a:extLst>
          </p:cNvPr>
          <p:cNvGrpSpPr/>
          <p:nvPr/>
        </p:nvGrpSpPr>
        <p:grpSpPr>
          <a:xfrm>
            <a:off x="850487" y="4370201"/>
            <a:ext cx="5825573" cy="614754"/>
            <a:chOff x="850487" y="4370201"/>
            <a:chExt cx="5825573" cy="61475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4D4E08B-2C10-0365-50C7-DC5F26F2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4483510"/>
              <a:ext cx="580060" cy="45190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2FDCC0D-14D0-E30A-5D49-20924A1BD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3752"/>
            <a:stretch>
              <a:fillRect/>
            </a:stretch>
          </p:blipFill>
          <p:spPr>
            <a:xfrm>
              <a:off x="850487" y="4370201"/>
              <a:ext cx="4940713" cy="6147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6332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D0A6-1C7A-2151-311A-F6F843931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6DF5BA-A46C-F2B1-919C-C21F7F13B8C8}"/>
              </a:ext>
            </a:extLst>
          </p:cNvPr>
          <p:cNvSpPr txBox="1"/>
          <p:nvPr/>
        </p:nvSpPr>
        <p:spPr>
          <a:xfrm>
            <a:off x="732503" y="658791"/>
            <a:ext cx="772323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9.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getSeconds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returns the current seconds.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10.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getMilliseconds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returns the milliseconds of the current time.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11.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setDate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changes the day of the month.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5A6022-5EA9-9C02-944C-85826252C357}"/>
              </a:ext>
            </a:extLst>
          </p:cNvPr>
          <p:cNvGrpSpPr/>
          <p:nvPr/>
        </p:nvGrpSpPr>
        <p:grpSpPr>
          <a:xfrm>
            <a:off x="865615" y="1316808"/>
            <a:ext cx="6043201" cy="612404"/>
            <a:chOff x="865615" y="1336472"/>
            <a:chExt cx="6043201" cy="61240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F4C6252-C935-DB49-1CD5-1DD6964F3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2469" b="73390"/>
            <a:stretch>
              <a:fillRect/>
            </a:stretch>
          </p:blipFill>
          <p:spPr>
            <a:xfrm>
              <a:off x="865615" y="1336472"/>
              <a:ext cx="5299211" cy="61240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DFF75CB-BF02-D0DF-EA9D-7F6EBBBCE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5166" b="76104"/>
            <a:stretch>
              <a:fillRect/>
            </a:stretch>
          </p:blipFill>
          <p:spPr>
            <a:xfrm>
              <a:off x="6406689" y="1377891"/>
              <a:ext cx="502127" cy="52182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488C9A-6A07-8481-53EF-9FB5F4D8EFA3}"/>
              </a:ext>
            </a:extLst>
          </p:cNvPr>
          <p:cNvGrpSpPr/>
          <p:nvPr/>
        </p:nvGrpSpPr>
        <p:grpSpPr>
          <a:xfrm>
            <a:off x="865615" y="3003891"/>
            <a:ext cx="6177361" cy="612404"/>
            <a:chOff x="231434" y="1005690"/>
            <a:chExt cx="6177361" cy="61240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F30681-BA96-4316-33C7-446E9A5CD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0" t="32482" r="52169" b="40908"/>
            <a:stretch>
              <a:fillRect/>
            </a:stretch>
          </p:blipFill>
          <p:spPr>
            <a:xfrm>
              <a:off x="231434" y="1005690"/>
              <a:ext cx="5299211" cy="61240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88085B-D6AB-D9B9-090F-0B31AF4A6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11" t="35431" r="93369" b="41035"/>
            <a:stretch>
              <a:fillRect/>
            </a:stretch>
          </p:blipFill>
          <p:spPr>
            <a:xfrm>
              <a:off x="5762676" y="1054850"/>
              <a:ext cx="646119" cy="51391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5B148E5D-B286-B2BA-42E9-E78D9597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17" t="63491" r="52786" b="622"/>
          <a:stretch>
            <a:fillRect/>
          </a:stretch>
        </p:blipFill>
        <p:spPr>
          <a:xfrm>
            <a:off x="811159" y="4636626"/>
            <a:ext cx="5299211" cy="8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06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F323-20BD-CA68-33DC-8AE906F6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BC8A44-84DB-97B4-9B60-3CC1D84BD045}"/>
              </a:ext>
            </a:extLst>
          </p:cNvPr>
          <p:cNvSpPr txBox="1"/>
          <p:nvPr/>
        </p:nvSpPr>
        <p:spPr>
          <a:xfrm>
            <a:off x="732503" y="560471"/>
            <a:ext cx="7723239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sz="600" dirty="0">
              <a:latin typeface="Eras Medium ITC" panose="020B0602030504020804" pitchFamily="34" charset="0"/>
            </a:endParaRPr>
          </a:p>
          <a:p>
            <a:r>
              <a:rPr lang="en-US" dirty="0">
                <a:latin typeface="Eras Medium ITC" panose="020B0602030504020804" pitchFamily="34" charset="0"/>
              </a:rPr>
              <a:t>This method changes the date to 29 while keeping the month and year the same.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12.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setMonth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changes the month.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sz="1200" dirty="0">
              <a:latin typeface="Eras Medium ITC" panose="020B0602030504020804" pitchFamily="34" charset="0"/>
            </a:endParaRPr>
          </a:p>
          <a:p>
            <a:endParaRPr lang="en-US" sz="1100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13.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setFullYear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This method changes the year.</a:t>
            </a: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B6768E-49C7-8E73-9D0C-23D11A48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" t="67360" r="10397" b="-730"/>
          <a:stretch>
            <a:fillRect/>
          </a:stretch>
        </p:blipFill>
        <p:spPr>
          <a:xfrm>
            <a:off x="816078" y="737452"/>
            <a:ext cx="5683045" cy="4457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BA2539C-7F45-55F5-3A4C-135708D8828E}"/>
              </a:ext>
            </a:extLst>
          </p:cNvPr>
          <p:cNvGrpSpPr/>
          <p:nvPr/>
        </p:nvGrpSpPr>
        <p:grpSpPr>
          <a:xfrm>
            <a:off x="811195" y="2686526"/>
            <a:ext cx="6415515" cy="1242798"/>
            <a:chOff x="811195" y="2784846"/>
            <a:chExt cx="6415515" cy="12427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A41DB13-8845-5350-B78C-15306A2A7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3264" b="53015"/>
            <a:stretch>
              <a:fillRect/>
            </a:stretch>
          </p:blipFill>
          <p:spPr>
            <a:xfrm>
              <a:off x="816079" y="2784846"/>
              <a:ext cx="6410631" cy="73931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FEEFAD-9D8D-1415-A0F6-A91692158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8223"/>
            <a:stretch>
              <a:fillRect/>
            </a:stretch>
          </p:blipFill>
          <p:spPr>
            <a:xfrm>
              <a:off x="811195" y="3641372"/>
              <a:ext cx="6410632" cy="38627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DCDFA4-4F03-E08D-97EE-E62537AE6E3C}"/>
              </a:ext>
            </a:extLst>
          </p:cNvPr>
          <p:cNvGrpSpPr/>
          <p:nvPr/>
        </p:nvGrpSpPr>
        <p:grpSpPr>
          <a:xfrm>
            <a:off x="811195" y="5016858"/>
            <a:ext cx="6410632" cy="1254987"/>
            <a:chOff x="206577" y="6525745"/>
            <a:chExt cx="6410632" cy="125498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8122A84-EDCE-1CC4-B7E7-92FED4198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881" r="13264" b="-313"/>
            <a:stretch>
              <a:fillRect/>
            </a:stretch>
          </p:blipFill>
          <p:spPr>
            <a:xfrm>
              <a:off x="206578" y="6525745"/>
              <a:ext cx="6410631" cy="76209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7A0E6B1-78D9-C69F-383F-35664874E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7701" b="-2104"/>
            <a:stretch>
              <a:fillRect/>
            </a:stretch>
          </p:blipFill>
          <p:spPr>
            <a:xfrm>
              <a:off x="206577" y="7370182"/>
              <a:ext cx="6410631" cy="41055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66447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D16FE-7BCC-421E-779C-61DD84FE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6C3333-0B61-923A-AFA8-8C63A0F82DE6}"/>
              </a:ext>
            </a:extLst>
          </p:cNvPr>
          <p:cNvSpPr txBox="1"/>
          <p:nvPr/>
        </p:nvSpPr>
        <p:spPr>
          <a:xfrm>
            <a:off x="732503" y="1061925"/>
            <a:ext cx="794938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14. </a:t>
            </a:r>
            <a:r>
              <a:rPr lang="en-US" b="1" u="sng" dirty="0" err="1">
                <a:solidFill>
                  <a:schemeClr val="accent1"/>
                </a:solidFill>
                <a:latin typeface="Eras Medium ITC" panose="020B0602030504020804" pitchFamily="34" charset="0"/>
              </a:rPr>
              <a:t>setHours</a:t>
            </a:r>
            <a:r>
              <a:rPr lang="en-US" b="1" u="sng" dirty="0">
                <a:solidFill>
                  <a:schemeClr val="accent1"/>
                </a:solidFill>
                <a:latin typeface="Eras Medium ITC" panose="020B0602030504020804" pitchFamily="34" charset="0"/>
              </a:rPr>
              <a:t>()</a:t>
            </a:r>
          </a:p>
          <a:p>
            <a:r>
              <a:rPr lang="en-US" dirty="0">
                <a:latin typeface="Eras Medium ITC" panose="020B0602030504020804" pitchFamily="34" charset="0"/>
              </a:rPr>
              <a:t>The </a:t>
            </a:r>
            <a:r>
              <a:rPr lang="en-US" dirty="0" err="1">
                <a:latin typeface="Eras Medium ITC" panose="020B0602030504020804" pitchFamily="34" charset="0"/>
              </a:rPr>
              <a:t>setHours</a:t>
            </a:r>
            <a:r>
              <a:rPr lang="en-US" dirty="0">
                <a:latin typeface="Eras Medium ITC" panose="020B0602030504020804" pitchFamily="34" charset="0"/>
              </a:rPr>
              <a:t>() method is used to change the hour value of a Date object. It can also be used to calculate a previous or future time by changing the hour.</a:t>
            </a: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dirty="0">
              <a:latin typeface="Eras Medium ITC" panose="020B0602030504020804" pitchFamily="34" charset="0"/>
            </a:endParaRPr>
          </a:p>
          <a:p>
            <a:endParaRPr lang="en-US" sz="1200" dirty="0">
              <a:latin typeface="Eras Medium ITC" panose="020B0602030504020804" pitchFamily="34" charset="0"/>
            </a:endParaRPr>
          </a:p>
          <a:p>
            <a:endParaRPr lang="en-US" sz="2800" dirty="0">
              <a:latin typeface="Eras Medium ITC" panose="020B0602030504020804" pitchFamily="34" charset="0"/>
            </a:endParaRPr>
          </a:p>
          <a:p>
            <a:r>
              <a:rPr lang="en-US" dirty="0">
                <a:latin typeface="Eras Medium ITC" panose="020B0602030504020804" pitchFamily="34" charset="0"/>
              </a:rPr>
              <a:t>First, new Date() stores the current date and time. The </a:t>
            </a:r>
            <a:r>
              <a:rPr lang="en-US" dirty="0" err="1">
                <a:latin typeface="Eras Medium ITC" panose="020B0602030504020804" pitchFamily="34" charset="0"/>
              </a:rPr>
              <a:t>getHours</a:t>
            </a:r>
            <a:r>
              <a:rPr lang="en-US" dirty="0">
                <a:latin typeface="Eras Medium ITC" panose="020B0602030504020804" pitchFamily="34" charset="0"/>
              </a:rPr>
              <a:t>() method gets the current hour, and </a:t>
            </a:r>
            <a:r>
              <a:rPr lang="en-US" dirty="0" err="1">
                <a:latin typeface="Eras Medium ITC" panose="020B0602030504020804" pitchFamily="34" charset="0"/>
              </a:rPr>
              <a:t>setHours</a:t>
            </a:r>
            <a:r>
              <a:rPr lang="en-US" dirty="0">
                <a:latin typeface="Eras Medium ITC" panose="020B0602030504020804" pitchFamily="34" charset="0"/>
              </a:rPr>
              <a:t>() changes it by subtracting 4 hours. This gives us the time that was exactly 4 hours before the current time.</a:t>
            </a: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  <a:p>
            <a:endParaRPr lang="en-US" b="1" u="sng" dirty="0">
              <a:solidFill>
                <a:schemeClr val="accent1"/>
              </a:solidFill>
              <a:latin typeface="Eras Medium ITC" panose="020B06020305040208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2FED61-0D48-A4EF-F2AB-25049BE02DB6}"/>
              </a:ext>
            </a:extLst>
          </p:cNvPr>
          <p:cNvGrpSpPr/>
          <p:nvPr/>
        </p:nvGrpSpPr>
        <p:grpSpPr>
          <a:xfrm>
            <a:off x="850487" y="2111675"/>
            <a:ext cx="6907165" cy="2080895"/>
            <a:chOff x="850487" y="1649549"/>
            <a:chExt cx="6907165" cy="20808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AE8B37C-382D-0F60-3620-DFD09850A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9218"/>
            <a:stretch>
              <a:fillRect/>
            </a:stretch>
          </p:blipFill>
          <p:spPr>
            <a:xfrm>
              <a:off x="850487" y="1649549"/>
              <a:ext cx="6907165" cy="135647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F34E2E8-F789-9FBA-B08C-6226A1516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487" y="3127556"/>
              <a:ext cx="6907165" cy="60288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57309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678A-D8E9-5864-E7A9-8A9AFE10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104CF-735D-E87F-CA46-9F550B82A41B}"/>
              </a:ext>
            </a:extLst>
          </p:cNvPr>
          <p:cNvSpPr/>
          <p:nvPr/>
        </p:nvSpPr>
        <p:spPr>
          <a:xfrm>
            <a:off x="3355095" y="2623206"/>
            <a:ext cx="39873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780727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44F012B-18AF-4D62-9205-B4CFFBC9208B}" vid="{345D2A3D-55F8-4DE2-B2F5-0E2F4FAA1C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257</TotalTime>
  <Words>611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Eras Medium ITC</vt:lpstr>
      <vt:lpstr>Trebuchet MS</vt:lpstr>
      <vt:lpstr>Wingdings</vt:lpstr>
      <vt:lpstr>Wingdings 3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Romaisa Shahbaz</dc:creator>
  <cp:lastModifiedBy>Romaisa Shahbaz</cp:lastModifiedBy>
  <cp:revision>3</cp:revision>
  <dcterms:created xsi:type="dcterms:W3CDTF">2026-08-16T08:12:15Z</dcterms:created>
  <dcterms:modified xsi:type="dcterms:W3CDTF">2026-08-16T12:29:57Z</dcterms:modified>
</cp:coreProperties>
</file>