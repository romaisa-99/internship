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4" r:id="rId18"/>
    <p:sldId id="275" r:id="rId19"/>
    <p:sldId id="276"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780" autoAdjust="0"/>
    <p:restoredTop sz="94660"/>
  </p:normalViewPr>
  <p:slideViewPr>
    <p:cSldViewPr snapToGrid="0">
      <p:cViewPr varScale="1">
        <p:scale>
          <a:sx n="78" d="100"/>
          <a:sy n="78" d="100"/>
        </p:scale>
        <p:origin x="523"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73DF58-A3BF-4F96-9387-55ACEB790B86}" type="datetimeFigureOut">
              <a:rPr lang="en-US" smtClean="0"/>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B0C769-65B7-4FA1-9B5B-F0CA0EECEC61}" type="slidenum">
              <a:rPr lang="en-US" smtClean="0"/>
              <a:t>‹#›</a:t>
            </a:fld>
            <a:endParaRPr lang="en-US"/>
          </a:p>
        </p:txBody>
      </p:sp>
    </p:spTree>
    <p:extLst>
      <p:ext uri="{BB962C8B-B14F-4D97-AF65-F5344CB8AC3E}">
        <p14:creationId xmlns:p14="http://schemas.microsoft.com/office/powerpoint/2010/main" val="4146149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B0C769-65B7-4FA1-9B5B-F0CA0EECEC61}" type="slidenum">
              <a:rPr lang="en-US" smtClean="0"/>
              <a:t>8</a:t>
            </a:fld>
            <a:endParaRPr lang="en-US"/>
          </a:p>
        </p:txBody>
      </p:sp>
    </p:spTree>
    <p:extLst>
      <p:ext uri="{BB962C8B-B14F-4D97-AF65-F5344CB8AC3E}">
        <p14:creationId xmlns:p14="http://schemas.microsoft.com/office/powerpoint/2010/main" val="1632074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3CA1C-C9E9-5368-7D94-8000F1243A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4CA037-5554-6BC6-C3F8-6537C428DF0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08EE540-654D-8779-903B-829505D250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28FD39-A446-87CB-2B9D-0D791306108C}"/>
              </a:ext>
            </a:extLst>
          </p:cNvPr>
          <p:cNvSpPr>
            <a:spLocks noGrp="1"/>
          </p:cNvSpPr>
          <p:nvPr>
            <p:ph type="sldNum" sz="quarter" idx="5"/>
          </p:nvPr>
        </p:nvSpPr>
        <p:spPr/>
        <p:txBody>
          <a:bodyPr/>
          <a:lstStyle/>
          <a:p>
            <a:fld id="{66B0C769-65B7-4FA1-9B5B-F0CA0EECEC61}" type="slidenum">
              <a:rPr lang="en-US" smtClean="0"/>
              <a:t>9</a:t>
            </a:fld>
            <a:endParaRPr lang="en-US"/>
          </a:p>
        </p:txBody>
      </p:sp>
    </p:spTree>
    <p:extLst>
      <p:ext uri="{BB962C8B-B14F-4D97-AF65-F5344CB8AC3E}">
        <p14:creationId xmlns:p14="http://schemas.microsoft.com/office/powerpoint/2010/main" val="403612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BDD93-64A4-D53D-B116-DAA85E14C0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942A68-278B-31FF-12B2-7BE4A7EA86D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D7757BE-563B-072A-D2E3-B69FF56BD4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79D2AC-6471-FB1A-A297-7412418537D8}"/>
              </a:ext>
            </a:extLst>
          </p:cNvPr>
          <p:cNvSpPr>
            <a:spLocks noGrp="1"/>
          </p:cNvSpPr>
          <p:nvPr>
            <p:ph type="sldNum" sz="quarter" idx="5"/>
          </p:nvPr>
        </p:nvSpPr>
        <p:spPr/>
        <p:txBody>
          <a:bodyPr/>
          <a:lstStyle/>
          <a:p>
            <a:fld id="{66B0C769-65B7-4FA1-9B5B-F0CA0EECEC61}" type="slidenum">
              <a:rPr lang="en-US" smtClean="0"/>
              <a:t>10</a:t>
            </a:fld>
            <a:endParaRPr lang="en-US"/>
          </a:p>
        </p:txBody>
      </p:sp>
    </p:spTree>
    <p:extLst>
      <p:ext uri="{BB962C8B-B14F-4D97-AF65-F5344CB8AC3E}">
        <p14:creationId xmlns:p14="http://schemas.microsoft.com/office/powerpoint/2010/main" val="2938894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6B8C714-8BDB-4345-8874-223CF72554E7}"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E02F48-9321-4413-B5F0-8608BE734647}" type="slidenum">
              <a:rPr lang="en-US" smtClean="0"/>
              <a:t>‹#›</a:t>
            </a:fld>
            <a:endParaRPr lang="en-US"/>
          </a:p>
        </p:txBody>
      </p:sp>
    </p:spTree>
    <p:extLst>
      <p:ext uri="{BB962C8B-B14F-4D97-AF65-F5344CB8AC3E}">
        <p14:creationId xmlns:p14="http://schemas.microsoft.com/office/powerpoint/2010/main" val="2672011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B8C714-8BDB-4345-8874-223CF72554E7}"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E02F48-9321-4413-B5F0-8608BE734647}" type="slidenum">
              <a:rPr lang="en-US" smtClean="0"/>
              <a:t>‹#›</a:t>
            </a:fld>
            <a:endParaRPr lang="en-US"/>
          </a:p>
        </p:txBody>
      </p:sp>
    </p:spTree>
    <p:extLst>
      <p:ext uri="{BB962C8B-B14F-4D97-AF65-F5344CB8AC3E}">
        <p14:creationId xmlns:p14="http://schemas.microsoft.com/office/powerpoint/2010/main" val="1132713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B8C714-8BDB-4345-8874-223CF72554E7}"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E02F48-9321-4413-B5F0-8608BE734647}" type="slidenum">
              <a:rPr lang="en-US" smtClean="0"/>
              <a:t>‹#›</a:t>
            </a:fld>
            <a:endParaRPr lang="en-US"/>
          </a:p>
        </p:txBody>
      </p:sp>
    </p:spTree>
    <p:extLst>
      <p:ext uri="{BB962C8B-B14F-4D97-AF65-F5344CB8AC3E}">
        <p14:creationId xmlns:p14="http://schemas.microsoft.com/office/powerpoint/2010/main" val="2448587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B8C714-8BDB-4345-8874-223CF72554E7}"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E02F48-9321-4413-B5F0-8608BE734647}" type="slidenum">
              <a:rPr lang="en-US" smtClean="0"/>
              <a:t>‹#›</a:t>
            </a:fld>
            <a:endParaRPr lang="en-US"/>
          </a:p>
        </p:txBody>
      </p:sp>
    </p:spTree>
    <p:extLst>
      <p:ext uri="{BB962C8B-B14F-4D97-AF65-F5344CB8AC3E}">
        <p14:creationId xmlns:p14="http://schemas.microsoft.com/office/powerpoint/2010/main" val="4146630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6B8C714-8BDB-4345-8874-223CF72554E7}" type="datetimeFigureOut">
              <a:rPr lang="en-US" smtClean="0"/>
              <a:t>8/16/2026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E02F48-9321-4413-B5F0-8608BE734647}" type="slidenum">
              <a:rPr lang="en-US" smtClean="0"/>
              <a:t>‹#›</a:t>
            </a:fld>
            <a:endParaRPr lang="en-US"/>
          </a:p>
        </p:txBody>
      </p:sp>
    </p:spTree>
    <p:extLst>
      <p:ext uri="{BB962C8B-B14F-4D97-AF65-F5344CB8AC3E}">
        <p14:creationId xmlns:p14="http://schemas.microsoft.com/office/powerpoint/2010/main" val="2630549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B8C714-8BDB-4345-8874-223CF72554E7}" type="datetimeFigureOut">
              <a:rPr lang="en-US" smtClean="0"/>
              <a:t>8/16/2026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E02F48-9321-4413-B5F0-8608BE734647}" type="slidenum">
              <a:rPr lang="en-US" smtClean="0"/>
              <a:t>‹#›</a:t>
            </a:fld>
            <a:endParaRPr lang="en-US"/>
          </a:p>
        </p:txBody>
      </p:sp>
    </p:spTree>
    <p:extLst>
      <p:ext uri="{BB962C8B-B14F-4D97-AF65-F5344CB8AC3E}">
        <p14:creationId xmlns:p14="http://schemas.microsoft.com/office/powerpoint/2010/main" val="4279962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B8C714-8BDB-4345-8874-223CF72554E7}" type="datetimeFigureOut">
              <a:rPr lang="en-US" smtClean="0"/>
              <a:t>8/16/2026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E02F48-9321-4413-B5F0-8608BE734647}" type="slidenum">
              <a:rPr lang="en-US" smtClean="0"/>
              <a:t>‹#›</a:t>
            </a:fld>
            <a:endParaRPr lang="en-US"/>
          </a:p>
        </p:txBody>
      </p:sp>
    </p:spTree>
    <p:extLst>
      <p:ext uri="{BB962C8B-B14F-4D97-AF65-F5344CB8AC3E}">
        <p14:creationId xmlns:p14="http://schemas.microsoft.com/office/powerpoint/2010/main" val="29302574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6B8C714-8BDB-4345-8874-223CF72554E7}"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E02F48-9321-4413-B5F0-8608BE734647}" type="slidenum">
              <a:rPr lang="en-US" smtClean="0"/>
              <a:t>‹#›</a:t>
            </a:fld>
            <a:endParaRPr lang="en-US"/>
          </a:p>
        </p:txBody>
      </p:sp>
    </p:spTree>
    <p:extLst>
      <p:ext uri="{BB962C8B-B14F-4D97-AF65-F5344CB8AC3E}">
        <p14:creationId xmlns:p14="http://schemas.microsoft.com/office/powerpoint/2010/main" val="1758548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B8C714-8BDB-4345-8874-223CF72554E7}"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E02F48-9321-4413-B5F0-8608BE734647}" type="slidenum">
              <a:rPr lang="en-US" smtClean="0"/>
              <a:t>‹#›</a:t>
            </a:fld>
            <a:endParaRPr lang="en-US"/>
          </a:p>
        </p:txBody>
      </p:sp>
    </p:spTree>
    <p:extLst>
      <p:ext uri="{BB962C8B-B14F-4D97-AF65-F5344CB8AC3E}">
        <p14:creationId xmlns:p14="http://schemas.microsoft.com/office/powerpoint/2010/main" val="2017917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B8C714-8BDB-4345-8874-223CF72554E7}"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E02F48-9321-4413-B5F0-8608BE734647}" type="slidenum">
              <a:rPr lang="en-US" smtClean="0"/>
              <a:t>‹#›</a:t>
            </a:fld>
            <a:endParaRPr lang="en-US"/>
          </a:p>
        </p:txBody>
      </p:sp>
    </p:spTree>
    <p:extLst>
      <p:ext uri="{BB962C8B-B14F-4D97-AF65-F5344CB8AC3E}">
        <p14:creationId xmlns:p14="http://schemas.microsoft.com/office/powerpoint/2010/main" val="853200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B8C714-8BDB-4345-8874-223CF72554E7}"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E02F48-9321-4413-B5F0-8608BE734647}"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5259112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B8C714-8BDB-4345-8874-223CF72554E7}"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E02F48-9321-4413-B5F0-8608BE734647}" type="slidenum">
              <a:rPr lang="en-US" smtClean="0"/>
              <a:t>‹#›</a:t>
            </a:fld>
            <a:endParaRPr lang="en-US"/>
          </a:p>
        </p:txBody>
      </p:sp>
    </p:spTree>
    <p:extLst>
      <p:ext uri="{BB962C8B-B14F-4D97-AF65-F5344CB8AC3E}">
        <p14:creationId xmlns:p14="http://schemas.microsoft.com/office/powerpoint/2010/main" val="30518095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B8C714-8BDB-4345-8874-223CF72554E7}"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E02F48-9321-4413-B5F0-8608BE73464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283740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B8C714-8BDB-4345-8874-223CF72554E7}"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E02F48-9321-4413-B5F0-8608BE734647}" type="slidenum">
              <a:rPr lang="en-US" smtClean="0"/>
              <a:t>‹#›</a:t>
            </a:fld>
            <a:endParaRPr lang="en-US"/>
          </a:p>
        </p:txBody>
      </p:sp>
    </p:spTree>
    <p:extLst>
      <p:ext uri="{BB962C8B-B14F-4D97-AF65-F5344CB8AC3E}">
        <p14:creationId xmlns:p14="http://schemas.microsoft.com/office/powerpoint/2010/main" val="19104941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B8C714-8BDB-4345-8874-223CF72554E7}"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E02F48-9321-4413-B5F0-8608BE734647}" type="slidenum">
              <a:rPr lang="en-US" smtClean="0"/>
              <a:t>‹#›</a:t>
            </a:fld>
            <a:endParaRPr lang="en-US"/>
          </a:p>
        </p:txBody>
      </p:sp>
    </p:spTree>
    <p:extLst>
      <p:ext uri="{BB962C8B-B14F-4D97-AF65-F5344CB8AC3E}">
        <p14:creationId xmlns:p14="http://schemas.microsoft.com/office/powerpoint/2010/main" val="41342011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B8C714-8BDB-4345-8874-223CF72554E7}"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E02F48-9321-4413-B5F0-8608BE734647}" type="slidenum">
              <a:rPr lang="en-US" smtClean="0"/>
              <a:t>‹#›</a:t>
            </a:fld>
            <a:endParaRPr lang="en-US"/>
          </a:p>
        </p:txBody>
      </p:sp>
    </p:spTree>
    <p:extLst>
      <p:ext uri="{BB962C8B-B14F-4D97-AF65-F5344CB8AC3E}">
        <p14:creationId xmlns:p14="http://schemas.microsoft.com/office/powerpoint/2010/main" val="14308199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B8C714-8BDB-4345-8874-223CF72554E7}" type="datetimeFigureOut">
              <a:rPr lang="en-US" smtClean="0"/>
              <a:t>8/16/2026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9E02F48-9321-4413-B5F0-8608BE734647}" type="slidenum">
              <a:rPr lang="en-US" smtClean="0"/>
              <a:t>‹#›</a:t>
            </a:fld>
            <a:endParaRPr lang="en-US"/>
          </a:p>
        </p:txBody>
      </p:sp>
    </p:spTree>
    <p:extLst>
      <p:ext uri="{BB962C8B-B14F-4D97-AF65-F5344CB8AC3E}">
        <p14:creationId xmlns:p14="http://schemas.microsoft.com/office/powerpoint/2010/main" val="4025619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FA0652-DA3F-40FE-4E3E-CB5149C17396}"/>
              </a:ext>
            </a:extLst>
          </p:cNvPr>
          <p:cNvSpPr/>
          <p:nvPr/>
        </p:nvSpPr>
        <p:spPr>
          <a:xfrm>
            <a:off x="3441362" y="2228671"/>
            <a:ext cx="3893438" cy="2400657"/>
          </a:xfrm>
          <a:prstGeom prst="rect">
            <a:avLst/>
          </a:prstGeom>
          <a:noFill/>
        </p:spPr>
        <p:txBody>
          <a:bodyPr wrap="none" lIns="91440" tIns="45720" rIns="91440" bIns="45720">
            <a:spAutoFit/>
          </a:bodyPr>
          <a:lstStyle/>
          <a:p>
            <a:pPr algn="ctr"/>
            <a:r>
              <a:rPr lang="en-US" sz="5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NUMBER</a:t>
            </a:r>
          </a:p>
          <a:p>
            <a:pPr algn="ctr"/>
            <a:r>
              <a:rPr lang="en-US" sz="50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METHODS IN</a:t>
            </a:r>
          </a:p>
          <a:p>
            <a:pPr algn="ctr"/>
            <a:r>
              <a:rPr lang="en-US" sz="50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 JAVASCRIPT</a:t>
            </a:r>
            <a:endParaRPr lang="en-US" sz="5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2428974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609EDD0-90F6-AEC7-327D-B496E832117F}"/>
              </a:ext>
            </a:extLst>
          </p:cNvPr>
          <p:cNvSpPr txBox="1"/>
          <p:nvPr/>
        </p:nvSpPr>
        <p:spPr>
          <a:xfrm>
            <a:off x="884904" y="865240"/>
            <a:ext cx="7678994" cy="5355312"/>
          </a:xfrm>
          <a:prstGeom prst="rect">
            <a:avLst/>
          </a:prstGeom>
          <a:noFill/>
        </p:spPr>
        <p:txBody>
          <a:bodyPr wrap="square" rtlCol="0">
            <a:spAutoFit/>
          </a:bodyPr>
          <a:lstStyle/>
          <a:p>
            <a:pPr marL="285750" indent="-285750">
              <a:buFont typeface="Wingdings" panose="05000000000000000000" pitchFamily="2" charset="2"/>
              <a:buChar char="ü"/>
            </a:pPr>
            <a:r>
              <a:rPr lang="en-US" b="1" dirty="0">
                <a:solidFill>
                  <a:schemeClr val="accent1"/>
                </a:solidFill>
                <a:latin typeface="Eras Medium ITC" panose="020B0602030504020804" pitchFamily="34" charset="0"/>
              </a:rPr>
              <a:t>What is a Number?</a:t>
            </a:r>
          </a:p>
          <a:p>
            <a:r>
              <a:rPr lang="en-US" dirty="0">
                <a:latin typeface="Eras Medium ITC" panose="020B0602030504020804" pitchFamily="34" charset="0"/>
              </a:rPr>
              <a:t>A </a:t>
            </a:r>
            <a:r>
              <a:rPr lang="en-US" b="1" dirty="0">
                <a:latin typeface="Eras Medium ITC" panose="020B0602030504020804" pitchFamily="34" charset="0"/>
              </a:rPr>
              <a:t>number</a:t>
            </a:r>
            <a:r>
              <a:rPr lang="en-US" dirty="0">
                <a:latin typeface="Eras Medium ITC" panose="020B0602030504020804" pitchFamily="34" charset="0"/>
              </a:rPr>
              <a:t> is a data type in JavaScript used to store numeric values. Numbers can be integers, decimal values, positive numbers, or negative numbers. They are used to perform mathematical calculations and store numerical information.</a:t>
            </a: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r>
              <a:rPr lang="en-US" dirty="0">
                <a:latin typeface="Eras Medium ITC" panose="020B0602030504020804" pitchFamily="34" charset="0"/>
              </a:rPr>
              <a:t>The variable age stores an integer value, while price stores a decimal value. Both are Number data types in JavaScript and can be used in mathematical operations.</a:t>
            </a:r>
          </a:p>
          <a:p>
            <a:endParaRPr lang="en-US" dirty="0">
              <a:latin typeface="Eras Medium ITC" panose="020B0602030504020804" pitchFamily="34" charset="0"/>
            </a:endParaRPr>
          </a:p>
        </p:txBody>
      </p:sp>
      <p:pic>
        <p:nvPicPr>
          <p:cNvPr id="6" name="Picture 5">
            <a:extLst>
              <a:ext uri="{FF2B5EF4-FFF2-40B4-BE49-F238E27FC236}">
                <a16:creationId xmlns:a16="http://schemas.microsoft.com/office/drawing/2014/main" id="{6278A69B-9DD4-6DF2-7EED-CF03686B2ADC}"/>
              </a:ext>
            </a:extLst>
          </p:cNvPr>
          <p:cNvPicPr>
            <a:picLocks noChangeAspect="1"/>
          </p:cNvPicPr>
          <p:nvPr/>
        </p:nvPicPr>
        <p:blipFill>
          <a:blip r:embed="rId2"/>
          <a:srcRect t="11724" b="1688"/>
          <a:stretch>
            <a:fillRect/>
          </a:stretch>
        </p:blipFill>
        <p:spPr>
          <a:xfrm>
            <a:off x="973449" y="2477730"/>
            <a:ext cx="7264557" cy="1494503"/>
          </a:xfrm>
          <a:prstGeom prst="rect">
            <a:avLst/>
          </a:prstGeom>
        </p:spPr>
      </p:pic>
      <p:pic>
        <p:nvPicPr>
          <p:cNvPr id="8" name="Picture 7">
            <a:extLst>
              <a:ext uri="{FF2B5EF4-FFF2-40B4-BE49-F238E27FC236}">
                <a16:creationId xmlns:a16="http://schemas.microsoft.com/office/drawing/2014/main" id="{DFA6234C-B566-B9B8-DA6E-835DC2FAB8A4}"/>
              </a:ext>
            </a:extLst>
          </p:cNvPr>
          <p:cNvPicPr>
            <a:picLocks noChangeAspect="1"/>
          </p:cNvPicPr>
          <p:nvPr/>
        </p:nvPicPr>
        <p:blipFill>
          <a:blip r:embed="rId3"/>
          <a:srcRect t="8164"/>
          <a:stretch>
            <a:fillRect/>
          </a:stretch>
        </p:blipFill>
        <p:spPr>
          <a:xfrm>
            <a:off x="977259" y="4067852"/>
            <a:ext cx="4113079" cy="704850"/>
          </a:xfrm>
          <a:prstGeom prst="rect">
            <a:avLst/>
          </a:prstGeom>
          <a:ln>
            <a:solidFill>
              <a:schemeClr val="accent1"/>
            </a:solidFill>
          </a:ln>
        </p:spPr>
      </p:pic>
    </p:spTree>
    <p:extLst>
      <p:ext uri="{BB962C8B-B14F-4D97-AF65-F5344CB8AC3E}">
        <p14:creationId xmlns:p14="http://schemas.microsoft.com/office/powerpoint/2010/main" val="1234953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2DECF-84DC-FFA7-13BC-0886025668A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85A7375-8BB2-5963-27E7-705734D9279A}"/>
              </a:ext>
            </a:extLst>
          </p:cNvPr>
          <p:cNvSpPr txBox="1"/>
          <p:nvPr/>
        </p:nvSpPr>
        <p:spPr>
          <a:xfrm>
            <a:off x="884904" y="865240"/>
            <a:ext cx="7678994" cy="4893647"/>
          </a:xfrm>
          <a:prstGeom prst="rect">
            <a:avLst/>
          </a:prstGeom>
          <a:noFill/>
        </p:spPr>
        <p:txBody>
          <a:bodyPr wrap="square" rtlCol="0">
            <a:spAutoFit/>
          </a:bodyPr>
          <a:lstStyle/>
          <a:p>
            <a:pPr marL="285750" indent="-285750">
              <a:buFont typeface="Wingdings" panose="05000000000000000000" pitchFamily="2" charset="2"/>
              <a:buChar char="ü"/>
            </a:pPr>
            <a:r>
              <a:rPr lang="en-US" b="1" dirty="0">
                <a:solidFill>
                  <a:schemeClr val="accent1"/>
                </a:solidFill>
                <a:latin typeface="Eras Medium ITC" panose="020B0602030504020804" pitchFamily="34" charset="0"/>
              </a:rPr>
              <a:t>Why do we use Numbers?</a:t>
            </a:r>
          </a:p>
          <a:p>
            <a:r>
              <a:rPr lang="en-US" dirty="0">
                <a:latin typeface="Eras Medium ITC" panose="020B0602030504020804" pitchFamily="34" charset="0"/>
              </a:rPr>
              <a:t>Numbers are used to store values that can be calculated or measured, such as age, marks, salary, price, temperature, and quantity. They allow JavaScript programs to perform arithmetic operations and solve mathematical problems.</a:t>
            </a: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sz="2400" dirty="0">
              <a:latin typeface="Eras Medium ITC" panose="020B0602030504020804" pitchFamily="34" charset="0"/>
            </a:endParaRPr>
          </a:p>
          <a:p>
            <a:r>
              <a:rPr lang="en-US" dirty="0">
                <a:latin typeface="Eras Medium ITC" panose="020B0602030504020804" pitchFamily="34" charset="0"/>
              </a:rPr>
              <a:t>In this example, the variables price and quantity store numeric values. JavaScript multiplies these values and displays the total price 225.</a:t>
            </a:r>
          </a:p>
        </p:txBody>
      </p:sp>
      <p:pic>
        <p:nvPicPr>
          <p:cNvPr id="3" name="Picture 2">
            <a:extLst>
              <a:ext uri="{FF2B5EF4-FFF2-40B4-BE49-F238E27FC236}">
                <a16:creationId xmlns:a16="http://schemas.microsoft.com/office/drawing/2014/main" id="{3F29E624-F5FB-56DC-2D94-D5D95C037E3E}"/>
              </a:ext>
            </a:extLst>
          </p:cNvPr>
          <p:cNvPicPr>
            <a:picLocks noChangeAspect="1"/>
          </p:cNvPicPr>
          <p:nvPr/>
        </p:nvPicPr>
        <p:blipFill>
          <a:blip r:embed="rId2"/>
          <a:stretch>
            <a:fillRect/>
          </a:stretch>
        </p:blipFill>
        <p:spPr>
          <a:xfrm>
            <a:off x="977259" y="2485555"/>
            <a:ext cx="7369179" cy="1455546"/>
          </a:xfrm>
          <a:prstGeom prst="rect">
            <a:avLst/>
          </a:prstGeom>
        </p:spPr>
      </p:pic>
      <p:pic>
        <p:nvPicPr>
          <p:cNvPr id="7" name="Picture 6">
            <a:extLst>
              <a:ext uri="{FF2B5EF4-FFF2-40B4-BE49-F238E27FC236}">
                <a16:creationId xmlns:a16="http://schemas.microsoft.com/office/drawing/2014/main" id="{6479246F-2AB5-B8A8-B8BE-A6A4891E9324}"/>
              </a:ext>
            </a:extLst>
          </p:cNvPr>
          <p:cNvPicPr>
            <a:picLocks noChangeAspect="1"/>
          </p:cNvPicPr>
          <p:nvPr/>
        </p:nvPicPr>
        <p:blipFill>
          <a:blip r:embed="rId3"/>
          <a:stretch>
            <a:fillRect/>
          </a:stretch>
        </p:blipFill>
        <p:spPr>
          <a:xfrm>
            <a:off x="977259" y="4090020"/>
            <a:ext cx="3783551" cy="733471"/>
          </a:xfrm>
          <a:prstGeom prst="rect">
            <a:avLst/>
          </a:prstGeom>
          <a:ln>
            <a:solidFill>
              <a:schemeClr val="accent1"/>
            </a:solidFill>
          </a:ln>
        </p:spPr>
      </p:pic>
    </p:spTree>
    <p:extLst>
      <p:ext uri="{BB962C8B-B14F-4D97-AF65-F5344CB8AC3E}">
        <p14:creationId xmlns:p14="http://schemas.microsoft.com/office/powerpoint/2010/main" val="325157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A95F6-334B-5BC5-7A9C-159F3385F0E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5F07BFC-7695-6357-91B5-F8E9D0EC543A}"/>
              </a:ext>
            </a:extLst>
          </p:cNvPr>
          <p:cNvSpPr txBox="1"/>
          <p:nvPr/>
        </p:nvSpPr>
        <p:spPr>
          <a:xfrm>
            <a:off x="884904" y="865240"/>
            <a:ext cx="7678994" cy="4801314"/>
          </a:xfrm>
          <a:prstGeom prst="rect">
            <a:avLst/>
          </a:prstGeom>
          <a:noFill/>
        </p:spPr>
        <p:txBody>
          <a:bodyPr wrap="square" rtlCol="0">
            <a:spAutoFit/>
          </a:bodyPr>
          <a:lstStyle/>
          <a:p>
            <a:pPr algn="ctr"/>
            <a:r>
              <a:rPr lang="en-US" b="1" u="sng" dirty="0">
                <a:solidFill>
                  <a:schemeClr val="accent1"/>
                </a:solidFill>
                <a:latin typeface="Eras Medium ITC" panose="020B0602030504020804" pitchFamily="34" charset="0"/>
              </a:rPr>
              <a:t>NUMBER METHODS</a:t>
            </a:r>
          </a:p>
          <a:p>
            <a:pPr algn="ctr"/>
            <a:endParaRPr lang="en-US" b="1" u="sng" dirty="0">
              <a:solidFill>
                <a:schemeClr val="accent1"/>
              </a:solidFill>
              <a:latin typeface="Eras Medium ITC" panose="020B0602030504020804" pitchFamily="34" charset="0"/>
            </a:endParaRPr>
          </a:p>
          <a:p>
            <a:r>
              <a:rPr lang="en-US" dirty="0">
                <a:latin typeface="Eras Medium ITC" panose="020B0602030504020804" pitchFamily="34" charset="0"/>
              </a:rPr>
              <a:t>They are built-in JavaScript functions used to convert, check, and format numeric values. They help developers perform calculations more easily and display numbers in different formats.</a:t>
            </a: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r>
              <a:rPr lang="en-US" b="1" u="sng" dirty="0">
                <a:solidFill>
                  <a:schemeClr val="accent1"/>
                </a:solidFill>
                <a:latin typeface="Eras Medium ITC" panose="020B0602030504020804" pitchFamily="34" charset="0"/>
              </a:rPr>
              <a:t>1. Number()</a:t>
            </a:r>
          </a:p>
          <a:p>
            <a:r>
              <a:rPr lang="en-US" dirty="0">
                <a:latin typeface="Eras Medium ITC" panose="020B0602030504020804" pitchFamily="34" charset="0"/>
              </a:rPr>
              <a:t>The Number() method converts different data types such as strings and Boolean values into numbers. If the conversion is not possible, it returns NaN (Not a Number).</a:t>
            </a:r>
          </a:p>
          <a:p>
            <a:endParaRPr lang="en-US" dirty="0">
              <a:latin typeface="Eras Medium ITC" panose="020B0602030504020804" pitchFamily="34" charset="0"/>
            </a:endParaRPr>
          </a:p>
        </p:txBody>
      </p:sp>
      <p:sp>
        <p:nvSpPr>
          <p:cNvPr id="5" name="TextBox 4">
            <a:extLst>
              <a:ext uri="{FF2B5EF4-FFF2-40B4-BE49-F238E27FC236}">
                <a16:creationId xmlns:a16="http://schemas.microsoft.com/office/drawing/2014/main" id="{14F05FCC-94DB-D33A-4EC1-F495CF9590CC}"/>
              </a:ext>
            </a:extLst>
          </p:cNvPr>
          <p:cNvSpPr txBox="1"/>
          <p:nvPr/>
        </p:nvSpPr>
        <p:spPr>
          <a:xfrm>
            <a:off x="2512143" y="2576051"/>
            <a:ext cx="4424516" cy="1200329"/>
          </a:xfrm>
          <a:prstGeom prst="rect">
            <a:avLst/>
          </a:prstGeom>
          <a:noFill/>
        </p:spPr>
        <p:txBody>
          <a:bodyPr wrap="square" numCol="2" rtlCol="0">
            <a:spAutoFit/>
          </a:bodyPr>
          <a:lstStyle/>
          <a:p>
            <a:pPr marL="342900" indent="-342900">
              <a:buFont typeface="+mj-lt"/>
              <a:buAutoNum type="arabicPeriod"/>
            </a:pPr>
            <a:r>
              <a:rPr lang="en-US" dirty="0">
                <a:latin typeface="Eras Medium ITC" panose="020B0602030504020804" pitchFamily="34" charset="0"/>
              </a:rPr>
              <a:t>Number()</a:t>
            </a:r>
          </a:p>
          <a:p>
            <a:pPr marL="342900" indent="-342900">
              <a:buFont typeface="+mj-lt"/>
              <a:buAutoNum type="arabicPeriod"/>
            </a:pPr>
            <a:r>
              <a:rPr lang="en-US" dirty="0">
                <a:latin typeface="Eras Medium ITC" panose="020B0602030504020804" pitchFamily="34" charset="0"/>
              </a:rPr>
              <a:t>parseInt()</a:t>
            </a:r>
          </a:p>
          <a:p>
            <a:pPr marL="342900" indent="-342900">
              <a:buFont typeface="+mj-lt"/>
              <a:buAutoNum type="arabicPeriod"/>
            </a:pPr>
            <a:r>
              <a:rPr lang="en-US" dirty="0">
                <a:latin typeface="Eras Medium ITC" panose="020B0602030504020804" pitchFamily="34" charset="0"/>
              </a:rPr>
              <a:t>parseFloat()</a:t>
            </a:r>
          </a:p>
          <a:p>
            <a:pPr marL="342900" indent="-342900">
              <a:buFont typeface="+mj-lt"/>
              <a:buAutoNum type="arabicPeriod"/>
            </a:pPr>
            <a:r>
              <a:rPr lang="en-US" dirty="0" err="1">
                <a:latin typeface="Eras Medium ITC" panose="020B0602030504020804" pitchFamily="34" charset="0"/>
              </a:rPr>
              <a:t>isFinite</a:t>
            </a:r>
            <a:r>
              <a:rPr lang="en-US" dirty="0">
                <a:latin typeface="Eras Medium ITC" panose="020B0602030504020804" pitchFamily="34" charset="0"/>
              </a:rPr>
              <a:t>()</a:t>
            </a:r>
          </a:p>
          <a:p>
            <a:pPr marL="342900" indent="-342900">
              <a:buFont typeface="+mj-lt"/>
              <a:buAutoNum type="arabicPeriod"/>
            </a:pPr>
            <a:r>
              <a:rPr lang="en-US" dirty="0" err="1">
                <a:latin typeface="Eras Medium ITC" panose="020B0602030504020804" pitchFamily="34" charset="0"/>
              </a:rPr>
              <a:t>isInteger</a:t>
            </a:r>
            <a:r>
              <a:rPr lang="en-US" dirty="0">
                <a:latin typeface="Eras Medium ITC" panose="020B0602030504020804" pitchFamily="34" charset="0"/>
              </a:rPr>
              <a:t>()</a:t>
            </a:r>
          </a:p>
          <a:p>
            <a:pPr marL="342900" indent="-342900">
              <a:buFont typeface="+mj-lt"/>
              <a:buAutoNum type="arabicPeriod"/>
            </a:pPr>
            <a:r>
              <a:rPr lang="en-US" dirty="0" err="1">
                <a:latin typeface="Eras Medium ITC" panose="020B0602030504020804" pitchFamily="34" charset="0"/>
              </a:rPr>
              <a:t>toFixed</a:t>
            </a:r>
            <a:r>
              <a:rPr lang="en-US" dirty="0">
                <a:latin typeface="Eras Medium ITC" panose="020B0602030504020804" pitchFamily="34" charset="0"/>
              </a:rPr>
              <a:t>(x)</a:t>
            </a:r>
          </a:p>
          <a:p>
            <a:pPr marL="342900" indent="-342900">
              <a:buFont typeface="+mj-lt"/>
              <a:buAutoNum type="arabicPeriod"/>
            </a:pPr>
            <a:r>
              <a:rPr lang="en-US" dirty="0" err="1">
                <a:latin typeface="Eras Medium ITC" panose="020B0602030504020804" pitchFamily="34" charset="0"/>
              </a:rPr>
              <a:t>toPrecision</a:t>
            </a:r>
            <a:r>
              <a:rPr lang="en-US" dirty="0">
                <a:latin typeface="Eras Medium ITC" panose="020B0602030504020804" pitchFamily="34" charset="0"/>
              </a:rPr>
              <a:t>(x)</a:t>
            </a:r>
          </a:p>
        </p:txBody>
      </p:sp>
    </p:spTree>
    <p:extLst>
      <p:ext uri="{BB962C8B-B14F-4D97-AF65-F5344CB8AC3E}">
        <p14:creationId xmlns:p14="http://schemas.microsoft.com/office/powerpoint/2010/main" val="2046862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A9B5A-BC02-253C-1D32-C07D1A505C5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577E4C4-37CC-069D-9ECC-025CF9242893}"/>
              </a:ext>
            </a:extLst>
          </p:cNvPr>
          <p:cNvSpPr txBox="1"/>
          <p:nvPr/>
        </p:nvSpPr>
        <p:spPr>
          <a:xfrm>
            <a:off x="884904" y="865240"/>
            <a:ext cx="7678994" cy="4078039"/>
          </a:xfrm>
          <a:prstGeom prst="rect">
            <a:avLst/>
          </a:prstGeom>
          <a:noFill/>
        </p:spPr>
        <p:txBody>
          <a:bodyPr wrap="square" rtlCol="0">
            <a:spAutoFit/>
          </a:bodyPr>
          <a:lstStyle/>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b="1" u="sng" dirty="0">
              <a:solidFill>
                <a:schemeClr val="accent1"/>
              </a:solidFill>
              <a:latin typeface="Eras Medium ITC" panose="020B0602030504020804" pitchFamily="34" charset="0"/>
            </a:endParaRPr>
          </a:p>
          <a:p>
            <a:endParaRPr lang="en-US" sz="500" b="1" u="sng" dirty="0">
              <a:solidFill>
                <a:schemeClr val="accent1"/>
              </a:solidFill>
              <a:latin typeface="Eras Medium ITC" panose="020B0602030504020804" pitchFamily="34" charset="0"/>
            </a:endParaRPr>
          </a:p>
          <a:p>
            <a:r>
              <a:rPr lang="en-US" dirty="0">
                <a:latin typeface="Eras Medium ITC" panose="020B0602030504020804" pitchFamily="34" charset="0"/>
              </a:rPr>
              <a:t>The variable a contains the string "100". The Number() method converts the string into the numeric value 100, allowing it to be used in calculations.</a:t>
            </a:r>
          </a:p>
          <a:p>
            <a:endParaRPr lang="en-US" b="1" u="sng" dirty="0">
              <a:solidFill>
                <a:schemeClr val="accent1"/>
              </a:solidFill>
              <a:latin typeface="Eras Medium ITC" panose="020B0602030504020804" pitchFamily="34" charset="0"/>
            </a:endParaRPr>
          </a:p>
          <a:p>
            <a:r>
              <a:rPr lang="en-US" b="1" u="sng" dirty="0">
                <a:solidFill>
                  <a:schemeClr val="accent1"/>
                </a:solidFill>
                <a:latin typeface="Eras Medium ITC" panose="020B0602030504020804" pitchFamily="34" charset="0"/>
              </a:rPr>
              <a:t>2. parseInt()</a:t>
            </a:r>
          </a:p>
          <a:p>
            <a:r>
              <a:rPr lang="en-US" dirty="0">
                <a:latin typeface="Eras Medium ITC" panose="020B0602030504020804" pitchFamily="34" charset="0"/>
              </a:rPr>
              <a:t>The by reading parseInt() method converts a string into an integer only the whole number. It ignores decimal values and stops reading when it encounters a non-numeric character.</a:t>
            </a:r>
          </a:p>
        </p:txBody>
      </p:sp>
      <p:pic>
        <p:nvPicPr>
          <p:cNvPr id="7" name="Picture 6">
            <a:extLst>
              <a:ext uri="{FF2B5EF4-FFF2-40B4-BE49-F238E27FC236}">
                <a16:creationId xmlns:a16="http://schemas.microsoft.com/office/drawing/2014/main" id="{ACCA4FFA-4D8B-5210-0F99-5271DA6D5283}"/>
              </a:ext>
            </a:extLst>
          </p:cNvPr>
          <p:cNvPicPr>
            <a:picLocks noChangeAspect="1"/>
          </p:cNvPicPr>
          <p:nvPr/>
        </p:nvPicPr>
        <p:blipFill>
          <a:blip r:embed="rId2"/>
          <a:stretch>
            <a:fillRect/>
          </a:stretch>
        </p:blipFill>
        <p:spPr>
          <a:xfrm>
            <a:off x="983227" y="865241"/>
            <a:ext cx="6492803" cy="1148664"/>
          </a:xfrm>
          <a:prstGeom prst="rect">
            <a:avLst/>
          </a:prstGeom>
        </p:spPr>
      </p:pic>
      <p:pic>
        <p:nvPicPr>
          <p:cNvPr id="9" name="Picture 8">
            <a:extLst>
              <a:ext uri="{FF2B5EF4-FFF2-40B4-BE49-F238E27FC236}">
                <a16:creationId xmlns:a16="http://schemas.microsoft.com/office/drawing/2014/main" id="{9AB2D4DA-D395-35AD-1D14-CA262FA69108}"/>
              </a:ext>
            </a:extLst>
          </p:cNvPr>
          <p:cNvPicPr>
            <a:picLocks noChangeAspect="1"/>
          </p:cNvPicPr>
          <p:nvPr/>
        </p:nvPicPr>
        <p:blipFill>
          <a:blip r:embed="rId3"/>
          <a:stretch>
            <a:fillRect/>
          </a:stretch>
        </p:blipFill>
        <p:spPr>
          <a:xfrm>
            <a:off x="983227" y="2141691"/>
            <a:ext cx="2281083" cy="405887"/>
          </a:xfrm>
          <a:prstGeom prst="rect">
            <a:avLst/>
          </a:prstGeom>
          <a:ln>
            <a:solidFill>
              <a:schemeClr val="accent1"/>
            </a:solidFill>
          </a:ln>
        </p:spPr>
      </p:pic>
      <p:pic>
        <p:nvPicPr>
          <p:cNvPr id="11" name="Picture 10">
            <a:extLst>
              <a:ext uri="{FF2B5EF4-FFF2-40B4-BE49-F238E27FC236}">
                <a16:creationId xmlns:a16="http://schemas.microsoft.com/office/drawing/2014/main" id="{5BA71043-39EA-50CB-3A46-4A3D05E52153}"/>
              </a:ext>
            </a:extLst>
          </p:cNvPr>
          <p:cNvPicPr>
            <a:picLocks noChangeAspect="1"/>
          </p:cNvPicPr>
          <p:nvPr/>
        </p:nvPicPr>
        <p:blipFill>
          <a:blip r:embed="rId4"/>
          <a:stretch>
            <a:fillRect/>
          </a:stretch>
        </p:blipFill>
        <p:spPr>
          <a:xfrm>
            <a:off x="983227" y="4991884"/>
            <a:ext cx="6492803" cy="891617"/>
          </a:xfrm>
          <a:prstGeom prst="rect">
            <a:avLst/>
          </a:prstGeom>
        </p:spPr>
      </p:pic>
    </p:spTree>
    <p:extLst>
      <p:ext uri="{BB962C8B-B14F-4D97-AF65-F5344CB8AC3E}">
        <p14:creationId xmlns:p14="http://schemas.microsoft.com/office/powerpoint/2010/main" val="3234605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6224F-590E-7C08-75E6-24B8D0C283F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C381E67-22E0-C03E-2937-1045D5D4FC9D}"/>
              </a:ext>
            </a:extLst>
          </p:cNvPr>
          <p:cNvSpPr txBox="1"/>
          <p:nvPr/>
        </p:nvSpPr>
        <p:spPr>
          <a:xfrm>
            <a:off x="884904" y="865240"/>
            <a:ext cx="7678994" cy="5078313"/>
          </a:xfrm>
          <a:prstGeom prst="rect">
            <a:avLst/>
          </a:prstGeom>
          <a:noFill/>
        </p:spPr>
        <p:txBody>
          <a:bodyPr wrap="square" rtlCol="0">
            <a:spAutoFit/>
          </a:bodyPr>
          <a:lstStyle/>
          <a:p>
            <a:endParaRPr lang="en-US" dirty="0">
              <a:latin typeface="Eras Medium ITC" panose="020B0602030504020804" pitchFamily="34" charset="0"/>
            </a:endParaRPr>
          </a:p>
          <a:p>
            <a:endParaRPr lang="en-US" dirty="0">
              <a:latin typeface="Eras Medium ITC" panose="020B0602030504020804" pitchFamily="34" charset="0"/>
            </a:endParaRPr>
          </a:p>
          <a:p>
            <a:r>
              <a:rPr lang="en-US" dirty="0">
                <a:latin typeface="Eras Medium ITC" panose="020B0602030504020804" pitchFamily="34" charset="0"/>
              </a:rPr>
              <a:t>The string "45.89" is converted into the integer 45. The decimal part .89 is ignored because parseInt() only returns whole numbers.</a:t>
            </a:r>
          </a:p>
          <a:p>
            <a:endParaRPr lang="en-US" b="1" u="sng" dirty="0">
              <a:solidFill>
                <a:schemeClr val="accent1"/>
              </a:solidFill>
              <a:latin typeface="Eras Medium ITC" panose="020B0602030504020804" pitchFamily="34" charset="0"/>
            </a:endParaRPr>
          </a:p>
          <a:p>
            <a:r>
              <a:rPr lang="en-US" b="1" u="sng" dirty="0">
                <a:solidFill>
                  <a:schemeClr val="accent1"/>
                </a:solidFill>
                <a:latin typeface="Eras Medium ITC" panose="020B0602030504020804" pitchFamily="34" charset="0"/>
              </a:rPr>
              <a:t>3. parseFloat()</a:t>
            </a:r>
          </a:p>
          <a:p>
            <a:r>
              <a:rPr lang="en-US" dirty="0">
                <a:latin typeface="Eras Medium ITC" panose="020B0602030504020804" pitchFamily="34" charset="0"/>
              </a:rPr>
              <a:t>The parseFloat() method converts a string into a floating-point (decimal) number. It keeps the decimal portion of the value.</a:t>
            </a: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r>
              <a:rPr lang="en-US" dirty="0">
                <a:latin typeface="Eras Medium ITC" panose="020B0602030504020804" pitchFamily="34" charset="0"/>
              </a:rPr>
              <a:t>The parseFloat() method converts a string into a decimal number and keeps the digits after the decimal point.</a:t>
            </a:r>
          </a:p>
        </p:txBody>
      </p:sp>
      <p:pic>
        <p:nvPicPr>
          <p:cNvPr id="3" name="Picture 2">
            <a:extLst>
              <a:ext uri="{FF2B5EF4-FFF2-40B4-BE49-F238E27FC236}">
                <a16:creationId xmlns:a16="http://schemas.microsoft.com/office/drawing/2014/main" id="{2453AD9B-D944-3E85-7E03-65BF7107A470}"/>
              </a:ext>
            </a:extLst>
          </p:cNvPr>
          <p:cNvPicPr>
            <a:picLocks noChangeAspect="1"/>
          </p:cNvPicPr>
          <p:nvPr/>
        </p:nvPicPr>
        <p:blipFill>
          <a:blip r:embed="rId2"/>
          <a:stretch>
            <a:fillRect/>
          </a:stretch>
        </p:blipFill>
        <p:spPr>
          <a:xfrm>
            <a:off x="993060" y="944002"/>
            <a:ext cx="1966450" cy="389061"/>
          </a:xfrm>
          <a:prstGeom prst="rect">
            <a:avLst/>
          </a:prstGeom>
          <a:ln>
            <a:solidFill>
              <a:schemeClr val="accent1"/>
            </a:solidFill>
          </a:ln>
        </p:spPr>
      </p:pic>
      <p:pic>
        <p:nvPicPr>
          <p:cNvPr id="5" name="Picture 4">
            <a:extLst>
              <a:ext uri="{FF2B5EF4-FFF2-40B4-BE49-F238E27FC236}">
                <a16:creationId xmlns:a16="http://schemas.microsoft.com/office/drawing/2014/main" id="{A02BA543-71F0-6302-0FA9-5D9F2F92D918}"/>
              </a:ext>
            </a:extLst>
          </p:cNvPr>
          <p:cNvPicPr>
            <a:picLocks noChangeAspect="1"/>
          </p:cNvPicPr>
          <p:nvPr/>
        </p:nvPicPr>
        <p:blipFill>
          <a:blip r:embed="rId3"/>
          <a:stretch>
            <a:fillRect/>
          </a:stretch>
        </p:blipFill>
        <p:spPr>
          <a:xfrm>
            <a:off x="993060" y="3309494"/>
            <a:ext cx="6962166" cy="1124854"/>
          </a:xfrm>
          <a:prstGeom prst="rect">
            <a:avLst/>
          </a:prstGeom>
        </p:spPr>
      </p:pic>
      <p:pic>
        <p:nvPicPr>
          <p:cNvPr id="7" name="Picture 6">
            <a:extLst>
              <a:ext uri="{FF2B5EF4-FFF2-40B4-BE49-F238E27FC236}">
                <a16:creationId xmlns:a16="http://schemas.microsoft.com/office/drawing/2014/main" id="{A2B24BE0-D532-0B62-6CAC-C9D2955CDBC6}"/>
              </a:ext>
            </a:extLst>
          </p:cNvPr>
          <p:cNvPicPr>
            <a:picLocks noChangeAspect="1"/>
          </p:cNvPicPr>
          <p:nvPr/>
        </p:nvPicPr>
        <p:blipFill>
          <a:blip r:embed="rId4"/>
          <a:stretch>
            <a:fillRect/>
          </a:stretch>
        </p:blipFill>
        <p:spPr>
          <a:xfrm>
            <a:off x="993060" y="4603675"/>
            <a:ext cx="2582635" cy="430439"/>
          </a:xfrm>
          <a:prstGeom prst="rect">
            <a:avLst/>
          </a:prstGeom>
          <a:ln>
            <a:solidFill>
              <a:schemeClr val="accent1"/>
            </a:solidFill>
          </a:ln>
        </p:spPr>
      </p:pic>
    </p:spTree>
    <p:extLst>
      <p:ext uri="{BB962C8B-B14F-4D97-AF65-F5344CB8AC3E}">
        <p14:creationId xmlns:p14="http://schemas.microsoft.com/office/powerpoint/2010/main" val="2526243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51164-3F4C-9A69-BB7D-C9F4C0F2C88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592765F-2C53-7154-DC12-EAA70D7463F5}"/>
              </a:ext>
            </a:extLst>
          </p:cNvPr>
          <p:cNvSpPr txBox="1"/>
          <p:nvPr/>
        </p:nvSpPr>
        <p:spPr>
          <a:xfrm>
            <a:off x="884904" y="865240"/>
            <a:ext cx="7678994" cy="4585871"/>
          </a:xfrm>
          <a:prstGeom prst="rect">
            <a:avLst/>
          </a:prstGeom>
          <a:noFill/>
        </p:spPr>
        <p:txBody>
          <a:bodyPr wrap="square" rtlCol="0">
            <a:spAutoFit/>
          </a:bodyPr>
          <a:lstStyle/>
          <a:p>
            <a:r>
              <a:rPr lang="en-US" b="1" u="sng" dirty="0">
                <a:solidFill>
                  <a:schemeClr val="accent1"/>
                </a:solidFill>
                <a:latin typeface="Eras Medium ITC" panose="020B0602030504020804" pitchFamily="34" charset="0"/>
              </a:rPr>
              <a:t>3. </a:t>
            </a:r>
            <a:r>
              <a:rPr lang="en-US" b="1" u="sng" dirty="0" err="1">
                <a:solidFill>
                  <a:schemeClr val="accent1"/>
                </a:solidFill>
                <a:latin typeface="Eras Medium ITC" panose="020B0602030504020804" pitchFamily="34" charset="0"/>
              </a:rPr>
              <a:t>Number.isFinite</a:t>
            </a:r>
            <a:r>
              <a:rPr lang="en-US" b="1" u="sng" dirty="0">
                <a:solidFill>
                  <a:schemeClr val="accent1"/>
                </a:solidFill>
                <a:latin typeface="Eras Medium ITC" panose="020B0602030504020804" pitchFamily="34" charset="0"/>
              </a:rPr>
              <a:t>()</a:t>
            </a:r>
          </a:p>
          <a:p>
            <a:r>
              <a:rPr lang="en-US" dirty="0">
                <a:latin typeface="Eras Medium ITC" panose="020B0602030504020804" pitchFamily="34" charset="0"/>
              </a:rPr>
              <a:t>This method checks whether a value is a finite number. It returns true for valid finite numbers and false for Infinity, -Infinity, or NaN</a:t>
            </a: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sz="1200" dirty="0">
              <a:latin typeface="Eras Medium ITC" panose="020B0602030504020804" pitchFamily="34" charset="0"/>
            </a:endParaRPr>
          </a:p>
          <a:p>
            <a:r>
              <a:rPr lang="en-US" dirty="0">
                <a:latin typeface="Eras Medium ITC" panose="020B0602030504020804" pitchFamily="34" charset="0"/>
              </a:rPr>
              <a:t> The value 150 is a valid finite number, so </a:t>
            </a:r>
            <a:r>
              <a:rPr lang="en-US" dirty="0" err="1">
                <a:latin typeface="Eras Medium ITC" panose="020B0602030504020804" pitchFamily="34" charset="0"/>
              </a:rPr>
              <a:t>Number.isFinite</a:t>
            </a:r>
            <a:r>
              <a:rPr lang="en-US" dirty="0">
                <a:latin typeface="Eras Medium ITC" panose="020B0602030504020804" pitchFamily="34" charset="0"/>
              </a:rPr>
              <a:t>() returns true.</a:t>
            </a:r>
          </a:p>
          <a:p>
            <a:endParaRPr lang="en-US" sz="2800" dirty="0">
              <a:latin typeface="Eras Medium ITC" panose="020B0602030504020804" pitchFamily="34" charset="0"/>
            </a:endParaRPr>
          </a:p>
          <a:p>
            <a:r>
              <a:rPr lang="en-US" b="1" u="sng" dirty="0">
                <a:solidFill>
                  <a:schemeClr val="accent1"/>
                </a:solidFill>
                <a:latin typeface="Eras Medium ITC" panose="020B0602030504020804" pitchFamily="34" charset="0"/>
              </a:rPr>
              <a:t>5. </a:t>
            </a:r>
            <a:r>
              <a:rPr lang="en-US" b="1" u="sng" dirty="0" err="1">
                <a:solidFill>
                  <a:schemeClr val="accent1"/>
                </a:solidFill>
                <a:latin typeface="Eras Medium ITC" panose="020B0602030504020804" pitchFamily="34" charset="0"/>
              </a:rPr>
              <a:t>Number.isInteger</a:t>
            </a:r>
            <a:r>
              <a:rPr lang="en-US" b="1" u="sng" dirty="0">
                <a:solidFill>
                  <a:schemeClr val="accent1"/>
                </a:solidFill>
                <a:latin typeface="Eras Medium ITC" panose="020B0602030504020804" pitchFamily="34" charset="0"/>
              </a:rPr>
              <a:t>()</a:t>
            </a:r>
          </a:p>
          <a:p>
            <a:r>
              <a:rPr lang="en-US" dirty="0">
                <a:latin typeface="Eras Medium ITC" panose="020B0602030504020804" pitchFamily="34" charset="0"/>
              </a:rPr>
              <a:t>This method checks whether a value is an integer. If the value is a whole number, it returns true; otherwise, it returns false.</a:t>
            </a:r>
          </a:p>
        </p:txBody>
      </p:sp>
      <p:pic>
        <p:nvPicPr>
          <p:cNvPr id="3" name="Picture 2">
            <a:extLst>
              <a:ext uri="{FF2B5EF4-FFF2-40B4-BE49-F238E27FC236}">
                <a16:creationId xmlns:a16="http://schemas.microsoft.com/office/drawing/2014/main" id="{C5D00CA9-0E7C-57D7-C475-6C0261412444}"/>
              </a:ext>
            </a:extLst>
          </p:cNvPr>
          <p:cNvPicPr>
            <a:picLocks noChangeAspect="1"/>
          </p:cNvPicPr>
          <p:nvPr/>
        </p:nvPicPr>
        <p:blipFill>
          <a:blip r:embed="rId2"/>
          <a:srcRect b="2769"/>
          <a:stretch>
            <a:fillRect/>
          </a:stretch>
        </p:blipFill>
        <p:spPr>
          <a:xfrm>
            <a:off x="995111" y="1931993"/>
            <a:ext cx="7530139" cy="1204497"/>
          </a:xfrm>
          <a:prstGeom prst="rect">
            <a:avLst/>
          </a:prstGeom>
        </p:spPr>
      </p:pic>
      <p:pic>
        <p:nvPicPr>
          <p:cNvPr id="6" name="Picture 5">
            <a:extLst>
              <a:ext uri="{FF2B5EF4-FFF2-40B4-BE49-F238E27FC236}">
                <a16:creationId xmlns:a16="http://schemas.microsoft.com/office/drawing/2014/main" id="{33480BF5-FC36-D185-AC83-D2E30816FA49}"/>
              </a:ext>
            </a:extLst>
          </p:cNvPr>
          <p:cNvPicPr>
            <a:picLocks noChangeAspect="1"/>
          </p:cNvPicPr>
          <p:nvPr/>
        </p:nvPicPr>
        <p:blipFill>
          <a:blip r:embed="rId3"/>
          <a:stretch>
            <a:fillRect/>
          </a:stretch>
        </p:blipFill>
        <p:spPr>
          <a:xfrm>
            <a:off x="995111" y="3234571"/>
            <a:ext cx="2721483" cy="384856"/>
          </a:xfrm>
          <a:prstGeom prst="rect">
            <a:avLst/>
          </a:prstGeom>
          <a:ln>
            <a:solidFill>
              <a:schemeClr val="accent1"/>
            </a:solidFill>
          </a:ln>
        </p:spPr>
      </p:pic>
    </p:spTree>
    <p:extLst>
      <p:ext uri="{BB962C8B-B14F-4D97-AF65-F5344CB8AC3E}">
        <p14:creationId xmlns:p14="http://schemas.microsoft.com/office/powerpoint/2010/main" val="2721503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B3109-F240-33C4-1D31-C77A458D848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4D4473C-532F-566C-83A6-76DEC81B4FCA}"/>
              </a:ext>
            </a:extLst>
          </p:cNvPr>
          <p:cNvSpPr txBox="1"/>
          <p:nvPr/>
        </p:nvSpPr>
        <p:spPr>
          <a:xfrm>
            <a:off x="866216" y="781587"/>
            <a:ext cx="7678994" cy="4893647"/>
          </a:xfrm>
          <a:prstGeom prst="rect">
            <a:avLst/>
          </a:prstGeom>
          <a:noFill/>
        </p:spPr>
        <p:txBody>
          <a:bodyPr wrap="square" rtlCol="0">
            <a:spAutoFit/>
          </a:bodyPr>
          <a:lstStyle/>
          <a:p>
            <a:r>
              <a:rPr lang="en-US" b="1" u="sng" dirty="0">
                <a:solidFill>
                  <a:schemeClr val="accent1"/>
                </a:solidFill>
                <a:latin typeface="Eras Medium ITC" panose="020B0602030504020804" pitchFamily="34" charset="0"/>
              </a:rPr>
              <a:t> </a:t>
            </a:r>
          </a:p>
          <a:p>
            <a:endParaRPr lang="en-US" sz="1200" b="1" u="sng" dirty="0">
              <a:solidFill>
                <a:schemeClr val="accent1"/>
              </a:solidFill>
              <a:latin typeface="Eras Medium ITC" panose="020B0602030504020804" pitchFamily="34" charset="0"/>
            </a:endParaRPr>
          </a:p>
          <a:p>
            <a:endParaRPr lang="en-US" sz="1200" b="1" u="sng" dirty="0">
              <a:solidFill>
                <a:schemeClr val="accent1"/>
              </a:solidFill>
              <a:latin typeface="Eras Medium ITC" panose="020B0602030504020804" pitchFamily="34" charset="0"/>
            </a:endParaRPr>
          </a:p>
          <a:p>
            <a:endParaRPr lang="en-US" sz="1200" b="1" u="sng" dirty="0">
              <a:solidFill>
                <a:schemeClr val="accent1"/>
              </a:solidFill>
              <a:latin typeface="Eras Medium ITC" panose="020B0602030504020804" pitchFamily="34" charset="0"/>
            </a:endParaRPr>
          </a:p>
          <a:p>
            <a:endParaRPr lang="en-US" sz="1200" b="1" u="sng" dirty="0">
              <a:solidFill>
                <a:schemeClr val="accent1"/>
              </a:solidFill>
              <a:latin typeface="Eras Medium ITC" panose="020B0602030504020804" pitchFamily="34" charset="0"/>
            </a:endParaRPr>
          </a:p>
          <a:p>
            <a:endParaRPr lang="en-US" sz="1200" b="1" u="sng" dirty="0">
              <a:solidFill>
                <a:schemeClr val="accent1"/>
              </a:solidFill>
              <a:latin typeface="Eras Medium ITC" panose="020B0602030504020804" pitchFamily="34" charset="0"/>
            </a:endParaRPr>
          </a:p>
          <a:p>
            <a:endParaRPr lang="en-US" sz="1200" b="1" u="sng" dirty="0">
              <a:solidFill>
                <a:schemeClr val="accent1"/>
              </a:solidFill>
              <a:latin typeface="Eras Medium ITC" panose="020B0602030504020804" pitchFamily="34" charset="0"/>
            </a:endParaRPr>
          </a:p>
          <a:p>
            <a:endParaRPr lang="en-US" sz="1200" b="1" u="sng" dirty="0">
              <a:solidFill>
                <a:schemeClr val="accent1"/>
              </a:solidFill>
              <a:latin typeface="Eras Medium ITC" panose="020B0602030504020804" pitchFamily="34" charset="0"/>
            </a:endParaRPr>
          </a:p>
          <a:p>
            <a:endParaRPr lang="en-US" sz="1200" dirty="0">
              <a:latin typeface="Eras Medium ITC" panose="020B0602030504020804" pitchFamily="34" charset="0"/>
            </a:endParaRPr>
          </a:p>
          <a:p>
            <a:endParaRPr lang="en-US" sz="1000" dirty="0">
              <a:latin typeface="Eras Medium ITC" panose="020B0602030504020804" pitchFamily="34" charset="0"/>
            </a:endParaRPr>
          </a:p>
          <a:p>
            <a:endParaRPr lang="en-US" sz="3200" dirty="0">
              <a:latin typeface="Eras Medium ITC" panose="020B0602030504020804" pitchFamily="34" charset="0"/>
            </a:endParaRPr>
          </a:p>
          <a:p>
            <a:r>
              <a:rPr lang="en-US" b="1" u="sng" dirty="0">
                <a:solidFill>
                  <a:schemeClr val="accent1"/>
                </a:solidFill>
                <a:latin typeface="Eras Medium ITC" panose="020B0602030504020804" pitchFamily="34" charset="0"/>
              </a:rPr>
              <a:t>6. </a:t>
            </a:r>
            <a:r>
              <a:rPr lang="en-US" b="1" u="sng" dirty="0" err="1">
                <a:solidFill>
                  <a:schemeClr val="accent1"/>
                </a:solidFill>
                <a:latin typeface="Eras Medium ITC" panose="020B0602030504020804" pitchFamily="34" charset="0"/>
              </a:rPr>
              <a:t>toFixed</a:t>
            </a:r>
            <a:r>
              <a:rPr lang="en-US" b="1" u="sng" dirty="0">
                <a:solidFill>
                  <a:schemeClr val="accent1"/>
                </a:solidFill>
                <a:latin typeface="Eras Medium ITC" panose="020B0602030504020804" pitchFamily="34" charset="0"/>
              </a:rPr>
              <a:t>()</a:t>
            </a:r>
          </a:p>
          <a:p>
            <a:r>
              <a:rPr lang="en-US" dirty="0">
                <a:latin typeface="Eras Medium ITC" panose="020B0602030504020804" pitchFamily="34" charset="0"/>
              </a:rPr>
              <a:t>This method formats a number by rounding it to a specified number of decimal places. It returns the result as a string.</a:t>
            </a:r>
          </a:p>
          <a:p>
            <a:endParaRPr lang="en-US" i="1" dirty="0">
              <a:latin typeface="Eras Medium ITC" panose="020B0602030504020804" pitchFamily="34" charset="0"/>
            </a:endParaRPr>
          </a:p>
          <a:p>
            <a:endParaRPr lang="en-US" i="1"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sz="1200" dirty="0">
              <a:latin typeface="Eras Medium ITC" panose="020B0602030504020804" pitchFamily="34" charset="0"/>
            </a:endParaRPr>
          </a:p>
        </p:txBody>
      </p:sp>
      <p:pic>
        <p:nvPicPr>
          <p:cNvPr id="5" name="Picture 4">
            <a:extLst>
              <a:ext uri="{FF2B5EF4-FFF2-40B4-BE49-F238E27FC236}">
                <a16:creationId xmlns:a16="http://schemas.microsoft.com/office/drawing/2014/main" id="{384A5AD3-AC7D-D2CA-A425-F33DFC482221}"/>
              </a:ext>
            </a:extLst>
          </p:cNvPr>
          <p:cNvPicPr>
            <a:picLocks noChangeAspect="1"/>
          </p:cNvPicPr>
          <p:nvPr/>
        </p:nvPicPr>
        <p:blipFill>
          <a:blip r:embed="rId3"/>
          <a:stretch>
            <a:fillRect/>
          </a:stretch>
        </p:blipFill>
        <p:spPr>
          <a:xfrm>
            <a:off x="884904" y="884630"/>
            <a:ext cx="7276432" cy="1170036"/>
          </a:xfrm>
          <a:prstGeom prst="rect">
            <a:avLst/>
          </a:prstGeom>
        </p:spPr>
      </p:pic>
      <p:pic>
        <p:nvPicPr>
          <p:cNvPr id="8" name="Picture 7">
            <a:extLst>
              <a:ext uri="{FF2B5EF4-FFF2-40B4-BE49-F238E27FC236}">
                <a16:creationId xmlns:a16="http://schemas.microsoft.com/office/drawing/2014/main" id="{33CB1E9A-CAE2-4F8E-0C65-C0563778179C}"/>
              </a:ext>
            </a:extLst>
          </p:cNvPr>
          <p:cNvPicPr>
            <a:picLocks noChangeAspect="1"/>
          </p:cNvPicPr>
          <p:nvPr/>
        </p:nvPicPr>
        <p:blipFill>
          <a:blip r:embed="rId4"/>
          <a:stretch>
            <a:fillRect/>
          </a:stretch>
        </p:blipFill>
        <p:spPr>
          <a:xfrm>
            <a:off x="884904" y="2243396"/>
            <a:ext cx="2830714" cy="444733"/>
          </a:xfrm>
          <a:prstGeom prst="rect">
            <a:avLst/>
          </a:prstGeom>
          <a:ln>
            <a:solidFill>
              <a:schemeClr val="accent1"/>
            </a:solidFill>
          </a:ln>
        </p:spPr>
      </p:pic>
      <p:pic>
        <p:nvPicPr>
          <p:cNvPr id="3" name="Picture 2">
            <a:extLst>
              <a:ext uri="{FF2B5EF4-FFF2-40B4-BE49-F238E27FC236}">
                <a16:creationId xmlns:a16="http://schemas.microsoft.com/office/drawing/2014/main" id="{940788FF-149C-8343-6F6C-001706E1C21F}"/>
              </a:ext>
            </a:extLst>
          </p:cNvPr>
          <p:cNvPicPr>
            <a:picLocks noChangeAspect="1"/>
          </p:cNvPicPr>
          <p:nvPr/>
        </p:nvPicPr>
        <p:blipFill>
          <a:blip r:embed="rId5"/>
          <a:srcRect b="25381"/>
          <a:stretch>
            <a:fillRect/>
          </a:stretch>
        </p:blipFill>
        <p:spPr>
          <a:xfrm>
            <a:off x="988012" y="4175294"/>
            <a:ext cx="7116474" cy="680510"/>
          </a:xfrm>
          <a:prstGeom prst="rect">
            <a:avLst/>
          </a:prstGeom>
        </p:spPr>
      </p:pic>
      <p:pic>
        <p:nvPicPr>
          <p:cNvPr id="9" name="Picture 8">
            <a:extLst>
              <a:ext uri="{FF2B5EF4-FFF2-40B4-BE49-F238E27FC236}">
                <a16:creationId xmlns:a16="http://schemas.microsoft.com/office/drawing/2014/main" id="{CF6393AC-B824-A103-50D6-4CAB07F34430}"/>
              </a:ext>
            </a:extLst>
          </p:cNvPr>
          <p:cNvPicPr>
            <a:picLocks noChangeAspect="1"/>
          </p:cNvPicPr>
          <p:nvPr/>
        </p:nvPicPr>
        <p:blipFill>
          <a:blip r:embed="rId6"/>
          <a:srcRect r="5877" b="59546"/>
          <a:stretch>
            <a:fillRect/>
          </a:stretch>
        </p:blipFill>
        <p:spPr>
          <a:xfrm>
            <a:off x="1013414" y="5104641"/>
            <a:ext cx="2377487" cy="442730"/>
          </a:xfrm>
          <a:prstGeom prst="rect">
            <a:avLst/>
          </a:prstGeom>
          <a:ln>
            <a:solidFill>
              <a:schemeClr val="accent1"/>
            </a:solidFill>
          </a:ln>
        </p:spPr>
      </p:pic>
      <p:sp>
        <p:nvSpPr>
          <p:cNvPr id="16" name="TextBox 15">
            <a:extLst>
              <a:ext uri="{FF2B5EF4-FFF2-40B4-BE49-F238E27FC236}">
                <a16:creationId xmlns:a16="http://schemas.microsoft.com/office/drawing/2014/main" id="{043ACD18-AD67-932F-133D-A8857F4C34F5}"/>
              </a:ext>
            </a:extLst>
          </p:cNvPr>
          <p:cNvSpPr txBox="1"/>
          <p:nvPr/>
        </p:nvSpPr>
        <p:spPr>
          <a:xfrm>
            <a:off x="3573709" y="5054303"/>
            <a:ext cx="4530777" cy="646331"/>
          </a:xfrm>
          <a:prstGeom prst="rect">
            <a:avLst/>
          </a:prstGeom>
          <a:noFill/>
        </p:spPr>
        <p:txBody>
          <a:bodyPr wrap="square" rtlCol="0">
            <a:spAutoFit/>
          </a:bodyPr>
          <a:lstStyle/>
          <a:p>
            <a:r>
              <a:rPr lang="en-US" dirty="0">
                <a:latin typeface="Eras Medium ITC" panose="020B0602030504020804" pitchFamily="34" charset="0"/>
              </a:rPr>
              <a:t>The number 15.6789 is rounded to 2 decimal places, producing the result 15.68.</a:t>
            </a:r>
          </a:p>
        </p:txBody>
      </p:sp>
      <p:sp>
        <p:nvSpPr>
          <p:cNvPr id="20" name="TextBox 19">
            <a:extLst>
              <a:ext uri="{FF2B5EF4-FFF2-40B4-BE49-F238E27FC236}">
                <a16:creationId xmlns:a16="http://schemas.microsoft.com/office/drawing/2014/main" id="{9595C030-224C-ECFC-7047-B52CFACF0392}"/>
              </a:ext>
            </a:extLst>
          </p:cNvPr>
          <p:cNvSpPr txBox="1"/>
          <p:nvPr/>
        </p:nvSpPr>
        <p:spPr>
          <a:xfrm>
            <a:off x="3830611" y="2133326"/>
            <a:ext cx="4330725" cy="646331"/>
          </a:xfrm>
          <a:prstGeom prst="rect">
            <a:avLst/>
          </a:prstGeom>
          <a:noFill/>
        </p:spPr>
        <p:txBody>
          <a:bodyPr wrap="square" rtlCol="0">
            <a:spAutoFit/>
          </a:bodyPr>
          <a:lstStyle/>
          <a:p>
            <a:r>
              <a:rPr lang="en-US" dirty="0">
                <a:latin typeface="Eras Medium ITC" panose="020B0602030504020804" pitchFamily="34" charset="0"/>
              </a:rPr>
              <a:t>The value 29.6 is not a whole number, so </a:t>
            </a:r>
            <a:r>
              <a:rPr lang="en-US" dirty="0" err="1">
                <a:latin typeface="Eras Medium ITC" panose="020B0602030504020804" pitchFamily="34" charset="0"/>
              </a:rPr>
              <a:t>Number.isInteger</a:t>
            </a:r>
            <a:r>
              <a:rPr lang="en-US" dirty="0">
                <a:latin typeface="Eras Medium ITC" panose="020B0602030504020804" pitchFamily="34" charset="0"/>
              </a:rPr>
              <a:t>() returns false.</a:t>
            </a:r>
          </a:p>
        </p:txBody>
      </p:sp>
    </p:spTree>
    <p:extLst>
      <p:ext uri="{BB962C8B-B14F-4D97-AF65-F5344CB8AC3E}">
        <p14:creationId xmlns:p14="http://schemas.microsoft.com/office/powerpoint/2010/main" val="221263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566E4-7B7A-9E0F-D486-70D5AD671FE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113DFB5-62A1-9911-4309-134AA341FC11}"/>
              </a:ext>
            </a:extLst>
          </p:cNvPr>
          <p:cNvSpPr txBox="1"/>
          <p:nvPr/>
        </p:nvSpPr>
        <p:spPr>
          <a:xfrm>
            <a:off x="866216" y="874722"/>
            <a:ext cx="8161572" cy="6263253"/>
          </a:xfrm>
          <a:prstGeom prst="rect">
            <a:avLst/>
          </a:prstGeom>
          <a:noFill/>
        </p:spPr>
        <p:txBody>
          <a:bodyPr wrap="square" rtlCol="0">
            <a:spAutoFit/>
          </a:bodyPr>
          <a:lstStyle/>
          <a:p>
            <a:r>
              <a:rPr lang="en-US" b="1" u="sng" dirty="0">
                <a:solidFill>
                  <a:schemeClr val="accent1"/>
                </a:solidFill>
                <a:latin typeface="Eras Medium ITC" panose="020B0602030504020804" pitchFamily="34" charset="0"/>
              </a:rPr>
              <a:t> 7. </a:t>
            </a:r>
            <a:r>
              <a:rPr lang="en-US" b="1" u="sng" dirty="0" err="1">
                <a:solidFill>
                  <a:schemeClr val="accent1"/>
                </a:solidFill>
                <a:latin typeface="Eras Medium ITC" panose="020B0602030504020804" pitchFamily="34" charset="0"/>
              </a:rPr>
              <a:t>toPrecision</a:t>
            </a:r>
            <a:r>
              <a:rPr lang="en-US" b="1" u="sng" dirty="0">
                <a:solidFill>
                  <a:schemeClr val="accent1"/>
                </a:solidFill>
                <a:latin typeface="Eras Medium ITC" panose="020B0602030504020804" pitchFamily="34" charset="0"/>
              </a:rPr>
              <a:t>()</a:t>
            </a:r>
          </a:p>
          <a:p>
            <a:r>
              <a:rPr lang="en-US" dirty="0">
                <a:latin typeface="Eras Medium ITC" panose="020B0602030504020804" pitchFamily="34" charset="0"/>
              </a:rPr>
              <a:t>This method formats a number to a specified number of significant digits. It returns the formatted value as a string</a:t>
            </a:r>
            <a:r>
              <a:rPr lang="en-US" dirty="0">
                <a:solidFill>
                  <a:schemeClr val="accent1"/>
                </a:solidFill>
                <a:latin typeface="Eras Medium ITC" panose="020B0602030504020804" pitchFamily="34" charset="0"/>
              </a:rPr>
              <a:t>.</a:t>
            </a:r>
          </a:p>
          <a:p>
            <a:endParaRPr lang="en-US" dirty="0">
              <a:solidFill>
                <a:schemeClr val="accent1"/>
              </a:solidFill>
              <a:latin typeface="Eras Medium ITC" panose="020B0602030504020804" pitchFamily="34" charset="0"/>
            </a:endParaRPr>
          </a:p>
          <a:p>
            <a:endParaRPr lang="en-US" dirty="0">
              <a:solidFill>
                <a:schemeClr val="accent1"/>
              </a:solidFill>
              <a:latin typeface="Eras Medium ITC" panose="020B0602030504020804" pitchFamily="34" charset="0"/>
            </a:endParaRPr>
          </a:p>
          <a:p>
            <a:endParaRPr lang="en-US" dirty="0">
              <a:solidFill>
                <a:schemeClr val="accent1"/>
              </a:solidFill>
              <a:latin typeface="Eras Medium ITC" panose="020B0602030504020804" pitchFamily="34" charset="0"/>
            </a:endParaRPr>
          </a:p>
          <a:p>
            <a:endParaRPr lang="en-US" dirty="0">
              <a:solidFill>
                <a:schemeClr val="accent1"/>
              </a:solidFill>
              <a:latin typeface="Eras Medium ITC" panose="020B0602030504020804" pitchFamily="34" charset="0"/>
            </a:endParaRPr>
          </a:p>
          <a:p>
            <a:endParaRPr lang="en-US" dirty="0">
              <a:solidFill>
                <a:schemeClr val="accent1"/>
              </a:solidFill>
              <a:latin typeface="Eras Medium ITC" panose="020B0602030504020804" pitchFamily="34" charset="0"/>
            </a:endParaRPr>
          </a:p>
          <a:p>
            <a:endParaRPr lang="en-US" dirty="0">
              <a:solidFill>
                <a:schemeClr val="accent1"/>
              </a:solidFill>
              <a:latin typeface="Eras Medium ITC" panose="020B0602030504020804" pitchFamily="34" charset="0"/>
            </a:endParaRPr>
          </a:p>
          <a:p>
            <a:r>
              <a:rPr lang="en-US" dirty="0">
                <a:latin typeface="Eras Medium ITC" panose="020B0602030504020804" pitchFamily="34" charset="0"/>
              </a:rPr>
              <a:t>The </a:t>
            </a:r>
            <a:r>
              <a:rPr lang="en-US" dirty="0" err="1">
                <a:latin typeface="Eras Medium ITC" panose="020B0602030504020804" pitchFamily="34" charset="0"/>
              </a:rPr>
              <a:t>toPrecision</a:t>
            </a:r>
            <a:r>
              <a:rPr lang="en-US" dirty="0">
                <a:latin typeface="Eras Medium ITC" panose="020B0602030504020804" pitchFamily="34" charset="0"/>
              </a:rPr>
              <a:t>(4) method keeps 4 significant digits. Therefore, the number 123.456 becomes 123.5 after rounding</a:t>
            </a:r>
          </a:p>
          <a:p>
            <a:endParaRPr lang="en-US" sz="2400" dirty="0">
              <a:solidFill>
                <a:schemeClr val="accent1"/>
              </a:solidFill>
              <a:latin typeface="Eras Medium ITC" panose="020B0602030504020804" pitchFamily="34" charset="0"/>
            </a:endParaRPr>
          </a:p>
          <a:p>
            <a:pPr marL="285750" indent="-285750">
              <a:buFont typeface="Wingdings" panose="05000000000000000000" pitchFamily="2" charset="2"/>
              <a:buChar char="ü"/>
            </a:pPr>
            <a:r>
              <a:rPr lang="en-US" sz="1700" b="1" u="sng" dirty="0">
                <a:solidFill>
                  <a:schemeClr val="accent1"/>
                </a:solidFill>
                <a:latin typeface="Eras Medium ITC" panose="020B0602030504020804" pitchFamily="34" charset="0"/>
              </a:rPr>
              <a:t>Why do we need Number Methods?</a:t>
            </a:r>
            <a:endParaRPr lang="en-US" sz="1700" u="sng" dirty="0">
              <a:solidFill>
                <a:schemeClr val="accent1"/>
              </a:solidFill>
              <a:latin typeface="Eras Medium ITC" panose="020B0602030504020804" pitchFamily="34" charset="0"/>
            </a:endParaRPr>
          </a:p>
          <a:p>
            <a:r>
              <a:rPr lang="en-US" sz="1700" dirty="0">
                <a:latin typeface="Eras Medium ITC" panose="020B0602030504020804" pitchFamily="34" charset="0"/>
              </a:rPr>
              <a:t>They help us convert, check, and format numeric values in JavaScript. They make calculations easier, improve the display of numbers, and reduce the need for complex code. These methods are commonly used in billing systems, banking applications, shopping carts, scientific calculations, and data processing.</a:t>
            </a:r>
          </a:p>
          <a:p>
            <a:endParaRPr lang="en-US" dirty="0">
              <a:solidFill>
                <a:schemeClr val="accent1"/>
              </a:solidFill>
              <a:latin typeface="Eras Medium ITC" panose="020B0602030504020804" pitchFamily="34" charset="0"/>
            </a:endParaRPr>
          </a:p>
          <a:p>
            <a:endParaRPr lang="en-US" dirty="0">
              <a:solidFill>
                <a:schemeClr val="accent1"/>
              </a:solidFill>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p:txBody>
      </p:sp>
      <p:pic>
        <p:nvPicPr>
          <p:cNvPr id="6" name="Picture 5">
            <a:extLst>
              <a:ext uri="{FF2B5EF4-FFF2-40B4-BE49-F238E27FC236}">
                <a16:creationId xmlns:a16="http://schemas.microsoft.com/office/drawing/2014/main" id="{1B703BAF-6371-6EC8-A720-E3EF576CE3CD}"/>
              </a:ext>
            </a:extLst>
          </p:cNvPr>
          <p:cNvPicPr>
            <a:picLocks noChangeAspect="1"/>
          </p:cNvPicPr>
          <p:nvPr/>
        </p:nvPicPr>
        <p:blipFill>
          <a:blip r:embed="rId3"/>
          <a:srcRect l="3941" r="28045"/>
          <a:stretch>
            <a:fillRect/>
          </a:stretch>
        </p:blipFill>
        <p:spPr>
          <a:xfrm>
            <a:off x="982133" y="1833016"/>
            <a:ext cx="5588001" cy="1332921"/>
          </a:xfrm>
          <a:prstGeom prst="rect">
            <a:avLst/>
          </a:prstGeom>
        </p:spPr>
      </p:pic>
      <p:pic>
        <p:nvPicPr>
          <p:cNvPr id="11" name="Picture 10">
            <a:extLst>
              <a:ext uri="{FF2B5EF4-FFF2-40B4-BE49-F238E27FC236}">
                <a16:creationId xmlns:a16="http://schemas.microsoft.com/office/drawing/2014/main" id="{96C80E16-ECFF-E563-3597-423E60D5ACB4}"/>
              </a:ext>
            </a:extLst>
          </p:cNvPr>
          <p:cNvPicPr>
            <a:picLocks noChangeAspect="1"/>
          </p:cNvPicPr>
          <p:nvPr/>
        </p:nvPicPr>
        <p:blipFill>
          <a:blip r:embed="rId4"/>
          <a:srcRect l="-894" t="50447" r="894" b="9099"/>
          <a:stretch>
            <a:fillRect/>
          </a:stretch>
        </p:blipFill>
        <p:spPr>
          <a:xfrm>
            <a:off x="6762547" y="2300955"/>
            <a:ext cx="2265240" cy="397041"/>
          </a:xfrm>
          <a:prstGeom prst="rect">
            <a:avLst/>
          </a:prstGeom>
          <a:ln>
            <a:solidFill>
              <a:schemeClr val="accent1"/>
            </a:solidFill>
          </a:ln>
        </p:spPr>
      </p:pic>
    </p:spTree>
    <p:extLst>
      <p:ext uri="{BB962C8B-B14F-4D97-AF65-F5344CB8AC3E}">
        <p14:creationId xmlns:p14="http://schemas.microsoft.com/office/powerpoint/2010/main" val="3102863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BE518-5076-90F8-00FF-B65405217E3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4A680E8-97F4-BF64-A51F-74A07038EE1F}"/>
              </a:ext>
            </a:extLst>
          </p:cNvPr>
          <p:cNvSpPr txBox="1"/>
          <p:nvPr/>
        </p:nvSpPr>
        <p:spPr>
          <a:xfrm>
            <a:off x="2244524" y="2572743"/>
            <a:ext cx="6105644" cy="1908215"/>
          </a:xfrm>
          <a:prstGeom prst="rect">
            <a:avLst/>
          </a:prstGeom>
          <a:noFill/>
        </p:spPr>
        <p:txBody>
          <a:bodyPr wrap="square">
            <a:spAutoFit/>
          </a:bodyPr>
          <a:lstStyle/>
          <a:p>
            <a:pPr algn="ctr"/>
            <a:r>
              <a:rPr lang="en-US" sz="5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MATH METHODS IN JAVASCRIPT</a:t>
            </a:r>
          </a:p>
          <a:p>
            <a:pPr algn="ctr"/>
            <a:endParaRPr lang="en-US" dirty="0"/>
          </a:p>
        </p:txBody>
      </p:sp>
    </p:spTree>
    <p:extLst>
      <p:ext uri="{BB962C8B-B14F-4D97-AF65-F5344CB8AC3E}">
        <p14:creationId xmlns:p14="http://schemas.microsoft.com/office/powerpoint/2010/main" val="3863734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03660-0C76-7F79-BA3A-B42C4FB597B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D21BD82-BC70-D26A-0A47-FFFEC917D24C}"/>
              </a:ext>
            </a:extLst>
          </p:cNvPr>
          <p:cNvSpPr txBox="1"/>
          <p:nvPr/>
        </p:nvSpPr>
        <p:spPr>
          <a:xfrm>
            <a:off x="919629" y="865240"/>
            <a:ext cx="7678994" cy="5355312"/>
          </a:xfrm>
          <a:prstGeom prst="rect">
            <a:avLst/>
          </a:prstGeom>
          <a:noFill/>
        </p:spPr>
        <p:txBody>
          <a:bodyPr wrap="square" rtlCol="0">
            <a:spAutoFit/>
          </a:bodyPr>
          <a:lstStyle/>
          <a:p>
            <a:pPr marL="285750" indent="-285750">
              <a:buFont typeface="Wingdings" panose="05000000000000000000" pitchFamily="2" charset="2"/>
              <a:buChar char="ü"/>
            </a:pPr>
            <a:r>
              <a:rPr lang="en-US" b="1" dirty="0">
                <a:solidFill>
                  <a:schemeClr val="accent1"/>
                </a:solidFill>
                <a:latin typeface="Eras Medium ITC" panose="020B0602030504020804" pitchFamily="34" charset="0"/>
              </a:rPr>
              <a:t>What is the Math Object?</a:t>
            </a:r>
          </a:p>
          <a:p>
            <a:r>
              <a:rPr lang="en-US" dirty="0">
                <a:latin typeface="Eras Medium ITC" panose="020B0602030504020804" pitchFamily="34" charset="0"/>
              </a:rPr>
              <a:t>The Math object is a built-in JavaScript object that provides mathematical constants and methods. It allows us to perform calculations such as rounding numbers, finding square roots, generating random numbers, and calculating powers without creating a Math object.</a:t>
            </a:r>
          </a:p>
          <a:p>
            <a:endParaRPr lang="en-US" dirty="0">
              <a:latin typeface="Eras Medium ITC" panose="020B0602030504020804" pitchFamily="34" charset="0"/>
            </a:endParaRPr>
          </a:p>
          <a:p>
            <a:pPr marL="285750" indent="-285750">
              <a:buFont typeface="Wingdings" panose="05000000000000000000" pitchFamily="2" charset="2"/>
              <a:buChar char="ü"/>
            </a:pPr>
            <a:r>
              <a:rPr lang="en-US" b="1" dirty="0">
                <a:solidFill>
                  <a:schemeClr val="accent1"/>
                </a:solidFill>
                <a:latin typeface="Eras Medium ITC" panose="020B0602030504020804" pitchFamily="34" charset="0"/>
              </a:rPr>
              <a:t>What are Math Methods?</a:t>
            </a:r>
          </a:p>
          <a:p>
            <a:r>
              <a:rPr lang="en-US" dirty="0">
                <a:latin typeface="Eras Medium ITC" panose="020B0602030504020804" pitchFamily="34" charset="0"/>
              </a:rPr>
              <a:t>Math methods are built-in JavaScript functions that perform mathematical operations such as rounding numbers, finding maximum and minimum values, calculating square roots and powers, and generating random numbers.</a:t>
            </a:r>
          </a:p>
          <a:p>
            <a:endParaRPr lang="en-US" dirty="0">
              <a:latin typeface="Eras Medium ITC" panose="020B0602030504020804" pitchFamily="34" charset="0"/>
            </a:endParaRPr>
          </a:p>
          <a:p>
            <a:pPr marL="285750" indent="-285750">
              <a:buFont typeface="Wingdings" panose="05000000000000000000" pitchFamily="2" charset="2"/>
              <a:buChar char="ü"/>
            </a:pPr>
            <a:r>
              <a:rPr lang="en-US" b="1" dirty="0">
                <a:solidFill>
                  <a:schemeClr val="accent1"/>
                </a:solidFill>
                <a:latin typeface="Eras Medium ITC" panose="020B0602030504020804" pitchFamily="34" charset="0"/>
              </a:rPr>
              <a:t>Why do we use Math Methods?</a:t>
            </a:r>
          </a:p>
          <a:p>
            <a:r>
              <a:rPr lang="en-US" dirty="0">
                <a:latin typeface="Eras Medium ITC" panose="020B0602030504020804" pitchFamily="34" charset="0"/>
              </a:rPr>
              <a:t>Math methods are used to perform mathematical calculations quickly and accurately. They help programmers round numbers, generate random values, calculate powers, and solve mathematical problems without writing lengthy code.</a:t>
            </a:r>
          </a:p>
          <a:p>
            <a:endParaRPr lang="en-US" dirty="0">
              <a:latin typeface="Eras Medium ITC" panose="020B0602030504020804" pitchFamily="34" charset="0"/>
            </a:endParaRPr>
          </a:p>
          <a:p>
            <a:endParaRPr lang="en-US" dirty="0">
              <a:latin typeface="Eras Medium ITC" panose="020B0602030504020804" pitchFamily="34" charset="0"/>
            </a:endParaRPr>
          </a:p>
        </p:txBody>
      </p:sp>
    </p:spTree>
    <p:extLst>
      <p:ext uri="{BB962C8B-B14F-4D97-AF65-F5344CB8AC3E}">
        <p14:creationId xmlns:p14="http://schemas.microsoft.com/office/powerpoint/2010/main" val="347721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0334E-3304-94C9-334A-6CB9792C893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D6C7A80-A898-135F-5D84-758F39E54676}"/>
              </a:ext>
            </a:extLst>
          </p:cNvPr>
          <p:cNvSpPr txBox="1"/>
          <p:nvPr/>
        </p:nvSpPr>
        <p:spPr>
          <a:xfrm>
            <a:off x="884904" y="855409"/>
            <a:ext cx="7678994" cy="4001095"/>
          </a:xfrm>
          <a:prstGeom prst="rect">
            <a:avLst/>
          </a:prstGeom>
          <a:noFill/>
        </p:spPr>
        <p:txBody>
          <a:bodyPr wrap="square" rtlCol="0">
            <a:spAutoFit/>
          </a:bodyPr>
          <a:lstStyle/>
          <a:p>
            <a:pPr algn="ctr"/>
            <a:r>
              <a:rPr lang="en-US" b="1" u="sng" dirty="0">
                <a:solidFill>
                  <a:schemeClr val="accent1"/>
                </a:solidFill>
                <a:latin typeface="Eras Medium ITC" panose="020B0602030504020804" pitchFamily="34" charset="0"/>
              </a:rPr>
              <a:t>MATH METHODS</a:t>
            </a:r>
          </a:p>
          <a:p>
            <a:pPr algn="ctr"/>
            <a:endParaRPr lang="en-US" b="1" u="sng" dirty="0">
              <a:solidFill>
                <a:schemeClr val="accent1"/>
              </a:solidFill>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sz="1600" dirty="0">
              <a:latin typeface="Eras Medium ITC" panose="020B0602030504020804" pitchFamily="34" charset="0"/>
            </a:endParaRPr>
          </a:p>
          <a:p>
            <a:r>
              <a:rPr lang="en-US" b="1" u="sng" dirty="0">
                <a:solidFill>
                  <a:schemeClr val="accent1"/>
                </a:solidFill>
                <a:latin typeface="Eras Medium ITC" panose="020B0602030504020804" pitchFamily="34" charset="0"/>
              </a:rPr>
              <a:t>1. </a:t>
            </a:r>
            <a:r>
              <a:rPr lang="en-US" b="1" u="sng" dirty="0" err="1">
                <a:solidFill>
                  <a:schemeClr val="accent1"/>
                </a:solidFill>
                <a:latin typeface="Eras Medium ITC" panose="020B0602030504020804" pitchFamily="34" charset="0"/>
              </a:rPr>
              <a:t>Math.ceil</a:t>
            </a:r>
            <a:r>
              <a:rPr lang="en-US" b="1" u="sng" dirty="0">
                <a:solidFill>
                  <a:schemeClr val="accent1"/>
                </a:solidFill>
                <a:latin typeface="Eras Medium ITC" panose="020B0602030504020804" pitchFamily="34" charset="0"/>
              </a:rPr>
              <a:t>()</a:t>
            </a:r>
          </a:p>
          <a:p>
            <a:r>
              <a:rPr lang="en-US" dirty="0">
                <a:latin typeface="Eras Medium ITC" panose="020B0602030504020804" pitchFamily="34" charset="0"/>
              </a:rPr>
              <a:t>This method rounds a number up to the nearest integer.</a:t>
            </a: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p:txBody>
      </p:sp>
      <p:pic>
        <p:nvPicPr>
          <p:cNvPr id="12" name="Picture 11">
            <a:extLst>
              <a:ext uri="{FF2B5EF4-FFF2-40B4-BE49-F238E27FC236}">
                <a16:creationId xmlns:a16="http://schemas.microsoft.com/office/drawing/2014/main" id="{1C4039A4-BC4F-42C0-9AE0-101136E3D4E3}"/>
              </a:ext>
            </a:extLst>
          </p:cNvPr>
          <p:cNvPicPr>
            <a:picLocks noChangeAspect="1"/>
          </p:cNvPicPr>
          <p:nvPr/>
        </p:nvPicPr>
        <p:blipFill>
          <a:blip r:embed="rId2"/>
          <a:stretch>
            <a:fillRect/>
          </a:stretch>
        </p:blipFill>
        <p:spPr>
          <a:xfrm>
            <a:off x="1003942" y="4063960"/>
            <a:ext cx="6174659" cy="1000401"/>
          </a:xfrm>
          <a:prstGeom prst="rect">
            <a:avLst/>
          </a:prstGeom>
        </p:spPr>
      </p:pic>
      <p:pic>
        <p:nvPicPr>
          <p:cNvPr id="14" name="Picture 13">
            <a:extLst>
              <a:ext uri="{FF2B5EF4-FFF2-40B4-BE49-F238E27FC236}">
                <a16:creationId xmlns:a16="http://schemas.microsoft.com/office/drawing/2014/main" id="{836174DD-3A8E-C691-0125-FFC258635410}"/>
              </a:ext>
            </a:extLst>
          </p:cNvPr>
          <p:cNvPicPr>
            <a:picLocks noChangeAspect="1"/>
          </p:cNvPicPr>
          <p:nvPr/>
        </p:nvPicPr>
        <p:blipFill>
          <a:blip r:embed="rId3"/>
          <a:stretch>
            <a:fillRect/>
          </a:stretch>
        </p:blipFill>
        <p:spPr>
          <a:xfrm>
            <a:off x="1003942" y="5311547"/>
            <a:ext cx="1681200" cy="487641"/>
          </a:xfrm>
          <a:prstGeom prst="rect">
            <a:avLst/>
          </a:prstGeom>
          <a:ln>
            <a:solidFill>
              <a:schemeClr val="accent1"/>
            </a:solidFill>
          </a:ln>
        </p:spPr>
      </p:pic>
      <p:sp>
        <p:nvSpPr>
          <p:cNvPr id="15" name="TextBox 14">
            <a:extLst>
              <a:ext uri="{FF2B5EF4-FFF2-40B4-BE49-F238E27FC236}">
                <a16:creationId xmlns:a16="http://schemas.microsoft.com/office/drawing/2014/main" id="{7ACD69C8-7992-63EA-0DCB-1661E5F8D7C3}"/>
              </a:ext>
            </a:extLst>
          </p:cNvPr>
          <p:cNvSpPr txBox="1"/>
          <p:nvPr/>
        </p:nvSpPr>
        <p:spPr>
          <a:xfrm>
            <a:off x="2901570" y="5232203"/>
            <a:ext cx="4345858" cy="646331"/>
          </a:xfrm>
          <a:prstGeom prst="rect">
            <a:avLst/>
          </a:prstGeom>
          <a:noFill/>
        </p:spPr>
        <p:txBody>
          <a:bodyPr wrap="square" rtlCol="0">
            <a:spAutoFit/>
          </a:bodyPr>
          <a:lstStyle/>
          <a:p>
            <a:r>
              <a:rPr lang="en-US" dirty="0">
                <a:latin typeface="Eras Medium ITC" panose="020B0602030504020804" pitchFamily="34" charset="0"/>
              </a:rPr>
              <a:t>The number 8.2 is rounded upward to the nearest whole number, which is 9.</a:t>
            </a:r>
          </a:p>
        </p:txBody>
      </p:sp>
      <p:grpSp>
        <p:nvGrpSpPr>
          <p:cNvPr id="29" name="Group 28">
            <a:extLst>
              <a:ext uri="{FF2B5EF4-FFF2-40B4-BE49-F238E27FC236}">
                <a16:creationId xmlns:a16="http://schemas.microsoft.com/office/drawing/2014/main" id="{86DD17BE-0B88-96C6-FC1B-BA288B4ED9E2}"/>
              </a:ext>
            </a:extLst>
          </p:cNvPr>
          <p:cNvGrpSpPr/>
          <p:nvPr/>
        </p:nvGrpSpPr>
        <p:grpSpPr>
          <a:xfrm>
            <a:off x="1711865" y="1471607"/>
            <a:ext cx="6791471" cy="1200330"/>
            <a:chOff x="1407066" y="1402782"/>
            <a:chExt cx="6791471" cy="1200330"/>
          </a:xfrm>
        </p:grpSpPr>
        <p:sp>
          <p:nvSpPr>
            <p:cNvPr id="7" name="TextBox 6">
              <a:extLst>
                <a:ext uri="{FF2B5EF4-FFF2-40B4-BE49-F238E27FC236}">
                  <a16:creationId xmlns:a16="http://schemas.microsoft.com/office/drawing/2014/main" id="{9798650E-4290-809A-F31F-AB14E4D8895C}"/>
                </a:ext>
              </a:extLst>
            </p:cNvPr>
            <p:cNvSpPr txBox="1"/>
            <p:nvPr/>
          </p:nvSpPr>
          <p:spPr>
            <a:xfrm>
              <a:off x="1407066" y="1402782"/>
              <a:ext cx="2655226" cy="1200329"/>
            </a:xfrm>
            <a:prstGeom prst="rect">
              <a:avLst/>
            </a:prstGeom>
            <a:noFill/>
          </p:spPr>
          <p:txBody>
            <a:bodyPr wrap="square" numCol="1" rtlCol="0">
              <a:spAutoFit/>
            </a:bodyPr>
            <a:lstStyle/>
            <a:p>
              <a:pPr marL="342900" indent="-342900">
                <a:buFont typeface="+mj-lt"/>
                <a:buAutoNum type="arabicPeriod"/>
              </a:pPr>
              <a:r>
                <a:rPr lang="en-US" dirty="0" err="1">
                  <a:latin typeface="Eras Medium ITC" panose="020B0602030504020804" pitchFamily="34" charset="0"/>
                </a:rPr>
                <a:t>Math.ceil</a:t>
              </a:r>
              <a:r>
                <a:rPr lang="en-US" dirty="0">
                  <a:latin typeface="Eras Medium ITC" panose="020B0602030504020804" pitchFamily="34" charset="0"/>
                </a:rPr>
                <a:t>() </a:t>
              </a:r>
            </a:p>
            <a:p>
              <a:pPr marL="342900" indent="-342900">
                <a:buFont typeface="+mj-lt"/>
                <a:buAutoNum type="arabicPeriod"/>
              </a:pPr>
              <a:r>
                <a:rPr lang="en-US" dirty="0" err="1">
                  <a:latin typeface="Eras Medium ITC" panose="020B0602030504020804" pitchFamily="34" charset="0"/>
                </a:rPr>
                <a:t>Math.floor</a:t>
              </a:r>
              <a:r>
                <a:rPr lang="en-US" dirty="0">
                  <a:latin typeface="Eras Medium ITC" panose="020B0602030504020804" pitchFamily="34" charset="0"/>
                </a:rPr>
                <a:t>() </a:t>
              </a:r>
            </a:p>
            <a:p>
              <a:pPr marL="342900" indent="-342900">
                <a:buFont typeface="+mj-lt"/>
                <a:buAutoNum type="arabicPeriod"/>
              </a:pPr>
              <a:r>
                <a:rPr lang="en-US" dirty="0" err="1">
                  <a:latin typeface="Eras Medium ITC" panose="020B0602030504020804" pitchFamily="34" charset="0"/>
                </a:rPr>
                <a:t>Math.round</a:t>
              </a:r>
              <a:r>
                <a:rPr lang="en-US" dirty="0">
                  <a:latin typeface="Eras Medium ITC" panose="020B0602030504020804" pitchFamily="34" charset="0"/>
                </a:rPr>
                <a:t>() </a:t>
              </a:r>
            </a:p>
            <a:p>
              <a:pPr marL="342900" indent="-342900">
                <a:buFont typeface="+mj-lt"/>
                <a:buAutoNum type="arabicPeriod"/>
              </a:pPr>
              <a:r>
                <a:rPr lang="en-US" dirty="0" err="1">
                  <a:latin typeface="Eras Medium ITC" panose="020B0602030504020804" pitchFamily="34" charset="0"/>
                </a:rPr>
                <a:t>Math.trunc</a:t>
              </a:r>
              <a:r>
                <a:rPr lang="en-US" dirty="0">
                  <a:latin typeface="Eras Medium ITC" panose="020B0602030504020804" pitchFamily="34" charset="0"/>
                </a:rPr>
                <a:t>() </a:t>
              </a:r>
            </a:p>
          </p:txBody>
        </p:sp>
        <p:grpSp>
          <p:nvGrpSpPr>
            <p:cNvPr id="24" name="Group 23">
              <a:extLst>
                <a:ext uri="{FF2B5EF4-FFF2-40B4-BE49-F238E27FC236}">
                  <a16:creationId xmlns:a16="http://schemas.microsoft.com/office/drawing/2014/main" id="{1AD75944-3637-B590-95AE-F96861979FD2}"/>
                </a:ext>
              </a:extLst>
            </p:cNvPr>
            <p:cNvGrpSpPr/>
            <p:nvPr/>
          </p:nvGrpSpPr>
          <p:grpSpPr>
            <a:xfrm>
              <a:off x="3698496" y="1402782"/>
              <a:ext cx="4500041" cy="1200330"/>
              <a:chOff x="3648821" y="1402780"/>
              <a:chExt cx="4500041" cy="1200330"/>
            </a:xfrm>
          </p:grpSpPr>
          <p:sp>
            <p:nvSpPr>
              <p:cNvPr id="17" name="TextBox 16">
                <a:extLst>
                  <a:ext uri="{FF2B5EF4-FFF2-40B4-BE49-F238E27FC236}">
                    <a16:creationId xmlns:a16="http://schemas.microsoft.com/office/drawing/2014/main" id="{E9A549F1-9B0D-5D09-2002-8A599B1FCE8E}"/>
                  </a:ext>
                </a:extLst>
              </p:cNvPr>
              <p:cNvSpPr txBox="1"/>
              <p:nvPr/>
            </p:nvSpPr>
            <p:spPr>
              <a:xfrm>
                <a:off x="5849166" y="1402780"/>
                <a:ext cx="2299696" cy="1200329"/>
              </a:xfrm>
              <a:prstGeom prst="rect">
                <a:avLst/>
              </a:prstGeom>
              <a:noFill/>
            </p:spPr>
            <p:txBody>
              <a:bodyPr wrap="square" numCol="1" rtlCol="0">
                <a:spAutoFit/>
              </a:bodyPr>
              <a:lstStyle/>
              <a:p>
                <a:r>
                  <a:rPr lang="en-US" dirty="0">
                    <a:latin typeface="Eras Medium ITC" panose="020B0602030504020804" pitchFamily="34" charset="0"/>
                  </a:rPr>
                  <a:t>9. </a:t>
                </a:r>
                <a:r>
                  <a:rPr lang="en-US" dirty="0" err="1">
                    <a:latin typeface="Eras Medium ITC" panose="020B0602030504020804" pitchFamily="34" charset="0"/>
                  </a:rPr>
                  <a:t>Math.pow</a:t>
                </a:r>
                <a:r>
                  <a:rPr lang="en-US" dirty="0">
                    <a:latin typeface="Eras Medium ITC" panose="020B0602030504020804" pitchFamily="34" charset="0"/>
                  </a:rPr>
                  <a:t>() </a:t>
                </a:r>
              </a:p>
              <a:p>
                <a:r>
                  <a:rPr lang="en-US" dirty="0">
                    <a:latin typeface="Eras Medium ITC" panose="020B0602030504020804" pitchFamily="34" charset="0"/>
                  </a:rPr>
                  <a:t>10. </a:t>
                </a:r>
                <a:r>
                  <a:rPr lang="en-US" dirty="0" err="1">
                    <a:latin typeface="Eras Medium ITC" panose="020B0602030504020804" pitchFamily="34" charset="0"/>
                  </a:rPr>
                  <a:t>Math.random</a:t>
                </a:r>
                <a:r>
                  <a:rPr lang="en-US" dirty="0">
                    <a:latin typeface="Eras Medium ITC" panose="020B0602030504020804" pitchFamily="34" charset="0"/>
                  </a:rPr>
                  <a:t>() </a:t>
                </a:r>
              </a:p>
              <a:p>
                <a:r>
                  <a:rPr lang="en-US" dirty="0">
                    <a:latin typeface="Eras Medium ITC" panose="020B0602030504020804" pitchFamily="34" charset="0"/>
                  </a:rPr>
                  <a:t>11. </a:t>
                </a:r>
                <a:r>
                  <a:rPr lang="en-US" dirty="0" err="1">
                    <a:latin typeface="Eras Medium ITC" panose="020B0602030504020804" pitchFamily="34" charset="0"/>
                  </a:rPr>
                  <a:t>Math.abs</a:t>
                </a:r>
                <a:r>
                  <a:rPr lang="en-US" dirty="0">
                    <a:latin typeface="Eras Medium ITC" panose="020B0602030504020804" pitchFamily="34" charset="0"/>
                  </a:rPr>
                  <a:t>() </a:t>
                </a:r>
              </a:p>
              <a:p>
                <a:r>
                  <a:rPr lang="en-US" dirty="0">
                    <a:latin typeface="Eras Medium ITC" panose="020B0602030504020804" pitchFamily="34" charset="0"/>
                  </a:rPr>
                  <a:t>12. </a:t>
                </a:r>
                <a:r>
                  <a:rPr lang="en-US" dirty="0" err="1">
                    <a:latin typeface="Eras Medium ITC" panose="020B0602030504020804" pitchFamily="34" charset="0"/>
                  </a:rPr>
                  <a:t>Math.PI</a:t>
                </a:r>
                <a:r>
                  <a:rPr lang="en-US" dirty="0">
                    <a:latin typeface="Eras Medium ITC" panose="020B0602030504020804" pitchFamily="34" charset="0"/>
                  </a:rPr>
                  <a:t> </a:t>
                </a:r>
              </a:p>
            </p:txBody>
          </p:sp>
          <p:sp>
            <p:nvSpPr>
              <p:cNvPr id="22" name="TextBox 21">
                <a:extLst>
                  <a:ext uri="{FF2B5EF4-FFF2-40B4-BE49-F238E27FC236}">
                    <a16:creationId xmlns:a16="http://schemas.microsoft.com/office/drawing/2014/main" id="{FE4B9CA0-9EF0-103E-EF24-DE52E5932515}"/>
                  </a:ext>
                </a:extLst>
              </p:cNvPr>
              <p:cNvSpPr txBox="1"/>
              <p:nvPr/>
            </p:nvSpPr>
            <p:spPr>
              <a:xfrm>
                <a:off x="3648821" y="1402781"/>
                <a:ext cx="2299696" cy="1200329"/>
              </a:xfrm>
              <a:prstGeom prst="rect">
                <a:avLst/>
              </a:prstGeom>
              <a:noFill/>
            </p:spPr>
            <p:txBody>
              <a:bodyPr wrap="square" numCol="1" rtlCol="0">
                <a:spAutoFit/>
              </a:bodyPr>
              <a:lstStyle/>
              <a:p>
                <a:r>
                  <a:rPr lang="en-US" dirty="0">
                    <a:latin typeface="Eras Medium ITC" panose="020B0602030504020804" pitchFamily="34" charset="0"/>
                  </a:rPr>
                  <a:t>5. </a:t>
                </a:r>
                <a:r>
                  <a:rPr lang="en-US" dirty="0" err="1">
                    <a:latin typeface="Eras Medium ITC" panose="020B0602030504020804" pitchFamily="34" charset="0"/>
                  </a:rPr>
                  <a:t>Math.max</a:t>
                </a:r>
                <a:r>
                  <a:rPr lang="en-US" dirty="0">
                    <a:latin typeface="Eras Medium ITC" panose="020B0602030504020804" pitchFamily="34" charset="0"/>
                  </a:rPr>
                  <a:t>() </a:t>
                </a:r>
              </a:p>
              <a:p>
                <a:r>
                  <a:rPr lang="en-US" dirty="0">
                    <a:latin typeface="Eras Medium ITC" panose="020B0602030504020804" pitchFamily="34" charset="0"/>
                  </a:rPr>
                  <a:t>6. </a:t>
                </a:r>
                <a:r>
                  <a:rPr lang="en-US" dirty="0" err="1">
                    <a:latin typeface="Eras Medium ITC" panose="020B0602030504020804" pitchFamily="34" charset="0"/>
                  </a:rPr>
                  <a:t>Math.min</a:t>
                </a:r>
                <a:r>
                  <a:rPr lang="en-US" dirty="0">
                    <a:latin typeface="Eras Medium ITC" panose="020B0602030504020804" pitchFamily="34" charset="0"/>
                  </a:rPr>
                  <a:t>() </a:t>
                </a:r>
              </a:p>
              <a:p>
                <a:r>
                  <a:rPr lang="en-US" dirty="0">
                    <a:latin typeface="Eras Medium ITC" panose="020B0602030504020804" pitchFamily="34" charset="0"/>
                  </a:rPr>
                  <a:t>7. </a:t>
                </a:r>
                <a:r>
                  <a:rPr lang="en-US" dirty="0" err="1">
                    <a:latin typeface="Eras Medium ITC" panose="020B0602030504020804" pitchFamily="34" charset="0"/>
                  </a:rPr>
                  <a:t>Math.sqrt</a:t>
                </a:r>
                <a:r>
                  <a:rPr lang="en-US" dirty="0">
                    <a:latin typeface="Eras Medium ITC" panose="020B0602030504020804" pitchFamily="34" charset="0"/>
                  </a:rPr>
                  <a:t>() </a:t>
                </a:r>
              </a:p>
              <a:p>
                <a:r>
                  <a:rPr lang="en-US" dirty="0">
                    <a:latin typeface="Eras Medium ITC" panose="020B0602030504020804" pitchFamily="34" charset="0"/>
                  </a:rPr>
                  <a:t>8. </a:t>
                </a:r>
                <a:r>
                  <a:rPr lang="en-US" dirty="0" err="1">
                    <a:latin typeface="Eras Medium ITC" panose="020B0602030504020804" pitchFamily="34" charset="0"/>
                  </a:rPr>
                  <a:t>Math.cbrt</a:t>
                </a:r>
                <a:r>
                  <a:rPr lang="en-US" dirty="0">
                    <a:latin typeface="Eras Medium ITC" panose="020B0602030504020804" pitchFamily="34" charset="0"/>
                  </a:rPr>
                  <a:t>() </a:t>
                </a:r>
              </a:p>
            </p:txBody>
          </p:sp>
        </p:grpSp>
      </p:grpSp>
    </p:spTree>
    <p:extLst>
      <p:ext uri="{BB962C8B-B14F-4D97-AF65-F5344CB8AC3E}">
        <p14:creationId xmlns:p14="http://schemas.microsoft.com/office/powerpoint/2010/main" val="3740646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69E4D-1898-5DDE-A7CF-B93DD988F17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208DB0A-70B2-1A17-4E49-39353B4375D9}"/>
              </a:ext>
            </a:extLst>
          </p:cNvPr>
          <p:cNvSpPr txBox="1"/>
          <p:nvPr/>
        </p:nvSpPr>
        <p:spPr>
          <a:xfrm>
            <a:off x="884903" y="855409"/>
            <a:ext cx="7747820" cy="4247317"/>
          </a:xfrm>
          <a:prstGeom prst="rect">
            <a:avLst/>
          </a:prstGeom>
          <a:noFill/>
        </p:spPr>
        <p:txBody>
          <a:bodyPr wrap="square" rtlCol="0">
            <a:spAutoFit/>
          </a:bodyPr>
          <a:lstStyle/>
          <a:p>
            <a:r>
              <a:rPr lang="en-US" b="1" u="sng" dirty="0">
                <a:solidFill>
                  <a:schemeClr val="accent1"/>
                </a:solidFill>
                <a:latin typeface="Eras Medium ITC" panose="020B0602030504020804" pitchFamily="34" charset="0"/>
              </a:rPr>
              <a:t>2. </a:t>
            </a:r>
            <a:r>
              <a:rPr lang="en-US" b="1" u="sng" dirty="0" err="1">
                <a:solidFill>
                  <a:schemeClr val="accent1"/>
                </a:solidFill>
                <a:latin typeface="Eras Medium ITC" panose="020B0602030504020804" pitchFamily="34" charset="0"/>
              </a:rPr>
              <a:t>Math.floor</a:t>
            </a:r>
            <a:r>
              <a:rPr lang="en-US" b="1" u="sng" dirty="0">
                <a:solidFill>
                  <a:schemeClr val="accent1"/>
                </a:solidFill>
                <a:latin typeface="Eras Medium ITC" panose="020B0602030504020804" pitchFamily="34" charset="0"/>
              </a:rPr>
              <a:t>()</a:t>
            </a:r>
          </a:p>
          <a:p>
            <a:r>
              <a:rPr lang="en-US" dirty="0">
                <a:latin typeface="Eras Medium ITC" panose="020B0602030504020804" pitchFamily="34" charset="0"/>
              </a:rPr>
              <a:t>The </a:t>
            </a:r>
            <a:r>
              <a:rPr lang="en-US" dirty="0" err="1">
                <a:latin typeface="Eras Medium ITC" panose="020B0602030504020804" pitchFamily="34" charset="0"/>
              </a:rPr>
              <a:t>Math.floor</a:t>
            </a:r>
            <a:r>
              <a:rPr lang="en-US" dirty="0">
                <a:latin typeface="Eras Medium ITC" panose="020B0602030504020804" pitchFamily="34" charset="0"/>
              </a:rPr>
              <a:t>() method rounds a number down to the nearest integer.</a:t>
            </a: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sz="1100" dirty="0">
              <a:latin typeface="Eras Medium ITC" panose="020B0602030504020804" pitchFamily="34" charset="0"/>
            </a:endParaRPr>
          </a:p>
          <a:p>
            <a:r>
              <a:rPr lang="en-US" b="1" u="sng" dirty="0">
                <a:solidFill>
                  <a:schemeClr val="accent1"/>
                </a:solidFill>
                <a:latin typeface="Eras Medium ITC" panose="020B0602030504020804" pitchFamily="34" charset="0"/>
              </a:rPr>
              <a:t>3. </a:t>
            </a:r>
            <a:r>
              <a:rPr lang="en-US" b="1" u="sng" dirty="0" err="1">
                <a:solidFill>
                  <a:schemeClr val="accent1"/>
                </a:solidFill>
                <a:latin typeface="Eras Medium ITC" panose="020B0602030504020804" pitchFamily="34" charset="0"/>
              </a:rPr>
              <a:t>Math.round</a:t>
            </a:r>
            <a:r>
              <a:rPr lang="en-US" b="1" u="sng" dirty="0">
                <a:solidFill>
                  <a:schemeClr val="accent1"/>
                </a:solidFill>
                <a:latin typeface="Eras Medium ITC" panose="020B0602030504020804" pitchFamily="34" charset="0"/>
              </a:rPr>
              <a:t>()</a:t>
            </a:r>
          </a:p>
          <a:p>
            <a:r>
              <a:rPr lang="en-US" dirty="0">
                <a:latin typeface="Eras Medium ITC" panose="020B0602030504020804" pitchFamily="34" charset="0"/>
              </a:rPr>
              <a:t>This method rounds a number to the nearest integer. Decimal values of 0.5 or greater are rounded up, while values less than 0.5 are rounded down.</a:t>
            </a:r>
          </a:p>
          <a:p>
            <a:endParaRPr lang="en-US" dirty="0">
              <a:latin typeface="Eras Medium ITC" panose="020B0602030504020804" pitchFamily="34" charset="0"/>
            </a:endParaRPr>
          </a:p>
          <a:p>
            <a:endParaRPr lang="en-US" dirty="0">
              <a:latin typeface="Eras Medium ITC" panose="020B0602030504020804" pitchFamily="34" charset="0"/>
            </a:endParaRPr>
          </a:p>
        </p:txBody>
      </p:sp>
      <p:sp>
        <p:nvSpPr>
          <p:cNvPr id="15" name="TextBox 14">
            <a:extLst>
              <a:ext uri="{FF2B5EF4-FFF2-40B4-BE49-F238E27FC236}">
                <a16:creationId xmlns:a16="http://schemas.microsoft.com/office/drawing/2014/main" id="{7F87D088-FC8C-27BE-8432-670B61DA3A3B}"/>
              </a:ext>
            </a:extLst>
          </p:cNvPr>
          <p:cNvSpPr txBox="1"/>
          <p:nvPr/>
        </p:nvSpPr>
        <p:spPr>
          <a:xfrm>
            <a:off x="2740421" y="2570233"/>
            <a:ext cx="5718103" cy="646331"/>
          </a:xfrm>
          <a:prstGeom prst="rect">
            <a:avLst/>
          </a:prstGeom>
          <a:noFill/>
        </p:spPr>
        <p:txBody>
          <a:bodyPr wrap="square" rtlCol="0">
            <a:spAutoFit/>
          </a:bodyPr>
          <a:lstStyle/>
          <a:p>
            <a:r>
              <a:rPr lang="en-US" dirty="0">
                <a:latin typeface="Eras Medium ITC" panose="020B0602030504020804" pitchFamily="34" charset="0"/>
              </a:rPr>
              <a:t>The number 8.9 is rounded downward to the nearest whole number, which is 8.</a:t>
            </a:r>
          </a:p>
        </p:txBody>
      </p:sp>
      <p:pic>
        <p:nvPicPr>
          <p:cNvPr id="3" name="Picture 2">
            <a:extLst>
              <a:ext uri="{FF2B5EF4-FFF2-40B4-BE49-F238E27FC236}">
                <a16:creationId xmlns:a16="http://schemas.microsoft.com/office/drawing/2014/main" id="{296CDA55-CD25-A4C4-BB83-4F9A830FC532}"/>
              </a:ext>
            </a:extLst>
          </p:cNvPr>
          <p:cNvPicPr>
            <a:picLocks noChangeAspect="1"/>
          </p:cNvPicPr>
          <p:nvPr/>
        </p:nvPicPr>
        <p:blipFill>
          <a:blip r:embed="rId2"/>
          <a:srcRect b="70517"/>
          <a:stretch>
            <a:fillRect/>
          </a:stretch>
        </p:blipFill>
        <p:spPr>
          <a:xfrm>
            <a:off x="990277" y="1719429"/>
            <a:ext cx="7468247" cy="718971"/>
          </a:xfrm>
          <a:prstGeom prst="rect">
            <a:avLst/>
          </a:prstGeom>
        </p:spPr>
      </p:pic>
      <p:pic>
        <p:nvPicPr>
          <p:cNvPr id="6" name="Picture 5">
            <a:extLst>
              <a:ext uri="{FF2B5EF4-FFF2-40B4-BE49-F238E27FC236}">
                <a16:creationId xmlns:a16="http://schemas.microsoft.com/office/drawing/2014/main" id="{3F119123-69BE-16C5-F03E-E7BE6DBE43D9}"/>
              </a:ext>
            </a:extLst>
          </p:cNvPr>
          <p:cNvPicPr>
            <a:picLocks noChangeAspect="1"/>
          </p:cNvPicPr>
          <p:nvPr/>
        </p:nvPicPr>
        <p:blipFill>
          <a:blip r:embed="rId3"/>
          <a:stretch>
            <a:fillRect/>
          </a:stretch>
        </p:blipFill>
        <p:spPr>
          <a:xfrm>
            <a:off x="1029607" y="2707284"/>
            <a:ext cx="1566110" cy="403592"/>
          </a:xfrm>
          <a:prstGeom prst="rect">
            <a:avLst/>
          </a:prstGeom>
          <a:ln>
            <a:solidFill>
              <a:schemeClr val="accent1"/>
            </a:solidFill>
          </a:ln>
        </p:spPr>
      </p:pic>
      <p:sp>
        <p:nvSpPr>
          <p:cNvPr id="9" name="TextBox 8">
            <a:extLst>
              <a:ext uri="{FF2B5EF4-FFF2-40B4-BE49-F238E27FC236}">
                <a16:creationId xmlns:a16="http://schemas.microsoft.com/office/drawing/2014/main" id="{50029954-1BA9-C022-268B-706CD4F1AA02}"/>
              </a:ext>
            </a:extLst>
          </p:cNvPr>
          <p:cNvSpPr txBox="1"/>
          <p:nvPr/>
        </p:nvSpPr>
        <p:spPr>
          <a:xfrm>
            <a:off x="2914621" y="5326711"/>
            <a:ext cx="4439908" cy="646331"/>
          </a:xfrm>
          <a:prstGeom prst="rect">
            <a:avLst/>
          </a:prstGeom>
          <a:noFill/>
        </p:spPr>
        <p:txBody>
          <a:bodyPr wrap="square" rtlCol="0">
            <a:spAutoFit/>
          </a:bodyPr>
          <a:lstStyle/>
          <a:p>
            <a:r>
              <a:rPr lang="en-US" dirty="0">
                <a:latin typeface="Eras Medium ITC" panose="020B0602030504020804" pitchFamily="34" charset="0"/>
              </a:rPr>
              <a:t>Since the decimal part is 0.5, the number is rounded up to 9.</a:t>
            </a:r>
          </a:p>
        </p:txBody>
      </p:sp>
      <p:pic>
        <p:nvPicPr>
          <p:cNvPr id="11" name="Picture 10">
            <a:extLst>
              <a:ext uri="{FF2B5EF4-FFF2-40B4-BE49-F238E27FC236}">
                <a16:creationId xmlns:a16="http://schemas.microsoft.com/office/drawing/2014/main" id="{CF7F81BF-13E2-8DF7-66CB-DF538979CD36}"/>
              </a:ext>
            </a:extLst>
          </p:cNvPr>
          <p:cNvPicPr>
            <a:picLocks noChangeAspect="1"/>
          </p:cNvPicPr>
          <p:nvPr/>
        </p:nvPicPr>
        <p:blipFill>
          <a:blip r:embed="rId4"/>
          <a:stretch>
            <a:fillRect/>
          </a:stretch>
        </p:blipFill>
        <p:spPr>
          <a:xfrm>
            <a:off x="990277" y="4546363"/>
            <a:ext cx="6364252" cy="638627"/>
          </a:xfrm>
          <a:prstGeom prst="rect">
            <a:avLst/>
          </a:prstGeom>
        </p:spPr>
      </p:pic>
      <p:pic>
        <p:nvPicPr>
          <p:cNvPr id="19" name="Picture 18">
            <a:extLst>
              <a:ext uri="{FF2B5EF4-FFF2-40B4-BE49-F238E27FC236}">
                <a16:creationId xmlns:a16="http://schemas.microsoft.com/office/drawing/2014/main" id="{4387483E-44FA-F4DF-8829-ED9E5BD60D0C}"/>
              </a:ext>
            </a:extLst>
          </p:cNvPr>
          <p:cNvPicPr>
            <a:picLocks noChangeAspect="1"/>
          </p:cNvPicPr>
          <p:nvPr/>
        </p:nvPicPr>
        <p:blipFill>
          <a:blip r:embed="rId5"/>
          <a:stretch>
            <a:fillRect/>
          </a:stretch>
        </p:blipFill>
        <p:spPr>
          <a:xfrm>
            <a:off x="1029607" y="5413775"/>
            <a:ext cx="1745105" cy="472205"/>
          </a:xfrm>
          <a:prstGeom prst="rect">
            <a:avLst/>
          </a:prstGeom>
          <a:ln>
            <a:solidFill>
              <a:schemeClr val="accent1"/>
            </a:solidFill>
          </a:ln>
        </p:spPr>
      </p:pic>
    </p:spTree>
    <p:extLst>
      <p:ext uri="{BB962C8B-B14F-4D97-AF65-F5344CB8AC3E}">
        <p14:creationId xmlns:p14="http://schemas.microsoft.com/office/powerpoint/2010/main" val="1204252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05C11-5C93-8E20-BA24-28FFE9FCF84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DA01A93-EC3E-7C03-7AB5-84F4AD94A439}"/>
              </a:ext>
            </a:extLst>
          </p:cNvPr>
          <p:cNvSpPr txBox="1"/>
          <p:nvPr/>
        </p:nvSpPr>
        <p:spPr>
          <a:xfrm>
            <a:off x="884903" y="855409"/>
            <a:ext cx="7747820" cy="3862596"/>
          </a:xfrm>
          <a:prstGeom prst="rect">
            <a:avLst/>
          </a:prstGeom>
          <a:noFill/>
        </p:spPr>
        <p:txBody>
          <a:bodyPr wrap="square" rtlCol="0">
            <a:spAutoFit/>
          </a:bodyPr>
          <a:lstStyle/>
          <a:p>
            <a:r>
              <a:rPr lang="en-US" b="1" u="sng" dirty="0">
                <a:solidFill>
                  <a:schemeClr val="accent1"/>
                </a:solidFill>
                <a:latin typeface="Eras Medium ITC" panose="020B0602030504020804" pitchFamily="34" charset="0"/>
              </a:rPr>
              <a:t>4. </a:t>
            </a:r>
            <a:r>
              <a:rPr lang="en-US" b="1" u="sng" dirty="0" err="1">
                <a:solidFill>
                  <a:schemeClr val="accent1"/>
                </a:solidFill>
                <a:latin typeface="Eras Medium ITC" panose="020B0602030504020804" pitchFamily="34" charset="0"/>
              </a:rPr>
              <a:t>Math.trunc</a:t>
            </a:r>
            <a:r>
              <a:rPr lang="en-US" b="1" u="sng" dirty="0">
                <a:solidFill>
                  <a:schemeClr val="accent1"/>
                </a:solidFill>
                <a:latin typeface="Eras Medium ITC" panose="020B0602030504020804" pitchFamily="34" charset="0"/>
              </a:rPr>
              <a:t>()</a:t>
            </a:r>
          </a:p>
          <a:p>
            <a:r>
              <a:rPr lang="en-US" dirty="0">
                <a:latin typeface="Eras Medium ITC" panose="020B0602030504020804" pitchFamily="34" charset="0"/>
              </a:rPr>
              <a:t>This method removes the decimal part of a number and returns only the integer portion.</a:t>
            </a: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sz="1100" dirty="0">
              <a:latin typeface="Eras Medium ITC" panose="020B0602030504020804" pitchFamily="34" charset="0"/>
            </a:endParaRPr>
          </a:p>
          <a:p>
            <a:r>
              <a:rPr lang="en-US" b="1" u="sng" dirty="0">
                <a:solidFill>
                  <a:schemeClr val="accent1"/>
                </a:solidFill>
                <a:latin typeface="Eras Medium ITC" panose="020B0602030504020804" pitchFamily="34" charset="0"/>
              </a:rPr>
              <a:t>5. </a:t>
            </a:r>
            <a:r>
              <a:rPr lang="en-US" b="1" u="sng" dirty="0" err="1">
                <a:solidFill>
                  <a:schemeClr val="accent1"/>
                </a:solidFill>
                <a:latin typeface="Eras Medium ITC" panose="020B0602030504020804" pitchFamily="34" charset="0"/>
              </a:rPr>
              <a:t>Math.max</a:t>
            </a:r>
            <a:r>
              <a:rPr lang="en-US" b="1" u="sng" dirty="0">
                <a:solidFill>
                  <a:schemeClr val="accent1"/>
                </a:solidFill>
                <a:latin typeface="Eras Medium ITC" panose="020B0602030504020804" pitchFamily="34" charset="0"/>
              </a:rPr>
              <a:t>()</a:t>
            </a:r>
          </a:p>
          <a:p>
            <a:r>
              <a:rPr lang="en-US" dirty="0">
                <a:latin typeface="Eras Medium ITC" panose="020B0602030504020804" pitchFamily="34" charset="0"/>
              </a:rPr>
              <a:t>This method returns the largest value from a list of numbers.</a:t>
            </a:r>
          </a:p>
          <a:p>
            <a:endParaRPr lang="en-US" dirty="0">
              <a:latin typeface="Eras Medium ITC" panose="020B0602030504020804" pitchFamily="34" charset="0"/>
            </a:endParaRPr>
          </a:p>
          <a:p>
            <a:endParaRPr lang="en-US" dirty="0">
              <a:latin typeface="Eras Medium ITC" panose="020B0602030504020804" pitchFamily="34" charset="0"/>
            </a:endParaRPr>
          </a:p>
        </p:txBody>
      </p:sp>
      <p:sp>
        <p:nvSpPr>
          <p:cNvPr id="15" name="TextBox 14">
            <a:extLst>
              <a:ext uri="{FF2B5EF4-FFF2-40B4-BE49-F238E27FC236}">
                <a16:creationId xmlns:a16="http://schemas.microsoft.com/office/drawing/2014/main" id="{406DFCE3-4DFF-CC9D-9452-6CFEBA7146B5}"/>
              </a:ext>
            </a:extLst>
          </p:cNvPr>
          <p:cNvSpPr txBox="1"/>
          <p:nvPr/>
        </p:nvSpPr>
        <p:spPr>
          <a:xfrm>
            <a:off x="2917402" y="2498158"/>
            <a:ext cx="5541122" cy="646331"/>
          </a:xfrm>
          <a:prstGeom prst="rect">
            <a:avLst/>
          </a:prstGeom>
          <a:noFill/>
        </p:spPr>
        <p:txBody>
          <a:bodyPr wrap="square" rtlCol="0">
            <a:spAutoFit/>
          </a:bodyPr>
          <a:lstStyle/>
          <a:p>
            <a:r>
              <a:rPr lang="en-US" dirty="0">
                <a:latin typeface="Eras Medium ITC" panose="020B0602030504020804" pitchFamily="34" charset="0"/>
              </a:rPr>
              <a:t>The decimal part .95 is removed, leaving only the integer value 8.</a:t>
            </a:r>
          </a:p>
        </p:txBody>
      </p:sp>
      <p:sp>
        <p:nvSpPr>
          <p:cNvPr id="9" name="TextBox 8">
            <a:extLst>
              <a:ext uri="{FF2B5EF4-FFF2-40B4-BE49-F238E27FC236}">
                <a16:creationId xmlns:a16="http://schemas.microsoft.com/office/drawing/2014/main" id="{F92AF50B-F7DF-4A1C-56B8-12D6CAC28326}"/>
              </a:ext>
            </a:extLst>
          </p:cNvPr>
          <p:cNvSpPr txBox="1"/>
          <p:nvPr/>
        </p:nvSpPr>
        <p:spPr>
          <a:xfrm>
            <a:off x="3101434" y="4990717"/>
            <a:ext cx="4439908" cy="646331"/>
          </a:xfrm>
          <a:prstGeom prst="rect">
            <a:avLst/>
          </a:prstGeom>
          <a:noFill/>
        </p:spPr>
        <p:txBody>
          <a:bodyPr wrap="square" rtlCol="0">
            <a:spAutoFit/>
          </a:bodyPr>
          <a:lstStyle/>
          <a:p>
            <a:r>
              <a:rPr lang="en-US" dirty="0">
                <a:latin typeface="Eras Medium ITC" panose="020B0602030504020804" pitchFamily="34" charset="0"/>
              </a:rPr>
              <a:t>Among the given numbers, 60 is the largest value, so </a:t>
            </a:r>
            <a:r>
              <a:rPr lang="en-US" dirty="0" err="1">
                <a:latin typeface="Eras Medium ITC" panose="020B0602030504020804" pitchFamily="34" charset="0"/>
              </a:rPr>
              <a:t>Math.max</a:t>
            </a:r>
            <a:r>
              <a:rPr lang="en-US" dirty="0">
                <a:latin typeface="Eras Medium ITC" panose="020B0602030504020804" pitchFamily="34" charset="0"/>
              </a:rPr>
              <a:t>() returns 60.</a:t>
            </a:r>
          </a:p>
        </p:txBody>
      </p:sp>
      <p:pic>
        <p:nvPicPr>
          <p:cNvPr id="8" name="Picture 7">
            <a:extLst>
              <a:ext uri="{FF2B5EF4-FFF2-40B4-BE49-F238E27FC236}">
                <a16:creationId xmlns:a16="http://schemas.microsoft.com/office/drawing/2014/main" id="{93471EB5-5288-2841-17A9-2087DB16E60D}"/>
              </a:ext>
            </a:extLst>
          </p:cNvPr>
          <p:cNvPicPr>
            <a:picLocks noChangeAspect="1"/>
          </p:cNvPicPr>
          <p:nvPr/>
        </p:nvPicPr>
        <p:blipFill>
          <a:blip r:embed="rId2"/>
          <a:srcRect r="38606" b="67223"/>
          <a:stretch>
            <a:fillRect/>
          </a:stretch>
        </p:blipFill>
        <p:spPr>
          <a:xfrm>
            <a:off x="973394" y="1774452"/>
            <a:ext cx="7485130" cy="646332"/>
          </a:xfrm>
          <a:prstGeom prst="rect">
            <a:avLst/>
          </a:prstGeom>
        </p:spPr>
      </p:pic>
      <p:pic>
        <p:nvPicPr>
          <p:cNvPr id="12" name="Picture 11">
            <a:extLst>
              <a:ext uri="{FF2B5EF4-FFF2-40B4-BE49-F238E27FC236}">
                <a16:creationId xmlns:a16="http://schemas.microsoft.com/office/drawing/2014/main" id="{FD71A4B0-63FB-3C1D-8A6B-B2C57EA3469A}"/>
              </a:ext>
            </a:extLst>
          </p:cNvPr>
          <p:cNvPicPr>
            <a:picLocks noChangeAspect="1"/>
          </p:cNvPicPr>
          <p:nvPr/>
        </p:nvPicPr>
        <p:blipFill>
          <a:blip r:embed="rId2"/>
          <a:srcRect t="67299" r="38606" b="-76"/>
          <a:stretch>
            <a:fillRect/>
          </a:stretch>
        </p:blipFill>
        <p:spPr>
          <a:xfrm>
            <a:off x="1016248" y="4199961"/>
            <a:ext cx="7485130" cy="646331"/>
          </a:xfrm>
          <a:prstGeom prst="rect">
            <a:avLst/>
          </a:prstGeom>
        </p:spPr>
      </p:pic>
      <p:pic>
        <p:nvPicPr>
          <p:cNvPr id="14" name="Picture 13">
            <a:extLst>
              <a:ext uri="{FF2B5EF4-FFF2-40B4-BE49-F238E27FC236}">
                <a16:creationId xmlns:a16="http://schemas.microsoft.com/office/drawing/2014/main" id="{C42C2300-B23F-C91F-28EC-CBB18CE4E364}"/>
              </a:ext>
            </a:extLst>
          </p:cNvPr>
          <p:cNvPicPr>
            <a:picLocks noChangeAspect="1"/>
          </p:cNvPicPr>
          <p:nvPr/>
        </p:nvPicPr>
        <p:blipFill>
          <a:blip r:embed="rId3"/>
          <a:srcRect b="54855"/>
          <a:stretch>
            <a:fillRect/>
          </a:stretch>
        </p:blipFill>
        <p:spPr>
          <a:xfrm>
            <a:off x="973394" y="2549071"/>
            <a:ext cx="1850029" cy="496989"/>
          </a:xfrm>
          <a:prstGeom prst="rect">
            <a:avLst/>
          </a:prstGeom>
          <a:ln>
            <a:solidFill>
              <a:schemeClr val="accent1"/>
            </a:solidFill>
          </a:ln>
        </p:spPr>
      </p:pic>
      <p:pic>
        <p:nvPicPr>
          <p:cNvPr id="17" name="Picture 16">
            <a:extLst>
              <a:ext uri="{FF2B5EF4-FFF2-40B4-BE49-F238E27FC236}">
                <a16:creationId xmlns:a16="http://schemas.microsoft.com/office/drawing/2014/main" id="{1C22BD8E-1318-16DE-7263-B0C12AEBA982}"/>
              </a:ext>
            </a:extLst>
          </p:cNvPr>
          <p:cNvPicPr>
            <a:picLocks noChangeAspect="1"/>
          </p:cNvPicPr>
          <p:nvPr/>
        </p:nvPicPr>
        <p:blipFill>
          <a:blip r:embed="rId3"/>
          <a:srcRect l="-1063" t="56796" r="1063" b="-1941"/>
          <a:stretch>
            <a:fillRect/>
          </a:stretch>
        </p:blipFill>
        <p:spPr>
          <a:xfrm>
            <a:off x="1016248" y="5046461"/>
            <a:ext cx="1850029" cy="496989"/>
          </a:xfrm>
          <a:prstGeom prst="rect">
            <a:avLst/>
          </a:prstGeom>
          <a:ln>
            <a:solidFill>
              <a:schemeClr val="accent1"/>
            </a:solidFill>
          </a:ln>
        </p:spPr>
      </p:pic>
    </p:spTree>
    <p:extLst>
      <p:ext uri="{BB962C8B-B14F-4D97-AF65-F5344CB8AC3E}">
        <p14:creationId xmlns:p14="http://schemas.microsoft.com/office/powerpoint/2010/main" val="1685375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85D9C-EF9C-9F85-D2B5-6E4371A0F46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0EBBE64-7E40-4735-D078-B3E09B234DA5}"/>
              </a:ext>
            </a:extLst>
          </p:cNvPr>
          <p:cNvSpPr txBox="1"/>
          <p:nvPr/>
        </p:nvSpPr>
        <p:spPr>
          <a:xfrm>
            <a:off x="884903" y="855409"/>
            <a:ext cx="7747820" cy="3862596"/>
          </a:xfrm>
          <a:prstGeom prst="rect">
            <a:avLst/>
          </a:prstGeom>
          <a:noFill/>
        </p:spPr>
        <p:txBody>
          <a:bodyPr wrap="square" rtlCol="0">
            <a:spAutoFit/>
          </a:bodyPr>
          <a:lstStyle/>
          <a:p>
            <a:r>
              <a:rPr lang="en-US" b="1" u="sng" dirty="0">
                <a:solidFill>
                  <a:schemeClr val="accent1"/>
                </a:solidFill>
                <a:latin typeface="Eras Medium ITC" panose="020B0602030504020804" pitchFamily="34" charset="0"/>
              </a:rPr>
              <a:t>6. </a:t>
            </a:r>
            <a:r>
              <a:rPr lang="en-US" b="1" u="sng" dirty="0" err="1">
                <a:solidFill>
                  <a:schemeClr val="accent1"/>
                </a:solidFill>
                <a:latin typeface="Eras Medium ITC" panose="020B0602030504020804" pitchFamily="34" charset="0"/>
              </a:rPr>
              <a:t>Math.min</a:t>
            </a:r>
            <a:r>
              <a:rPr lang="en-US" b="1" u="sng" dirty="0">
                <a:solidFill>
                  <a:schemeClr val="accent1"/>
                </a:solidFill>
                <a:latin typeface="Eras Medium ITC" panose="020B0602030504020804" pitchFamily="34" charset="0"/>
              </a:rPr>
              <a:t>()</a:t>
            </a:r>
          </a:p>
          <a:p>
            <a:r>
              <a:rPr lang="en-US" dirty="0">
                <a:latin typeface="Eras Medium ITC" panose="020B0602030504020804" pitchFamily="34" charset="0"/>
              </a:rPr>
              <a:t>This method returns the smallest value from a list of numbers</a:t>
            </a:r>
            <a:r>
              <a:rPr lang="en-US" b="1" u="sng" dirty="0">
                <a:solidFill>
                  <a:schemeClr val="accent1"/>
                </a:solidFill>
                <a:latin typeface="Eras Medium ITC" panose="020B0602030504020804" pitchFamily="34" charset="0"/>
              </a:rPr>
              <a:t>.</a:t>
            </a: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sz="1100" dirty="0">
              <a:latin typeface="Eras Medium ITC" panose="020B0602030504020804" pitchFamily="34" charset="0"/>
            </a:endParaRPr>
          </a:p>
          <a:p>
            <a:r>
              <a:rPr lang="en-US" b="1" u="sng" dirty="0">
                <a:solidFill>
                  <a:schemeClr val="accent1"/>
                </a:solidFill>
                <a:latin typeface="Eras Medium ITC" panose="020B0602030504020804" pitchFamily="34" charset="0"/>
              </a:rPr>
              <a:t>7. </a:t>
            </a:r>
            <a:r>
              <a:rPr lang="en-US" b="1" u="sng" dirty="0" err="1">
                <a:solidFill>
                  <a:schemeClr val="accent1"/>
                </a:solidFill>
                <a:latin typeface="Eras Medium ITC" panose="020B0602030504020804" pitchFamily="34" charset="0"/>
              </a:rPr>
              <a:t>Math.sqrt</a:t>
            </a:r>
            <a:r>
              <a:rPr lang="en-US" b="1" u="sng" dirty="0">
                <a:solidFill>
                  <a:schemeClr val="accent1"/>
                </a:solidFill>
                <a:latin typeface="Eras Medium ITC" panose="020B0602030504020804" pitchFamily="34" charset="0"/>
              </a:rPr>
              <a:t>()</a:t>
            </a:r>
          </a:p>
          <a:p>
            <a:r>
              <a:rPr lang="en-US" dirty="0">
                <a:latin typeface="Eras Medium ITC" panose="020B0602030504020804" pitchFamily="34" charset="0"/>
              </a:rPr>
              <a:t>This  method returns the square root of a number.</a:t>
            </a:r>
          </a:p>
          <a:p>
            <a:endParaRPr lang="en-US" dirty="0">
              <a:latin typeface="Eras Medium ITC" panose="020B0602030504020804" pitchFamily="34" charset="0"/>
            </a:endParaRPr>
          </a:p>
          <a:p>
            <a:endParaRPr lang="en-US" dirty="0">
              <a:latin typeface="Eras Medium ITC" panose="020B0602030504020804" pitchFamily="34" charset="0"/>
            </a:endParaRPr>
          </a:p>
        </p:txBody>
      </p:sp>
      <p:sp>
        <p:nvSpPr>
          <p:cNvPr id="15" name="TextBox 14">
            <a:extLst>
              <a:ext uri="{FF2B5EF4-FFF2-40B4-BE49-F238E27FC236}">
                <a16:creationId xmlns:a16="http://schemas.microsoft.com/office/drawing/2014/main" id="{3AD45F68-992C-2C29-17DC-8D92B4C2C2E0}"/>
              </a:ext>
            </a:extLst>
          </p:cNvPr>
          <p:cNvSpPr txBox="1"/>
          <p:nvPr/>
        </p:nvSpPr>
        <p:spPr>
          <a:xfrm>
            <a:off x="2856615" y="2422068"/>
            <a:ext cx="5474586" cy="646331"/>
          </a:xfrm>
          <a:prstGeom prst="rect">
            <a:avLst/>
          </a:prstGeom>
          <a:noFill/>
        </p:spPr>
        <p:txBody>
          <a:bodyPr wrap="square" rtlCol="0">
            <a:spAutoFit/>
          </a:bodyPr>
          <a:lstStyle/>
          <a:p>
            <a:r>
              <a:rPr lang="en-US" dirty="0">
                <a:latin typeface="Eras Medium ITC" panose="020B0602030504020804" pitchFamily="34" charset="0"/>
              </a:rPr>
              <a:t>The smallest value in the given list is -20, so </a:t>
            </a:r>
            <a:r>
              <a:rPr lang="en-US" dirty="0" err="1">
                <a:latin typeface="Eras Medium ITC" panose="020B0602030504020804" pitchFamily="34" charset="0"/>
              </a:rPr>
              <a:t>Math.min</a:t>
            </a:r>
            <a:r>
              <a:rPr lang="en-US" dirty="0">
                <a:latin typeface="Eras Medium ITC" panose="020B0602030504020804" pitchFamily="34" charset="0"/>
              </a:rPr>
              <a:t>() returns -20.</a:t>
            </a:r>
          </a:p>
        </p:txBody>
      </p:sp>
      <p:sp>
        <p:nvSpPr>
          <p:cNvPr id="9" name="TextBox 8">
            <a:extLst>
              <a:ext uri="{FF2B5EF4-FFF2-40B4-BE49-F238E27FC236}">
                <a16:creationId xmlns:a16="http://schemas.microsoft.com/office/drawing/2014/main" id="{F113E9DF-7060-8D6F-CD69-8BDF818FB1BA}"/>
              </a:ext>
            </a:extLst>
          </p:cNvPr>
          <p:cNvSpPr txBox="1"/>
          <p:nvPr/>
        </p:nvSpPr>
        <p:spPr>
          <a:xfrm>
            <a:off x="2856615" y="5110365"/>
            <a:ext cx="4439908" cy="646331"/>
          </a:xfrm>
          <a:prstGeom prst="rect">
            <a:avLst/>
          </a:prstGeom>
          <a:noFill/>
        </p:spPr>
        <p:txBody>
          <a:bodyPr wrap="square" rtlCol="0">
            <a:spAutoFit/>
          </a:bodyPr>
          <a:lstStyle/>
          <a:p>
            <a:r>
              <a:rPr lang="en-US" dirty="0">
                <a:latin typeface="Eras Medium ITC" panose="020B0602030504020804" pitchFamily="34" charset="0"/>
              </a:rPr>
              <a:t>The square root of 81 is 9, so </a:t>
            </a:r>
            <a:r>
              <a:rPr lang="en-US" dirty="0" err="1">
                <a:latin typeface="Eras Medium ITC" panose="020B0602030504020804" pitchFamily="34" charset="0"/>
              </a:rPr>
              <a:t>Math.sqrt</a:t>
            </a:r>
            <a:r>
              <a:rPr lang="en-US" dirty="0">
                <a:latin typeface="Eras Medium ITC" panose="020B0602030504020804" pitchFamily="34" charset="0"/>
              </a:rPr>
              <a:t>() returns 9.</a:t>
            </a:r>
          </a:p>
        </p:txBody>
      </p:sp>
      <p:pic>
        <p:nvPicPr>
          <p:cNvPr id="3" name="Picture 2">
            <a:extLst>
              <a:ext uri="{FF2B5EF4-FFF2-40B4-BE49-F238E27FC236}">
                <a16:creationId xmlns:a16="http://schemas.microsoft.com/office/drawing/2014/main" id="{66F8B087-5312-37B9-B79F-8A0BEBA241DE}"/>
              </a:ext>
            </a:extLst>
          </p:cNvPr>
          <p:cNvPicPr>
            <a:picLocks noChangeAspect="1"/>
          </p:cNvPicPr>
          <p:nvPr/>
        </p:nvPicPr>
        <p:blipFill>
          <a:blip r:embed="rId2"/>
          <a:srcRect r="11779" b="67464"/>
          <a:stretch>
            <a:fillRect/>
          </a:stretch>
        </p:blipFill>
        <p:spPr>
          <a:xfrm>
            <a:off x="997829" y="1654720"/>
            <a:ext cx="7634894" cy="671919"/>
          </a:xfrm>
          <a:prstGeom prst="rect">
            <a:avLst/>
          </a:prstGeom>
        </p:spPr>
      </p:pic>
      <p:pic>
        <p:nvPicPr>
          <p:cNvPr id="6" name="Picture 5">
            <a:extLst>
              <a:ext uri="{FF2B5EF4-FFF2-40B4-BE49-F238E27FC236}">
                <a16:creationId xmlns:a16="http://schemas.microsoft.com/office/drawing/2014/main" id="{AAEF6A07-21C3-0996-7366-764EA17EEC20}"/>
              </a:ext>
            </a:extLst>
          </p:cNvPr>
          <p:cNvPicPr>
            <a:picLocks noChangeAspect="1"/>
          </p:cNvPicPr>
          <p:nvPr/>
        </p:nvPicPr>
        <p:blipFill>
          <a:blip r:embed="rId3"/>
          <a:srcRect l="855" t="4377" r="68524" b="55667"/>
          <a:stretch>
            <a:fillRect/>
          </a:stretch>
        </p:blipFill>
        <p:spPr>
          <a:xfrm>
            <a:off x="1150229" y="2506345"/>
            <a:ext cx="1568393" cy="477775"/>
          </a:xfrm>
          <a:prstGeom prst="rect">
            <a:avLst/>
          </a:prstGeom>
          <a:ln>
            <a:solidFill>
              <a:schemeClr val="accent1"/>
            </a:solidFill>
          </a:ln>
        </p:spPr>
      </p:pic>
      <p:pic>
        <p:nvPicPr>
          <p:cNvPr id="8" name="Picture 7">
            <a:extLst>
              <a:ext uri="{FF2B5EF4-FFF2-40B4-BE49-F238E27FC236}">
                <a16:creationId xmlns:a16="http://schemas.microsoft.com/office/drawing/2014/main" id="{C83A316F-0F60-FCFC-E99C-824B3CB9A7C0}"/>
              </a:ext>
            </a:extLst>
          </p:cNvPr>
          <p:cNvPicPr>
            <a:picLocks noChangeAspect="1"/>
          </p:cNvPicPr>
          <p:nvPr/>
        </p:nvPicPr>
        <p:blipFill>
          <a:blip r:embed="rId2"/>
          <a:srcRect t="67291" r="15525" b="173"/>
          <a:stretch>
            <a:fillRect/>
          </a:stretch>
        </p:blipFill>
        <p:spPr>
          <a:xfrm>
            <a:off x="997829" y="4225792"/>
            <a:ext cx="7634894" cy="671919"/>
          </a:xfrm>
          <a:prstGeom prst="rect">
            <a:avLst/>
          </a:prstGeom>
        </p:spPr>
      </p:pic>
      <p:pic>
        <p:nvPicPr>
          <p:cNvPr id="11" name="Picture 10">
            <a:extLst>
              <a:ext uri="{FF2B5EF4-FFF2-40B4-BE49-F238E27FC236}">
                <a16:creationId xmlns:a16="http://schemas.microsoft.com/office/drawing/2014/main" id="{248CBC4D-FED2-E51A-0FCF-27A1F302FFE5}"/>
              </a:ext>
            </a:extLst>
          </p:cNvPr>
          <p:cNvPicPr>
            <a:picLocks noChangeAspect="1"/>
          </p:cNvPicPr>
          <p:nvPr/>
        </p:nvPicPr>
        <p:blipFill>
          <a:blip r:embed="rId3"/>
          <a:srcRect l="-420" t="57329" r="69799" b="2715"/>
          <a:stretch>
            <a:fillRect/>
          </a:stretch>
        </p:blipFill>
        <p:spPr>
          <a:xfrm>
            <a:off x="1150229" y="5203280"/>
            <a:ext cx="1511691" cy="460502"/>
          </a:xfrm>
          <a:prstGeom prst="rect">
            <a:avLst/>
          </a:prstGeom>
          <a:ln>
            <a:solidFill>
              <a:schemeClr val="accent1"/>
            </a:solidFill>
          </a:ln>
        </p:spPr>
      </p:pic>
    </p:spTree>
    <p:extLst>
      <p:ext uri="{BB962C8B-B14F-4D97-AF65-F5344CB8AC3E}">
        <p14:creationId xmlns:p14="http://schemas.microsoft.com/office/powerpoint/2010/main" val="1328259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D2136-B892-3BE5-6A2C-DD1520FA57B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5489658-DE6D-A000-EA12-E01B4DDA1F51}"/>
              </a:ext>
            </a:extLst>
          </p:cNvPr>
          <p:cNvSpPr txBox="1"/>
          <p:nvPr/>
        </p:nvSpPr>
        <p:spPr>
          <a:xfrm>
            <a:off x="884903" y="855409"/>
            <a:ext cx="7747820" cy="3862596"/>
          </a:xfrm>
          <a:prstGeom prst="rect">
            <a:avLst/>
          </a:prstGeom>
          <a:noFill/>
        </p:spPr>
        <p:txBody>
          <a:bodyPr wrap="square" rtlCol="0">
            <a:spAutoFit/>
          </a:bodyPr>
          <a:lstStyle/>
          <a:p>
            <a:r>
              <a:rPr lang="en-US" b="1" u="sng" dirty="0">
                <a:solidFill>
                  <a:schemeClr val="accent1"/>
                </a:solidFill>
                <a:latin typeface="Eras Medium ITC" panose="020B0602030504020804" pitchFamily="34" charset="0"/>
              </a:rPr>
              <a:t>8. </a:t>
            </a:r>
            <a:r>
              <a:rPr lang="en-US" b="1" u="sng" dirty="0" err="1">
                <a:solidFill>
                  <a:schemeClr val="accent1"/>
                </a:solidFill>
                <a:latin typeface="Eras Medium ITC" panose="020B0602030504020804" pitchFamily="34" charset="0"/>
              </a:rPr>
              <a:t>Math.cbrt</a:t>
            </a:r>
            <a:r>
              <a:rPr lang="en-US" b="1" u="sng" dirty="0">
                <a:solidFill>
                  <a:schemeClr val="accent1"/>
                </a:solidFill>
                <a:latin typeface="Eras Medium ITC" panose="020B0602030504020804" pitchFamily="34" charset="0"/>
              </a:rPr>
              <a:t>()</a:t>
            </a:r>
          </a:p>
          <a:p>
            <a:r>
              <a:rPr lang="en-US" dirty="0">
                <a:latin typeface="Eras Medium ITC" panose="020B0602030504020804" pitchFamily="34" charset="0"/>
              </a:rPr>
              <a:t>This method returns the cube root of a number.</a:t>
            </a: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sz="1100" dirty="0">
              <a:latin typeface="Eras Medium ITC" panose="020B0602030504020804" pitchFamily="34" charset="0"/>
            </a:endParaRPr>
          </a:p>
          <a:p>
            <a:r>
              <a:rPr lang="en-US" b="1" u="sng" dirty="0">
                <a:solidFill>
                  <a:schemeClr val="accent1"/>
                </a:solidFill>
                <a:latin typeface="Eras Medium ITC" panose="020B0602030504020804" pitchFamily="34" charset="0"/>
              </a:rPr>
              <a:t>9. </a:t>
            </a:r>
            <a:r>
              <a:rPr lang="en-US" b="1" u="sng" dirty="0" err="1">
                <a:solidFill>
                  <a:schemeClr val="accent1"/>
                </a:solidFill>
                <a:latin typeface="Eras Medium ITC" panose="020B0602030504020804" pitchFamily="34" charset="0"/>
              </a:rPr>
              <a:t>Math.pow</a:t>
            </a:r>
            <a:r>
              <a:rPr lang="en-US" b="1" u="sng" dirty="0">
                <a:solidFill>
                  <a:schemeClr val="accent1"/>
                </a:solidFill>
                <a:latin typeface="Eras Medium ITC" panose="020B0602030504020804" pitchFamily="34" charset="0"/>
              </a:rPr>
              <a:t>()</a:t>
            </a:r>
          </a:p>
          <a:p>
            <a:r>
              <a:rPr lang="en-US" dirty="0">
                <a:latin typeface="Eras Medium ITC" panose="020B0602030504020804" pitchFamily="34" charset="0"/>
              </a:rPr>
              <a:t>This method returns the value of a number raised to a specified power.</a:t>
            </a:r>
          </a:p>
          <a:p>
            <a:endParaRPr lang="en-US" dirty="0">
              <a:latin typeface="Eras Medium ITC" panose="020B0602030504020804" pitchFamily="34" charset="0"/>
            </a:endParaRPr>
          </a:p>
          <a:p>
            <a:endParaRPr lang="en-US" dirty="0">
              <a:latin typeface="Eras Medium ITC" panose="020B0602030504020804" pitchFamily="34" charset="0"/>
            </a:endParaRPr>
          </a:p>
        </p:txBody>
      </p:sp>
      <p:sp>
        <p:nvSpPr>
          <p:cNvPr id="15" name="TextBox 14">
            <a:extLst>
              <a:ext uri="{FF2B5EF4-FFF2-40B4-BE49-F238E27FC236}">
                <a16:creationId xmlns:a16="http://schemas.microsoft.com/office/drawing/2014/main" id="{A6E7043E-11C7-9D16-E1F8-ABD8D6D193E8}"/>
              </a:ext>
            </a:extLst>
          </p:cNvPr>
          <p:cNvSpPr txBox="1"/>
          <p:nvPr/>
        </p:nvSpPr>
        <p:spPr>
          <a:xfrm>
            <a:off x="2469879" y="2694071"/>
            <a:ext cx="5474586" cy="369332"/>
          </a:xfrm>
          <a:prstGeom prst="rect">
            <a:avLst/>
          </a:prstGeom>
          <a:noFill/>
        </p:spPr>
        <p:txBody>
          <a:bodyPr wrap="square" rtlCol="0">
            <a:spAutoFit/>
          </a:bodyPr>
          <a:lstStyle/>
          <a:p>
            <a:r>
              <a:rPr lang="en-US" dirty="0">
                <a:latin typeface="Eras Medium ITC" panose="020B0602030504020804" pitchFamily="34" charset="0"/>
              </a:rPr>
              <a:t>Since 4 × 4 × 4 = 64, the cube root of 64 is 4.</a:t>
            </a:r>
          </a:p>
        </p:txBody>
      </p:sp>
      <p:sp>
        <p:nvSpPr>
          <p:cNvPr id="9" name="TextBox 8">
            <a:extLst>
              <a:ext uri="{FF2B5EF4-FFF2-40B4-BE49-F238E27FC236}">
                <a16:creationId xmlns:a16="http://schemas.microsoft.com/office/drawing/2014/main" id="{4CDD2312-3D86-6F30-2186-0AB2D54B1BD8}"/>
              </a:ext>
            </a:extLst>
          </p:cNvPr>
          <p:cNvSpPr txBox="1"/>
          <p:nvPr/>
        </p:nvSpPr>
        <p:spPr>
          <a:xfrm>
            <a:off x="2469879" y="5213864"/>
            <a:ext cx="4826644" cy="369332"/>
          </a:xfrm>
          <a:prstGeom prst="rect">
            <a:avLst/>
          </a:prstGeom>
          <a:noFill/>
        </p:spPr>
        <p:txBody>
          <a:bodyPr wrap="square" rtlCol="0">
            <a:spAutoFit/>
          </a:bodyPr>
          <a:lstStyle/>
          <a:p>
            <a:r>
              <a:rPr lang="en-US" dirty="0">
                <a:latin typeface="Eras Medium ITC" panose="020B0602030504020804" pitchFamily="34" charset="0"/>
              </a:rPr>
              <a:t>The method calculates 3⁴, which equals 81.</a:t>
            </a:r>
          </a:p>
        </p:txBody>
      </p:sp>
      <p:pic>
        <p:nvPicPr>
          <p:cNvPr id="13" name="Picture 12">
            <a:extLst>
              <a:ext uri="{FF2B5EF4-FFF2-40B4-BE49-F238E27FC236}">
                <a16:creationId xmlns:a16="http://schemas.microsoft.com/office/drawing/2014/main" id="{ED904AC8-4961-AAF2-4DFF-D427362A3EEA}"/>
              </a:ext>
            </a:extLst>
          </p:cNvPr>
          <p:cNvPicPr>
            <a:picLocks noChangeAspect="1"/>
          </p:cNvPicPr>
          <p:nvPr/>
        </p:nvPicPr>
        <p:blipFill>
          <a:blip r:embed="rId2"/>
          <a:srcRect r="34682"/>
          <a:stretch>
            <a:fillRect/>
          </a:stretch>
        </p:blipFill>
        <p:spPr>
          <a:xfrm>
            <a:off x="963562" y="1694681"/>
            <a:ext cx="6980903" cy="785089"/>
          </a:xfrm>
          <a:prstGeom prst="rect">
            <a:avLst/>
          </a:prstGeom>
        </p:spPr>
      </p:pic>
      <p:pic>
        <p:nvPicPr>
          <p:cNvPr id="16" name="Picture 15">
            <a:extLst>
              <a:ext uri="{FF2B5EF4-FFF2-40B4-BE49-F238E27FC236}">
                <a16:creationId xmlns:a16="http://schemas.microsoft.com/office/drawing/2014/main" id="{C60D2D1E-8567-A3F5-9AB6-5C3462AE040D}"/>
              </a:ext>
            </a:extLst>
          </p:cNvPr>
          <p:cNvPicPr>
            <a:picLocks noChangeAspect="1"/>
          </p:cNvPicPr>
          <p:nvPr/>
        </p:nvPicPr>
        <p:blipFill>
          <a:blip r:embed="rId3"/>
          <a:srcRect l="-259" r="49701" b="86123"/>
          <a:stretch>
            <a:fillRect/>
          </a:stretch>
        </p:blipFill>
        <p:spPr>
          <a:xfrm>
            <a:off x="884903" y="4214737"/>
            <a:ext cx="6980903" cy="810061"/>
          </a:xfrm>
          <a:prstGeom prst="rect">
            <a:avLst/>
          </a:prstGeom>
        </p:spPr>
      </p:pic>
      <p:pic>
        <p:nvPicPr>
          <p:cNvPr id="18" name="Picture 17">
            <a:extLst>
              <a:ext uri="{FF2B5EF4-FFF2-40B4-BE49-F238E27FC236}">
                <a16:creationId xmlns:a16="http://schemas.microsoft.com/office/drawing/2014/main" id="{B335189D-FE5A-5B5F-79BA-739148AAEF06}"/>
              </a:ext>
            </a:extLst>
          </p:cNvPr>
          <p:cNvPicPr>
            <a:picLocks noChangeAspect="1"/>
          </p:cNvPicPr>
          <p:nvPr/>
        </p:nvPicPr>
        <p:blipFill>
          <a:blip r:embed="rId4"/>
          <a:srcRect r="71303" b="84102"/>
          <a:stretch>
            <a:fillRect/>
          </a:stretch>
        </p:blipFill>
        <p:spPr>
          <a:xfrm>
            <a:off x="963562" y="2624043"/>
            <a:ext cx="1311977" cy="439360"/>
          </a:xfrm>
          <a:prstGeom prst="rect">
            <a:avLst/>
          </a:prstGeom>
          <a:ln>
            <a:solidFill>
              <a:schemeClr val="accent1"/>
            </a:solidFill>
          </a:ln>
        </p:spPr>
      </p:pic>
      <p:pic>
        <p:nvPicPr>
          <p:cNvPr id="20" name="Picture 19">
            <a:extLst>
              <a:ext uri="{FF2B5EF4-FFF2-40B4-BE49-F238E27FC236}">
                <a16:creationId xmlns:a16="http://schemas.microsoft.com/office/drawing/2014/main" id="{D5A63689-18AF-87D1-7932-5D691FD5D846}"/>
              </a:ext>
            </a:extLst>
          </p:cNvPr>
          <p:cNvPicPr>
            <a:picLocks noChangeAspect="1"/>
          </p:cNvPicPr>
          <p:nvPr/>
        </p:nvPicPr>
        <p:blipFill>
          <a:blip r:embed="rId4"/>
          <a:srcRect t="19668" r="71303" b="64434"/>
          <a:stretch>
            <a:fillRect/>
          </a:stretch>
        </p:blipFill>
        <p:spPr>
          <a:xfrm>
            <a:off x="963562" y="5163319"/>
            <a:ext cx="1311977" cy="439360"/>
          </a:xfrm>
          <a:prstGeom prst="rect">
            <a:avLst/>
          </a:prstGeom>
          <a:ln>
            <a:solidFill>
              <a:schemeClr val="accent1"/>
            </a:solidFill>
          </a:ln>
        </p:spPr>
      </p:pic>
    </p:spTree>
    <p:extLst>
      <p:ext uri="{BB962C8B-B14F-4D97-AF65-F5344CB8AC3E}">
        <p14:creationId xmlns:p14="http://schemas.microsoft.com/office/powerpoint/2010/main" val="369061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A27F9-CFB6-2D6A-3CD0-035122D4483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2FED60A-F8E6-2D0B-CB73-5AB62F77734E}"/>
              </a:ext>
            </a:extLst>
          </p:cNvPr>
          <p:cNvSpPr txBox="1"/>
          <p:nvPr/>
        </p:nvSpPr>
        <p:spPr>
          <a:xfrm>
            <a:off x="884903" y="855409"/>
            <a:ext cx="7747820" cy="3693319"/>
          </a:xfrm>
          <a:prstGeom prst="rect">
            <a:avLst/>
          </a:prstGeom>
          <a:noFill/>
        </p:spPr>
        <p:txBody>
          <a:bodyPr wrap="square" rtlCol="0">
            <a:spAutoFit/>
          </a:bodyPr>
          <a:lstStyle/>
          <a:p>
            <a:r>
              <a:rPr lang="en-US" b="1" u="sng" dirty="0">
                <a:solidFill>
                  <a:schemeClr val="accent1"/>
                </a:solidFill>
                <a:latin typeface="Eras Medium ITC" panose="020B0602030504020804" pitchFamily="34" charset="0"/>
              </a:rPr>
              <a:t>10. </a:t>
            </a:r>
            <a:r>
              <a:rPr lang="en-US" b="1" u="sng" dirty="0" err="1">
                <a:solidFill>
                  <a:schemeClr val="accent1"/>
                </a:solidFill>
                <a:latin typeface="Eras Medium ITC" panose="020B0602030504020804" pitchFamily="34" charset="0"/>
              </a:rPr>
              <a:t>Math.random</a:t>
            </a:r>
            <a:r>
              <a:rPr lang="en-US" b="1" u="sng" dirty="0">
                <a:solidFill>
                  <a:schemeClr val="accent1"/>
                </a:solidFill>
                <a:latin typeface="Eras Medium ITC" panose="020B0602030504020804" pitchFamily="34" charset="0"/>
              </a:rPr>
              <a:t>()</a:t>
            </a:r>
          </a:p>
          <a:p>
            <a:r>
              <a:rPr lang="en-US" dirty="0">
                <a:latin typeface="Eras Medium ITC" panose="020B0602030504020804" pitchFamily="34" charset="0"/>
              </a:rPr>
              <a:t>This method generates a random decimal number between 0 (inclusive) and 1 (exclusive) each time the code is executed.</a:t>
            </a: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r>
              <a:rPr lang="en-US" b="1" u="sng" dirty="0">
                <a:solidFill>
                  <a:schemeClr val="accent1"/>
                </a:solidFill>
                <a:latin typeface="Eras Medium ITC" panose="020B0602030504020804" pitchFamily="34" charset="0"/>
              </a:rPr>
              <a:t>11. </a:t>
            </a:r>
            <a:r>
              <a:rPr lang="en-US" b="1" u="sng" dirty="0" err="1">
                <a:solidFill>
                  <a:schemeClr val="accent1"/>
                </a:solidFill>
                <a:latin typeface="Eras Medium ITC" panose="020B0602030504020804" pitchFamily="34" charset="0"/>
              </a:rPr>
              <a:t>Math.abs</a:t>
            </a:r>
            <a:r>
              <a:rPr lang="en-US" b="1" u="sng" dirty="0">
                <a:solidFill>
                  <a:schemeClr val="accent1"/>
                </a:solidFill>
                <a:latin typeface="Eras Medium ITC" panose="020B0602030504020804" pitchFamily="34" charset="0"/>
              </a:rPr>
              <a:t>()</a:t>
            </a:r>
          </a:p>
          <a:p>
            <a:r>
              <a:rPr lang="en-US" dirty="0">
                <a:latin typeface="Eras Medium ITC" panose="020B0602030504020804" pitchFamily="34" charset="0"/>
              </a:rPr>
              <a:t>This method returns the absolute (positive) value of a number.</a:t>
            </a:r>
          </a:p>
          <a:p>
            <a:endParaRPr lang="en-US" dirty="0">
              <a:latin typeface="Eras Medium ITC" panose="020B0602030504020804" pitchFamily="34" charset="0"/>
            </a:endParaRPr>
          </a:p>
        </p:txBody>
      </p:sp>
      <p:sp>
        <p:nvSpPr>
          <p:cNvPr id="9" name="TextBox 8">
            <a:extLst>
              <a:ext uri="{FF2B5EF4-FFF2-40B4-BE49-F238E27FC236}">
                <a16:creationId xmlns:a16="http://schemas.microsoft.com/office/drawing/2014/main" id="{B7BD30E0-0D98-7593-23A7-F513248830AC}"/>
              </a:ext>
            </a:extLst>
          </p:cNvPr>
          <p:cNvSpPr txBox="1"/>
          <p:nvPr/>
        </p:nvSpPr>
        <p:spPr>
          <a:xfrm>
            <a:off x="2984433" y="5219137"/>
            <a:ext cx="5353321" cy="646331"/>
          </a:xfrm>
          <a:prstGeom prst="rect">
            <a:avLst/>
          </a:prstGeom>
          <a:noFill/>
        </p:spPr>
        <p:txBody>
          <a:bodyPr wrap="square" rtlCol="0">
            <a:spAutoFit/>
          </a:bodyPr>
          <a:lstStyle/>
          <a:p>
            <a:r>
              <a:rPr lang="en-US" dirty="0">
                <a:latin typeface="Eras Medium ITC" panose="020B0602030504020804" pitchFamily="34" charset="0"/>
              </a:rPr>
              <a:t>The negative number -35 is converted into its positive value 35.</a:t>
            </a:r>
          </a:p>
        </p:txBody>
      </p:sp>
      <p:pic>
        <p:nvPicPr>
          <p:cNvPr id="10" name="Picture 9">
            <a:extLst>
              <a:ext uri="{FF2B5EF4-FFF2-40B4-BE49-F238E27FC236}">
                <a16:creationId xmlns:a16="http://schemas.microsoft.com/office/drawing/2014/main" id="{F5A1228C-0D1C-2314-706D-C91110924F57}"/>
              </a:ext>
            </a:extLst>
          </p:cNvPr>
          <p:cNvPicPr>
            <a:picLocks noChangeAspect="1"/>
          </p:cNvPicPr>
          <p:nvPr/>
        </p:nvPicPr>
        <p:blipFill>
          <a:blip r:embed="rId2"/>
          <a:srcRect l="-259" t="27947" r="40817" b="58222"/>
          <a:stretch>
            <a:fillRect/>
          </a:stretch>
        </p:blipFill>
        <p:spPr>
          <a:xfrm>
            <a:off x="884903" y="1832368"/>
            <a:ext cx="7551005" cy="742801"/>
          </a:xfrm>
          <a:prstGeom prst="rect">
            <a:avLst/>
          </a:prstGeom>
        </p:spPr>
      </p:pic>
      <p:pic>
        <p:nvPicPr>
          <p:cNvPr id="13" name="Picture 12">
            <a:extLst>
              <a:ext uri="{FF2B5EF4-FFF2-40B4-BE49-F238E27FC236}">
                <a16:creationId xmlns:a16="http://schemas.microsoft.com/office/drawing/2014/main" id="{97F478BA-3E57-54CF-1D74-545FACBA9348}"/>
              </a:ext>
            </a:extLst>
          </p:cNvPr>
          <p:cNvPicPr>
            <a:picLocks noChangeAspect="1"/>
          </p:cNvPicPr>
          <p:nvPr/>
        </p:nvPicPr>
        <p:blipFill>
          <a:blip r:embed="rId2"/>
          <a:srcRect l="-440" t="56607" r="40999" b="29562"/>
          <a:stretch>
            <a:fillRect/>
          </a:stretch>
        </p:blipFill>
        <p:spPr>
          <a:xfrm>
            <a:off x="884903" y="4312190"/>
            <a:ext cx="7551005" cy="742801"/>
          </a:xfrm>
          <a:prstGeom prst="rect">
            <a:avLst/>
          </a:prstGeom>
        </p:spPr>
      </p:pic>
      <p:pic>
        <p:nvPicPr>
          <p:cNvPr id="3" name="Picture 2">
            <a:extLst>
              <a:ext uri="{FF2B5EF4-FFF2-40B4-BE49-F238E27FC236}">
                <a16:creationId xmlns:a16="http://schemas.microsoft.com/office/drawing/2014/main" id="{F3717973-1B7A-0B9D-0CFD-41C071409950}"/>
              </a:ext>
            </a:extLst>
          </p:cNvPr>
          <p:cNvPicPr>
            <a:picLocks noChangeAspect="1"/>
          </p:cNvPicPr>
          <p:nvPr/>
        </p:nvPicPr>
        <p:blipFill>
          <a:blip r:embed="rId3"/>
          <a:srcRect l="-646" t="39327" r="21719" b="45219"/>
          <a:stretch>
            <a:fillRect/>
          </a:stretch>
        </p:blipFill>
        <p:spPr>
          <a:xfrm>
            <a:off x="963562" y="2778246"/>
            <a:ext cx="3608438" cy="427070"/>
          </a:xfrm>
          <a:prstGeom prst="rect">
            <a:avLst/>
          </a:prstGeom>
          <a:ln>
            <a:solidFill>
              <a:schemeClr val="accent1"/>
            </a:solidFill>
          </a:ln>
        </p:spPr>
      </p:pic>
      <p:pic>
        <p:nvPicPr>
          <p:cNvPr id="6" name="Picture 5">
            <a:extLst>
              <a:ext uri="{FF2B5EF4-FFF2-40B4-BE49-F238E27FC236}">
                <a16:creationId xmlns:a16="http://schemas.microsoft.com/office/drawing/2014/main" id="{8ADD3166-B469-BE52-1157-9CC2FCDF9C33}"/>
              </a:ext>
            </a:extLst>
          </p:cNvPr>
          <p:cNvPicPr>
            <a:picLocks noChangeAspect="1"/>
          </p:cNvPicPr>
          <p:nvPr/>
        </p:nvPicPr>
        <p:blipFill>
          <a:blip r:embed="rId3"/>
          <a:srcRect t="60050" r="58593" b="27522"/>
          <a:stretch>
            <a:fillRect/>
          </a:stretch>
        </p:blipFill>
        <p:spPr>
          <a:xfrm>
            <a:off x="963562" y="5353962"/>
            <a:ext cx="1893053" cy="343450"/>
          </a:xfrm>
          <a:prstGeom prst="rect">
            <a:avLst/>
          </a:prstGeom>
          <a:ln>
            <a:solidFill>
              <a:schemeClr val="accent1"/>
            </a:solidFill>
          </a:ln>
        </p:spPr>
      </p:pic>
    </p:spTree>
    <p:extLst>
      <p:ext uri="{BB962C8B-B14F-4D97-AF65-F5344CB8AC3E}">
        <p14:creationId xmlns:p14="http://schemas.microsoft.com/office/powerpoint/2010/main" val="2921729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6AE4B-B84F-55A7-EC1F-C2F307AD377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519F31B-94BE-2E1D-0EB6-365124F52113}"/>
              </a:ext>
            </a:extLst>
          </p:cNvPr>
          <p:cNvSpPr txBox="1"/>
          <p:nvPr/>
        </p:nvSpPr>
        <p:spPr>
          <a:xfrm>
            <a:off x="884903" y="855409"/>
            <a:ext cx="7747820" cy="5355312"/>
          </a:xfrm>
          <a:prstGeom prst="rect">
            <a:avLst/>
          </a:prstGeom>
          <a:noFill/>
        </p:spPr>
        <p:txBody>
          <a:bodyPr wrap="square" rtlCol="0">
            <a:spAutoFit/>
          </a:bodyPr>
          <a:lstStyle/>
          <a:p>
            <a:r>
              <a:rPr lang="en-US" b="1" u="sng" dirty="0">
                <a:solidFill>
                  <a:schemeClr val="accent1"/>
                </a:solidFill>
                <a:latin typeface="Eras Medium ITC" panose="020B0602030504020804" pitchFamily="34" charset="0"/>
              </a:rPr>
              <a:t>12. </a:t>
            </a:r>
            <a:r>
              <a:rPr lang="en-US" b="1" u="sng" dirty="0" err="1">
                <a:solidFill>
                  <a:schemeClr val="accent1"/>
                </a:solidFill>
                <a:latin typeface="Eras Medium ITC" panose="020B0602030504020804" pitchFamily="34" charset="0"/>
              </a:rPr>
              <a:t>Math.PI</a:t>
            </a:r>
            <a:endParaRPr lang="en-US" b="1" u="sng" dirty="0">
              <a:solidFill>
                <a:schemeClr val="accent1"/>
              </a:solidFill>
              <a:latin typeface="Eras Medium ITC" panose="020B0602030504020804" pitchFamily="34" charset="0"/>
            </a:endParaRPr>
          </a:p>
          <a:p>
            <a:r>
              <a:rPr lang="en-US" dirty="0">
                <a:latin typeface="Eras Medium ITC" panose="020B0602030504020804" pitchFamily="34" charset="0"/>
              </a:rPr>
              <a:t>This is a mathematical constant that returns the value of π (pi), approximately 3.14159.</a:t>
            </a: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dirty="0">
              <a:latin typeface="Eras Medium ITC" panose="020B0602030504020804" pitchFamily="34" charset="0"/>
            </a:endParaRPr>
          </a:p>
          <a:p>
            <a:endParaRPr lang="en-US" sz="1400" dirty="0">
              <a:latin typeface="Eras Medium ITC" panose="020B0602030504020804" pitchFamily="34" charset="0"/>
            </a:endParaRPr>
          </a:p>
          <a:p>
            <a:pPr marL="285750" indent="-285750">
              <a:buFont typeface="Wingdings" panose="05000000000000000000" pitchFamily="2" charset="2"/>
              <a:buChar char="ü"/>
            </a:pPr>
            <a:r>
              <a:rPr lang="en-US" b="1" u="sng" dirty="0">
                <a:solidFill>
                  <a:schemeClr val="accent1"/>
                </a:solidFill>
                <a:latin typeface="Eras Medium ITC" panose="020B0602030504020804" pitchFamily="34" charset="0"/>
              </a:rPr>
              <a:t>Why do we need Math Methods?</a:t>
            </a:r>
          </a:p>
          <a:p>
            <a:r>
              <a:rPr lang="en-US" dirty="0">
                <a:latin typeface="Eras Medium ITC" panose="020B0602030504020804" pitchFamily="34" charset="0"/>
              </a:rPr>
              <a:t>Math methods help us perform mathematical calculations quickly and accurately in JavaScript. They provide built-in functions for rounding numbers, finding maximum and minimum values, generating random numbers, calculating powers, square roots, cube roots, and absolute values. These methods reduce coding effort and are widely used in calculators, games, banking systems, scientific applications, and data analysis.</a:t>
            </a:r>
          </a:p>
          <a:p>
            <a:endParaRPr lang="en-US" dirty="0">
              <a:latin typeface="Eras Medium ITC" panose="020B0602030504020804" pitchFamily="34" charset="0"/>
            </a:endParaRPr>
          </a:p>
        </p:txBody>
      </p:sp>
      <p:pic>
        <p:nvPicPr>
          <p:cNvPr id="10" name="Picture 9">
            <a:extLst>
              <a:ext uri="{FF2B5EF4-FFF2-40B4-BE49-F238E27FC236}">
                <a16:creationId xmlns:a16="http://schemas.microsoft.com/office/drawing/2014/main" id="{5A88CE88-4660-AD57-04C8-FD2DECEFD3E8}"/>
              </a:ext>
            </a:extLst>
          </p:cNvPr>
          <p:cNvPicPr>
            <a:picLocks noChangeAspect="1"/>
          </p:cNvPicPr>
          <p:nvPr/>
        </p:nvPicPr>
        <p:blipFill>
          <a:blip r:embed="rId2"/>
          <a:srcRect l="-258" t="85999" r="39422" b="170"/>
          <a:stretch>
            <a:fillRect/>
          </a:stretch>
        </p:blipFill>
        <p:spPr>
          <a:xfrm>
            <a:off x="884903" y="1819429"/>
            <a:ext cx="7728070" cy="742801"/>
          </a:xfrm>
          <a:prstGeom prst="rect">
            <a:avLst/>
          </a:prstGeom>
        </p:spPr>
      </p:pic>
      <p:pic>
        <p:nvPicPr>
          <p:cNvPr id="3" name="Picture 2">
            <a:extLst>
              <a:ext uri="{FF2B5EF4-FFF2-40B4-BE49-F238E27FC236}">
                <a16:creationId xmlns:a16="http://schemas.microsoft.com/office/drawing/2014/main" id="{46EE958A-F1F2-DB2D-70B8-849C3F901314}"/>
              </a:ext>
            </a:extLst>
          </p:cNvPr>
          <p:cNvPicPr>
            <a:picLocks noChangeAspect="1"/>
          </p:cNvPicPr>
          <p:nvPr/>
        </p:nvPicPr>
        <p:blipFill>
          <a:blip r:embed="rId3"/>
          <a:srcRect l="213" t="79100" r="20859" b="7380"/>
          <a:stretch>
            <a:fillRect/>
          </a:stretch>
        </p:blipFill>
        <p:spPr>
          <a:xfrm>
            <a:off x="973395" y="2718042"/>
            <a:ext cx="3608438" cy="373625"/>
          </a:xfrm>
          <a:prstGeom prst="rect">
            <a:avLst/>
          </a:prstGeom>
          <a:ln>
            <a:solidFill>
              <a:schemeClr val="accent1"/>
            </a:solidFill>
          </a:ln>
        </p:spPr>
      </p:pic>
    </p:spTree>
    <p:extLst>
      <p:ext uri="{BB962C8B-B14F-4D97-AF65-F5344CB8AC3E}">
        <p14:creationId xmlns:p14="http://schemas.microsoft.com/office/powerpoint/2010/main" val="2021613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767A7-BDBE-5FD3-5A8C-EACF1E7C9C8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98CD8F6-34DE-BEA4-B0F9-3133030E5D2C}"/>
              </a:ext>
            </a:extLst>
          </p:cNvPr>
          <p:cNvSpPr/>
          <p:nvPr/>
        </p:nvSpPr>
        <p:spPr>
          <a:xfrm>
            <a:off x="3260733" y="2967335"/>
            <a:ext cx="4195700" cy="923330"/>
          </a:xfrm>
          <a:prstGeom prst="rect">
            <a:avLst/>
          </a:prstGeom>
          <a:noFill/>
        </p:spPr>
        <p:txBody>
          <a:bodyPr wrap="none" lIns="91440" tIns="45720" rIns="91440" bIns="45720">
            <a:spAutoFit/>
          </a:bodyPr>
          <a:lstStyle/>
          <a:p>
            <a:pPr algn="ctr"/>
            <a:r>
              <a:rPr lang="en-US" sz="5400" b="1" dirty="0">
                <a:ln w="22225">
                  <a:solidFill>
                    <a:schemeClr val="accent2"/>
                  </a:solidFill>
                  <a:prstDash val="solid"/>
                </a:ln>
                <a:solidFill>
                  <a:schemeClr val="accent2">
                    <a:lumMod val="40000"/>
                    <a:lumOff val="60000"/>
                  </a:schemeClr>
                </a:solidFill>
              </a:rPr>
              <a:t>THANK YOU </a:t>
            </a:r>
          </a:p>
        </p:txBody>
      </p:sp>
    </p:spTree>
    <p:extLst>
      <p:ext uri="{BB962C8B-B14F-4D97-AF65-F5344CB8AC3E}">
        <p14:creationId xmlns:p14="http://schemas.microsoft.com/office/powerpoint/2010/main" val="85587009"/>
      </p:ext>
    </p:extLst>
  </p:cSld>
  <p:clrMapOvr>
    <a:masterClrMapping/>
  </p:clrMapOvr>
</p:sld>
</file>

<file path=ppt/theme/theme1.xml><?xml version="1.0" encoding="utf-8"?>
<a:theme xmlns:a="http://schemas.openxmlformats.org/drawingml/2006/main" name="Face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354</TotalTime>
  <Words>1321</Words>
  <Application>Microsoft Office PowerPoint</Application>
  <PresentationFormat>Widescreen</PresentationFormat>
  <Paragraphs>238</Paragraphs>
  <Slides>19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Arial</vt:lpstr>
      <vt:lpstr>Eras Medium ITC</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Romaisa Shahbaz</dc:creator>
  <cp:lastModifiedBy>Romaisa Shahbaz</cp:lastModifiedBy>
  <cp:revision>13</cp:revision>
  <dcterms:created xsi:type="dcterms:W3CDTF">2026-07-24T09:59:24Z</dcterms:created>
  <dcterms:modified xsi:type="dcterms:W3CDTF">2026-08-16T08:10:50Z</dcterms:modified>
</cp:coreProperties>
</file>