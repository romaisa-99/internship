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58" r:id="rId10"/>
    <p:sldId id="259" r:id="rId11"/>
    <p:sldId id="260" r:id="rId12"/>
    <p:sldId id="268" r:id="rId13"/>
    <p:sldId id="269" r:id="rId14"/>
    <p:sldId id="270" r:id="rId15"/>
    <p:sldId id="272" r:id="rId16"/>
    <p:sldId id="292" r:id="rId17"/>
    <p:sldId id="271" r:id="rId18"/>
    <p:sldId id="273" r:id="rId19"/>
    <p:sldId id="274" r:id="rId20"/>
    <p:sldId id="279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3" r:id="rId36"/>
    <p:sldId id="290" r:id="rId37"/>
    <p:sldId id="29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E1D4E-D46A-4835-8C2E-8D338DC92FB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B5CA3-8211-42A8-910D-7267E556D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5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52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5488-DF70-A61A-8A0B-37DF0FC2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BA30F-67CB-651F-B31D-1951AE01E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DA0DB-4CC0-F0EB-EF4D-ABDA88B17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4CE24-7D80-E15F-60B1-DF81FF1CD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3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1B9A-0362-6BAC-F21F-8046421D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14F29-E03D-19FD-8CA4-5BC2B373F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0A094-0FC4-4EEA-C926-DFB1C13B2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F279C-7FD0-AF0C-2294-4A68B22DA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73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6F83-5104-EC4A-40D5-52F4E5D0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0E821-059D-52D8-5F4E-566C76FEC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68914-FF95-FEF3-05C2-9C39E279C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A377B-9CFF-80D2-30F3-D6C38F2E9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0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FFD9-68FC-1793-E61F-766EBA6F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7BC1B-DD52-E888-175F-199DE67EF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2FAC2-1D9E-A690-3157-AA57686C1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9C36-23B3-541B-E6D0-5A1C002A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84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F030-C216-55D0-975C-AC8A07F6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59736-311A-C5CB-02EB-7B84EEDEE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2B9F3-E451-E110-48EB-C3DE006C6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E202-4A20-2A77-1AD9-A9C6F5023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5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644C-DAA9-1F99-AD5C-154BF488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A248A-1669-829A-74C5-CCADD2FC4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3BB2F-9318-8692-96E0-F9916713A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66A50-1051-4354-C509-A26B6AB01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05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16C5-B2CF-9BF6-D825-7761EFD0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5EAA3-62A1-648D-A371-779BB724D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361F4-E279-A6F6-8375-5E63635E5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F92FB-5396-A294-0F11-B3A6D7017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90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2F86-CB90-6EDE-3FCD-6B1ED399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CB532-E2C0-6253-72A2-733FDE02F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29FD3-7330-C8D3-B7C8-AACF2891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FF2F4-1F02-020D-D1BE-72E5149EC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96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E760-3C5E-ED57-9E5A-8F99C2BA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9388C-E34F-3E59-9161-967EF7756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3D88-727C-4C77-A3F5-6D91D05DB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AC3AA-F3A4-F21E-064C-33C95B329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28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29CD-90E7-0D1A-79AB-03C09EA7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A8491-53F2-2278-CA0D-3AC410B7B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6792D-8277-816C-D128-C5973E325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EF2AB-509F-D8EA-9C60-D4FA3FAEB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3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D4A3-779A-EA7C-71D2-105D470D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A640F-CE4C-0B44-0666-ADE0D81DB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973C6-AEA2-102A-615E-55276AAD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F68AE-5527-F88C-E22B-6C21033BB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49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CDA3-93EE-A732-C79B-23FC2E57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E2B71-9AA9-DC74-08BF-C085FE483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A6DF4-6A38-5C88-6BB6-BDFCB5C1B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0013-2E9C-EFCA-C220-0AA7C7F76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5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D1DF-F7E7-9C89-34EE-6806E932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64915-DA49-9173-0578-D193C45C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93A9D-BBDF-4441-02CB-3904C44DF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CE1D-962B-8235-7297-A8E13A169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6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9B92F-B5F3-A4DD-4578-672443E2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453FF-A09C-7618-62D0-D901E2AB3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3A75-20C8-A1AB-0B73-06D9435E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8019C-1F80-6785-C0B4-A00124177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13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9720A-BD5F-2BB1-3748-7B37E33B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1394-53D4-F9A1-EE17-073D3CCF5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2F061-DF16-0789-096E-03FA9920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A055-46F7-2949-DCA0-A4D7545C8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B5CA3-8211-42A8-910D-7267E556D89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8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2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4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8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2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3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1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6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9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52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5127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55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8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0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82223-339E-43E3-8B2A-3190904E0B8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EE051E-5B62-43D4-8DEB-3CFD7AF76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0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C7884F-C428-E4E7-266C-50EA91FB6A46}"/>
              </a:ext>
            </a:extLst>
          </p:cNvPr>
          <p:cNvSpPr/>
          <p:nvPr/>
        </p:nvSpPr>
        <p:spPr>
          <a:xfrm>
            <a:off x="3018504" y="2121760"/>
            <a:ext cx="5152104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ARRAY IN JAVASCRIPT</a:t>
            </a:r>
          </a:p>
        </p:txBody>
      </p:sp>
    </p:spTree>
    <p:extLst>
      <p:ext uri="{BB962C8B-B14F-4D97-AF65-F5344CB8AC3E}">
        <p14:creationId xmlns:p14="http://schemas.microsoft.com/office/powerpoint/2010/main" val="44593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2D0A32-630D-D0D7-D8B8-2FD0AD685575}"/>
              </a:ext>
            </a:extLst>
          </p:cNvPr>
          <p:cNvSpPr txBox="1"/>
          <p:nvPr/>
        </p:nvSpPr>
        <p:spPr>
          <a:xfrm>
            <a:off x="1032387" y="835742"/>
            <a:ext cx="745285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What is an Array?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An array is like a container that stores multiple related values in one place. It helps us organize, access, and manage data easily instead of creating separate variables for each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code, an array named </a:t>
            </a:r>
            <a:r>
              <a:rPr lang="en-US" b="1" dirty="0"/>
              <a:t>fruits</a:t>
            </a:r>
            <a:r>
              <a:rPr lang="en-US" dirty="0"/>
              <a:t> is created using the </a:t>
            </a:r>
            <a:r>
              <a:rPr lang="en-US" b="1" dirty="0"/>
              <a:t>var</a:t>
            </a:r>
            <a:r>
              <a:rPr lang="en-US" dirty="0"/>
              <a:t> keyword. The array stores three fruit names: Apple, Banana, Mango and Orange in a single variable. Each value inside the array is called an </a:t>
            </a:r>
            <a:r>
              <a:rPr lang="en-US" b="1" dirty="0"/>
              <a:t>element</a:t>
            </a:r>
            <a:r>
              <a:rPr lang="en-US" dirty="0"/>
              <a:t>, and elements are stored in any order we like.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Output we get: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1229-1469-CD19-8936-75E39EE4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88" y="2467326"/>
            <a:ext cx="6609932" cy="94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D83A4-601F-7939-4B4C-ED9ED84D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69" y="5087219"/>
            <a:ext cx="3599064" cy="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8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60E5-791D-9A01-3EB9-95EE50D7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A04545-3DEC-C567-621E-0FE16F844AA3}"/>
              </a:ext>
            </a:extLst>
          </p:cNvPr>
          <p:cNvSpPr txBox="1"/>
          <p:nvPr/>
        </p:nvSpPr>
        <p:spPr>
          <a:xfrm>
            <a:off x="1032387" y="835742"/>
            <a:ext cx="762983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Why do we use Arrays?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r>
              <a:rPr lang="en-US" dirty="0"/>
              <a:t>Arrays can store large amounts of related data efficiently. They reduce code repetition and make it easier to access, update, and manage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r>
              <a:rPr lang="en-US" dirty="0"/>
              <a:t>This array stores multiple fruit names in one variable, making the data easier to handle.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Output we get: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B6B760-BCEE-17DA-4B02-91D7C435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88" y="2319846"/>
            <a:ext cx="6609932" cy="94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35181-57A7-BFE6-5777-2046EB74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495" y="4516950"/>
            <a:ext cx="3599064" cy="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59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A8EAA-5D4B-BD7C-DBA8-966E7E2E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AA566E-F450-2B55-181D-03433CBE94D0}"/>
              </a:ext>
            </a:extLst>
          </p:cNvPr>
          <p:cNvSpPr txBox="1"/>
          <p:nvPr/>
        </p:nvSpPr>
        <p:spPr>
          <a:xfrm>
            <a:off x="1032386" y="727591"/>
            <a:ext cx="7944465" cy="479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lang="en-US" sz="2000" b="1" u="sng" dirty="0">
                <a:solidFill>
                  <a:schemeClr val="accent1"/>
                </a:solidFill>
              </a:rPr>
              <a:t>Types of Arrays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endParaRPr lang="en-US" sz="2000" b="1" u="sng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1. </a:t>
            </a:r>
            <a:r>
              <a:rPr lang="en-US" b="1" u="sng" dirty="0">
                <a:solidFill>
                  <a:schemeClr val="accent1"/>
                </a:solidFill>
              </a:rPr>
              <a:t>Single-Dimensional Array (1D Array)</a:t>
            </a:r>
          </a:p>
          <a:p>
            <a:r>
              <a:rPr lang="en-US" dirty="0"/>
              <a:t>Thy are the simplest type of array that stores values in a single list or sequence. </a:t>
            </a:r>
            <a:r>
              <a:rPr lang="en-US" b="1" u="sng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List of names, Product list and Marks list.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2. </a:t>
            </a:r>
            <a:r>
              <a:rPr lang="en-US" b="1" u="sng" dirty="0">
                <a:solidFill>
                  <a:schemeClr val="accent1"/>
                </a:solidFill>
              </a:rPr>
              <a:t>Multidimensional Array (2D Array)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It is an array that contains one or more arrays inside it. It is used to store data in rows and columns.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Student marks table, Matrix.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42FED-5DBF-F695-5713-4FE3AA80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4" t="-6211" r="6397"/>
          <a:stretch>
            <a:fillRect/>
          </a:stretch>
        </p:blipFill>
        <p:spPr>
          <a:xfrm>
            <a:off x="1111047" y="2464121"/>
            <a:ext cx="5211096" cy="906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E30BA5-CD0F-942B-30B4-37706715F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63" y="2731046"/>
            <a:ext cx="2979631" cy="63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1DFA2-76E9-1B0E-6E72-E4F1F081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8E7CA-3DDB-9BBC-6E6A-512BEE76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44" y="1004422"/>
            <a:ext cx="6064194" cy="3242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90844-179A-44F1-C618-144598C28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64" y="5068688"/>
            <a:ext cx="3936264" cy="8661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3C9F73-C8E6-CA98-A8DC-3CAD45F0CCAE}"/>
              </a:ext>
            </a:extLst>
          </p:cNvPr>
          <p:cNvSpPr txBox="1"/>
          <p:nvPr/>
        </p:nvSpPr>
        <p:spPr>
          <a:xfrm>
            <a:off x="1234164" y="4572000"/>
            <a:ext cx="596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8311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50C6-2266-D18B-5C1C-2334D699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0F1AF-E3FB-B343-FC1C-40218C422A10}"/>
              </a:ext>
            </a:extLst>
          </p:cNvPr>
          <p:cNvSpPr txBox="1"/>
          <p:nvPr/>
        </p:nvSpPr>
        <p:spPr>
          <a:xfrm>
            <a:off x="1032386" y="727591"/>
            <a:ext cx="7944465" cy="568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3. </a:t>
            </a:r>
            <a:r>
              <a:rPr lang="en-US" b="1" u="sng" dirty="0">
                <a:solidFill>
                  <a:schemeClr val="accent1"/>
                </a:solidFill>
              </a:rPr>
              <a:t>Three-Dimensional Array (3D Array)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It is  an array contains arrays inside arrays inside another array. It is used to store complex data in multiple layers.. </a:t>
            </a:r>
            <a:r>
              <a:rPr lang="en-US" b="1" u="sng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3D graphics, image processing, scientific data, and game development.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      </a:t>
            </a:r>
            <a:r>
              <a:rPr lang="en-US" b="1" u="sng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BFB48A-F146-D5C7-8C12-B1F5A57B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00" y="2180443"/>
            <a:ext cx="5697329" cy="2890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E7FFC-BED2-5F19-9BB3-7526B840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341" y="5259921"/>
            <a:ext cx="2330902" cy="71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5633-0478-2153-EDF6-5835F85C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408D6-7F43-986B-833A-601D7C0CE4FF}"/>
              </a:ext>
            </a:extLst>
          </p:cNvPr>
          <p:cNvSpPr txBox="1"/>
          <p:nvPr/>
        </p:nvSpPr>
        <p:spPr>
          <a:xfrm>
            <a:off x="1032386" y="727591"/>
            <a:ext cx="7944465" cy="6319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4. </a:t>
            </a:r>
            <a:r>
              <a:rPr lang="en-US" b="1" u="sng" dirty="0">
                <a:solidFill>
                  <a:schemeClr val="accent1"/>
                </a:solidFill>
              </a:rPr>
              <a:t>Array of Objects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An array of objects stores multiple objects inside a single array. Each object contains different properties and values.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student management systems, online shopping websites, employee records, and user databases.</a:t>
            </a:r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BFB03-70F8-FB5E-0246-44C20B1F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1" y="2530452"/>
            <a:ext cx="6965323" cy="30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3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1537-3FB7-7CE5-CCC4-D9E27B02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C91B86-0BB1-93B1-44A6-36B48F98FF5D}"/>
              </a:ext>
            </a:extLst>
          </p:cNvPr>
          <p:cNvSpPr txBox="1"/>
          <p:nvPr/>
        </p:nvSpPr>
        <p:spPr>
          <a:xfrm>
            <a:off x="1032386" y="727591"/>
            <a:ext cx="7944465" cy="507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"/>
              </a:spcBef>
              <a:spcAft>
                <a:spcPts val="50"/>
              </a:spcAft>
            </a:pPr>
            <a:endParaRPr lang="en-US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Output: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b="1" dirty="0">
                <a:solidFill>
                  <a:schemeClr val="accent1"/>
                </a:solidFill>
              </a:rPr>
              <a:t>5. </a:t>
            </a:r>
            <a:r>
              <a:rPr lang="en-US" b="1" u="sng" dirty="0">
                <a:solidFill>
                  <a:schemeClr val="accent1"/>
                </a:solidFill>
              </a:rPr>
              <a:t>Heterogeneous Array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r>
              <a:rPr lang="en-US" dirty="0"/>
              <a:t>A heterogeneous array stores different types of data values, such as strings, numbers, and Boolean values, in a single array. </a:t>
            </a: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 collection contains different types of information, such as user details containing a name, age, account status, and rating.</a:t>
            </a:r>
          </a:p>
          <a:p>
            <a:pPr>
              <a:spcBef>
                <a:spcPts val="50"/>
              </a:spcBef>
              <a:spcAft>
                <a:spcPts val="50"/>
              </a:spcAft>
            </a:pP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183EF-9870-F8FF-D2F2-34333199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49" y="808871"/>
            <a:ext cx="2536311" cy="843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DB888-8960-46E9-AA93-27A4809A4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85" y="3620732"/>
            <a:ext cx="7226419" cy="1042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1D66ED-5C4C-FCA2-4DE9-73AB4F5A0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222" y="4999963"/>
            <a:ext cx="3642676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31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626C-E705-506E-44DD-488AAEE9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09D8AF-EA14-C9E3-B1FA-B1139B237C95}"/>
              </a:ext>
            </a:extLst>
          </p:cNvPr>
          <p:cNvSpPr txBox="1"/>
          <p:nvPr/>
        </p:nvSpPr>
        <p:spPr>
          <a:xfrm>
            <a:off x="1032387" y="737420"/>
            <a:ext cx="745285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1"/>
                </a:solidFill>
              </a:rPr>
              <a:t>What are Array Methods?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100" dirty="0">
              <a:solidFill>
                <a:schemeClr val="accent1"/>
              </a:solidFill>
            </a:endParaRPr>
          </a:p>
          <a:p>
            <a:r>
              <a:rPr lang="en-US" dirty="0"/>
              <a:t>Array methods are built-in functions in JavaScript that help us perform different operations on arrays easily, such as adding, removing, searching, sorting, and modifying data. </a:t>
            </a:r>
            <a:r>
              <a:rPr lang="en-US" b="1" u="sng" dirty="0">
                <a:solidFill>
                  <a:schemeClr val="accent1"/>
                </a:solidFill>
              </a:rPr>
              <a:t>For example</a:t>
            </a:r>
            <a:r>
              <a:rPr lang="en-US" dirty="0"/>
              <a:t>, instead of writing long code to add or remove values, we can use built-in array methods like push(), pop(), sort() and find().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u="sng" dirty="0">
                <a:solidFill>
                  <a:schemeClr val="accent1"/>
                </a:solidFill>
              </a:rPr>
              <a:t>Output: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7B7352-6604-7B6B-C9EC-96D5C11C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06"/>
          <a:stretch>
            <a:fillRect/>
          </a:stretch>
        </p:blipFill>
        <p:spPr>
          <a:xfrm>
            <a:off x="1145101" y="2853135"/>
            <a:ext cx="6740370" cy="1475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0D4E41-7096-C73E-99BA-02E2F42A2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01" y="4591953"/>
            <a:ext cx="4395976" cy="163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519E-7480-EE6F-4E5C-5216BEA5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E95392-1ABF-50A3-BC0D-3908CDAE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81"/>
          <a:stretch>
            <a:fillRect/>
          </a:stretch>
        </p:blipFill>
        <p:spPr>
          <a:xfrm>
            <a:off x="1088460" y="1772725"/>
            <a:ext cx="7643227" cy="3910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17021C-7E65-3646-8CFC-4D9C4AD50DC7}"/>
              </a:ext>
            </a:extLst>
          </p:cNvPr>
          <p:cNvSpPr txBox="1"/>
          <p:nvPr/>
        </p:nvSpPr>
        <p:spPr>
          <a:xfrm>
            <a:off x="2310579" y="865241"/>
            <a:ext cx="5073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ARRAY METHODS</a:t>
            </a:r>
          </a:p>
        </p:txBody>
      </p:sp>
    </p:spTree>
    <p:extLst>
      <p:ext uri="{BB962C8B-B14F-4D97-AF65-F5344CB8AC3E}">
        <p14:creationId xmlns:p14="http://schemas.microsoft.com/office/powerpoint/2010/main" val="70357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F9FC59-8D54-6435-2F3B-DF2D9F68DA9B}"/>
              </a:ext>
            </a:extLst>
          </p:cNvPr>
          <p:cNvSpPr txBox="1"/>
          <p:nvPr/>
        </p:nvSpPr>
        <p:spPr>
          <a:xfrm>
            <a:off x="1042220" y="678432"/>
            <a:ext cx="78363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u="sng" dirty="0">
                <a:solidFill>
                  <a:schemeClr val="accent1"/>
                </a:solidFill>
              </a:rPr>
              <a:t>sort()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It arranges array elements in ascending alphabetical order.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2. </a:t>
            </a:r>
            <a:r>
              <a:rPr lang="en-US" b="1" u="sng" dirty="0">
                <a:solidFill>
                  <a:schemeClr val="accent1"/>
                </a:solidFill>
              </a:rPr>
              <a:t>reverse()</a:t>
            </a:r>
          </a:p>
          <a:p>
            <a:r>
              <a:rPr lang="en-US" dirty="0"/>
              <a:t>It changes the order of elements by reversing the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7C94F4-1773-78CD-4CC0-77307BE9A4C2}"/>
              </a:ext>
            </a:extLst>
          </p:cNvPr>
          <p:cNvGrpSpPr/>
          <p:nvPr/>
        </p:nvGrpSpPr>
        <p:grpSpPr>
          <a:xfrm>
            <a:off x="1140839" y="1472068"/>
            <a:ext cx="5997381" cy="1904416"/>
            <a:chOff x="1140839" y="1708036"/>
            <a:chExt cx="5997381" cy="19044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C895D4-4FC2-8C54-7286-41F614E9B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544"/>
            <a:stretch>
              <a:fillRect/>
            </a:stretch>
          </p:blipFill>
          <p:spPr>
            <a:xfrm>
              <a:off x="1140839" y="1708036"/>
              <a:ext cx="5997380" cy="106401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BDD7E0-832D-D348-BCCC-F254793AF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840" y="2904100"/>
              <a:ext cx="5997380" cy="70835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BD9A65-E994-B039-906B-62FC62A1A6B4}"/>
              </a:ext>
            </a:extLst>
          </p:cNvPr>
          <p:cNvGrpSpPr/>
          <p:nvPr/>
        </p:nvGrpSpPr>
        <p:grpSpPr>
          <a:xfrm>
            <a:off x="1092200" y="4367591"/>
            <a:ext cx="6046020" cy="1875077"/>
            <a:chOff x="1092200" y="4469191"/>
            <a:chExt cx="6046020" cy="18750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2F129E-9C2B-687B-032B-AA4B225B7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8868"/>
            <a:stretch>
              <a:fillRect/>
            </a:stretch>
          </p:blipFill>
          <p:spPr>
            <a:xfrm>
              <a:off x="1140840" y="4469191"/>
              <a:ext cx="5997380" cy="9860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984C082-98E0-D5F6-A742-927FE7AC4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20" r="1"/>
            <a:stretch>
              <a:fillRect/>
            </a:stretch>
          </p:blipFill>
          <p:spPr>
            <a:xfrm>
              <a:off x="1092200" y="5553436"/>
              <a:ext cx="6046019" cy="790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606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1010-EE7A-A702-E617-84155DA2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FB0D25-DD11-EC8F-46B2-BA2401D9EF26}"/>
              </a:ext>
            </a:extLst>
          </p:cNvPr>
          <p:cNvSpPr txBox="1"/>
          <p:nvPr/>
        </p:nvSpPr>
        <p:spPr>
          <a:xfrm>
            <a:off x="1074877" y="678432"/>
            <a:ext cx="7836310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3. </a:t>
            </a:r>
            <a:r>
              <a:rPr lang="en-US" b="1" u="sng" dirty="0">
                <a:solidFill>
                  <a:schemeClr val="accent1"/>
                </a:solidFill>
              </a:rPr>
              <a:t>pop()</a:t>
            </a:r>
          </a:p>
          <a:p>
            <a:r>
              <a:rPr lang="en-US" dirty="0"/>
              <a:t>It removes the last element from an array.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4. </a:t>
            </a:r>
            <a:r>
              <a:rPr lang="en-US" b="1" u="sng" dirty="0">
                <a:solidFill>
                  <a:schemeClr val="accent1"/>
                </a:solidFill>
              </a:rPr>
              <a:t>push()</a:t>
            </a:r>
          </a:p>
          <a:p>
            <a:r>
              <a:rPr lang="en-US" dirty="0"/>
              <a:t>It adds a new element at the end of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036CD-B2B2-909B-AC18-B59FE68F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b="49996"/>
          <a:stretch>
            <a:fillRect/>
          </a:stretch>
        </p:blipFill>
        <p:spPr>
          <a:xfrm>
            <a:off x="1175945" y="1425852"/>
            <a:ext cx="6350370" cy="108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7FE63-67F0-5934-2498-81683852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09"/>
          <a:stretch>
            <a:fillRect/>
          </a:stretch>
        </p:blipFill>
        <p:spPr>
          <a:xfrm>
            <a:off x="1197715" y="2594368"/>
            <a:ext cx="6412982" cy="73380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2CF16EC-6717-7BAB-527D-D47C88C15AF8}"/>
              </a:ext>
            </a:extLst>
          </p:cNvPr>
          <p:cNvGrpSpPr/>
          <p:nvPr/>
        </p:nvGrpSpPr>
        <p:grpSpPr>
          <a:xfrm>
            <a:off x="1208601" y="4354461"/>
            <a:ext cx="6412982" cy="1716247"/>
            <a:chOff x="1208601" y="4398005"/>
            <a:chExt cx="6412982" cy="171624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3ECA5D-54D0-B3C9-5415-FC2817012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691"/>
            <a:stretch>
              <a:fillRect/>
            </a:stretch>
          </p:blipFill>
          <p:spPr>
            <a:xfrm>
              <a:off x="1208601" y="5428452"/>
              <a:ext cx="6412982" cy="6858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E2EFFC-52E6-0CB0-1703-7D8B18FBE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27" t="53504"/>
            <a:stretch>
              <a:fillRect/>
            </a:stretch>
          </p:blipFill>
          <p:spPr>
            <a:xfrm>
              <a:off x="1208601" y="4398005"/>
              <a:ext cx="6350370" cy="1012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3848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9F63-DFC1-A3F0-793B-88A03B08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A9418-9094-CE10-2CD6-0BC71914B8FF}"/>
              </a:ext>
            </a:extLst>
          </p:cNvPr>
          <p:cNvSpPr txBox="1"/>
          <p:nvPr/>
        </p:nvSpPr>
        <p:spPr>
          <a:xfrm>
            <a:off x="1074877" y="678432"/>
            <a:ext cx="7836310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5. </a:t>
            </a:r>
            <a:r>
              <a:rPr lang="en-US" b="1" u="sng" dirty="0">
                <a:solidFill>
                  <a:schemeClr val="accent1"/>
                </a:solidFill>
              </a:rPr>
              <a:t>shift()</a:t>
            </a:r>
          </a:p>
          <a:p>
            <a:r>
              <a:rPr lang="en-US" dirty="0"/>
              <a:t>It removes the first element of an array.</a:t>
            </a:r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6. </a:t>
            </a:r>
            <a:r>
              <a:rPr lang="en-US" b="1" u="sng" dirty="0">
                <a:solidFill>
                  <a:schemeClr val="accent1"/>
                </a:solidFill>
              </a:rPr>
              <a:t>unshift()</a:t>
            </a:r>
          </a:p>
          <a:p>
            <a:r>
              <a:rPr lang="en-US" dirty="0"/>
              <a:t>It adds the element at the start of an array.</a:t>
            </a:r>
            <a:endParaRPr lang="en-US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4F7B8-FDCE-AFF5-2C61-C1D104AE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b="49996"/>
          <a:stretch>
            <a:fillRect/>
          </a:stretch>
        </p:blipFill>
        <p:spPr>
          <a:xfrm>
            <a:off x="1175945" y="1425852"/>
            <a:ext cx="6350370" cy="108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CF72C2-E80F-E190-E6B8-E05D5382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09"/>
          <a:stretch>
            <a:fillRect/>
          </a:stretch>
        </p:blipFill>
        <p:spPr>
          <a:xfrm>
            <a:off x="1208601" y="2583482"/>
            <a:ext cx="6412982" cy="7338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D8C30E-C242-BFF1-D969-08E7EC3E842C}"/>
              </a:ext>
            </a:extLst>
          </p:cNvPr>
          <p:cNvGrpSpPr/>
          <p:nvPr/>
        </p:nvGrpSpPr>
        <p:grpSpPr>
          <a:xfrm>
            <a:off x="1208601" y="4338726"/>
            <a:ext cx="6412982" cy="1721096"/>
            <a:chOff x="1219487" y="4436700"/>
            <a:chExt cx="6412982" cy="172109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EF6FB2-94F8-EAD8-8EDC-B015008B1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691"/>
            <a:stretch>
              <a:fillRect/>
            </a:stretch>
          </p:blipFill>
          <p:spPr>
            <a:xfrm>
              <a:off x="1219487" y="5471996"/>
              <a:ext cx="6412982" cy="6858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5B56DF-F101-DE59-FF9A-C1D9E94E2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27" t="53504"/>
            <a:stretch>
              <a:fillRect/>
            </a:stretch>
          </p:blipFill>
          <p:spPr>
            <a:xfrm>
              <a:off x="1219487" y="4436700"/>
              <a:ext cx="6350370" cy="1012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724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D2E8-A110-8306-4B32-747FED04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4B03BC-4FD0-D338-77BE-7B1DABF4D972}"/>
              </a:ext>
            </a:extLst>
          </p:cNvPr>
          <p:cNvSpPr txBox="1"/>
          <p:nvPr/>
        </p:nvSpPr>
        <p:spPr>
          <a:xfrm>
            <a:off x="1074877" y="678432"/>
            <a:ext cx="7836310" cy="468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7. </a:t>
            </a:r>
            <a:r>
              <a:rPr lang="en-US" b="1" u="sng" dirty="0">
                <a:solidFill>
                  <a:schemeClr val="accent1"/>
                </a:solidFill>
              </a:rPr>
              <a:t>concat()</a:t>
            </a:r>
          </a:p>
          <a:p>
            <a:r>
              <a:rPr lang="en-US" dirty="0"/>
              <a:t>It combines two or more arrays into a new array.</a:t>
            </a: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b="1" u="sng" dirty="0">
              <a:solidFill>
                <a:schemeClr val="accent1"/>
              </a:solidFill>
            </a:endParaRPr>
          </a:p>
          <a:p>
            <a:endParaRPr lang="en-US" sz="1050" b="1" u="sng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242E1-D6CC-B446-487C-E94C6F05B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9" b="28223"/>
          <a:stretch>
            <a:fillRect/>
          </a:stretch>
        </p:blipFill>
        <p:spPr>
          <a:xfrm>
            <a:off x="1173211" y="1437533"/>
            <a:ext cx="7737975" cy="23454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71FCE-E47D-CC57-42F8-F303F7F5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11" y="3836392"/>
            <a:ext cx="8880107" cy="141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32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E3A3-B2B5-AA09-A7F9-22D67D9F9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2BCA48-B8FE-CBFB-29D6-779D1CE9AFA1}"/>
              </a:ext>
            </a:extLst>
          </p:cNvPr>
          <p:cNvSpPr txBox="1"/>
          <p:nvPr/>
        </p:nvSpPr>
        <p:spPr>
          <a:xfrm>
            <a:off x="1074877" y="678432"/>
            <a:ext cx="783631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8. </a:t>
            </a:r>
            <a:r>
              <a:rPr lang="en-US" b="1" u="sng" dirty="0">
                <a:solidFill>
                  <a:schemeClr val="accent1"/>
                </a:solidFill>
              </a:rPr>
              <a:t>join()</a:t>
            </a:r>
          </a:p>
          <a:p>
            <a:r>
              <a:rPr lang="en-US" dirty="0"/>
              <a:t>It converts array elements into a string using a separator.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r>
              <a:rPr lang="en-US" b="1" dirty="0">
                <a:solidFill>
                  <a:schemeClr val="accent1"/>
                </a:solidFill>
              </a:rPr>
              <a:t>9. </a:t>
            </a:r>
            <a:r>
              <a:rPr lang="en-US" b="1" u="sng" dirty="0">
                <a:solidFill>
                  <a:schemeClr val="accent1"/>
                </a:solidFill>
              </a:rPr>
              <a:t>slice()</a:t>
            </a:r>
          </a:p>
          <a:p>
            <a:r>
              <a:rPr lang="en-US" dirty="0"/>
              <a:t>It extracts a part of an array without changing the original array.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164F8F-6D0C-DFD1-F05F-0EC9E907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767" r="20476" b="463"/>
          <a:stretch>
            <a:fillRect/>
          </a:stretch>
        </p:blipFill>
        <p:spPr>
          <a:xfrm>
            <a:off x="1135838" y="1354538"/>
            <a:ext cx="6574151" cy="8552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5788D-8F13-CFDD-B917-A34A74DA9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621" r="21681" b="3415"/>
          <a:stretch>
            <a:fillRect/>
          </a:stretch>
        </p:blipFill>
        <p:spPr>
          <a:xfrm>
            <a:off x="1120597" y="2240280"/>
            <a:ext cx="5833923" cy="34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57648A-11C8-4FF5-8B5B-F667489F75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33" t="2456" r="7333" b="53127"/>
          <a:stretch>
            <a:fillRect/>
          </a:stretch>
        </p:blipFill>
        <p:spPr>
          <a:xfrm>
            <a:off x="1135838" y="3610969"/>
            <a:ext cx="6946278" cy="207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6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89AF-E87F-3890-C1DC-3E9567B7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8F0251-CE0B-6996-421C-B9165E824C72}"/>
              </a:ext>
            </a:extLst>
          </p:cNvPr>
          <p:cNvSpPr txBox="1"/>
          <p:nvPr/>
        </p:nvSpPr>
        <p:spPr>
          <a:xfrm>
            <a:off x="1074877" y="678432"/>
            <a:ext cx="765616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slice()</a:t>
            </a:r>
            <a:r>
              <a:rPr lang="en-US" dirty="0"/>
              <a:t> method is used to </a:t>
            </a:r>
            <a:r>
              <a:rPr lang="en-US" b="1" dirty="0"/>
              <a:t>extract a part of an array</a:t>
            </a:r>
            <a:r>
              <a:rPr lang="en-US" dirty="0"/>
              <a:t> and return it as a </a:t>
            </a:r>
            <a:r>
              <a:rPr lang="en-US" b="1" dirty="0"/>
              <a:t>new array</a:t>
            </a:r>
            <a:r>
              <a:rPr lang="en-US" dirty="0"/>
              <a:t> without changing the original array. It takes two values: the starting index and the ending index (ending index is not included). In this example, slice(1,6) returns values from index </a:t>
            </a:r>
            <a:r>
              <a:rPr lang="en-US" b="1" dirty="0"/>
              <a:t>1 to 5</a:t>
            </a:r>
            <a:r>
              <a:rPr lang="en-US" dirty="0"/>
              <a:t>, slice(3) returns values from index </a:t>
            </a:r>
            <a:r>
              <a:rPr lang="en-US" b="1" dirty="0"/>
              <a:t>3 till the end</a:t>
            </a:r>
            <a:r>
              <a:rPr lang="en-US" dirty="0"/>
              <a:t>, and negative values like slice(-6) or slice(-5,-1) start counting from the </a:t>
            </a:r>
            <a:r>
              <a:rPr lang="en-US" b="1" dirty="0"/>
              <a:t>end of the array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10. </a:t>
            </a:r>
            <a:r>
              <a:rPr lang="en-US" b="1" u="sng" dirty="0">
                <a:solidFill>
                  <a:schemeClr val="accent1"/>
                </a:solidFill>
              </a:rPr>
              <a:t>splice()</a:t>
            </a:r>
          </a:p>
          <a:p>
            <a:r>
              <a:rPr lang="en-US" dirty="0"/>
              <a:t>It adds, removes, or replaces elements in an array.</a:t>
            </a:r>
          </a:p>
          <a:p>
            <a:endParaRPr lang="en-US" dirty="0"/>
          </a:p>
          <a:p>
            <a:r>
              <a:rPr lang="en-US" dirty="0"/>
              <a:t>In this example, splice() can be used to add new values without deleting anything, remove a value and replace it with a new one, or simply delete values from a specific index.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2080F-B263-82AD-011E-5D8E9CA1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76" y="2711882"/>
            <a:ext cx="4293537" cy="10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5096-B613-CAED-FD92-10C50950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53077E-4DEC-7B8C-F7ED-763C3DAF64C2}"/>
              </a:ext>
            </a:extLst>
          </p:cNvPr>
          <p:cNvSpPr txBox="1"/>
          <p:nvPr/>
        </p:nvSpPr>
        <p:spPr>
          <a:xfrm>
            <a:off x="1074879" y="1464259"/>
            <a:ext cx="81230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For example, e.splice(1,0,"BFT","BSCS") adds new values at index 1, e.splice(-2,1,"ADPSE") removes one value and adds a new value in its place, and e.splice(2,2) deletes two values starting from index 2.</a:t>
            </a:r>
            <a:endParaRPr lang="en-US" sz="1700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15294D-3B1B-E4E5-E320-9228839AB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20" r="1"/>
          <a:stretch>
            <a:fillRect/>
          </a:stretch>
        </p:blipFill>
        <p:spPr>
          <a:xfrm>
            <a:off x="1074878" y="2505658"/>
            <a:ext cx="8123085" cy="22059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6F71C8-3328-F553-1233-47242F168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315" b="52190"/>
          <a:stretch>
            <a:fillRect/>
          </a:stretch>
        </p:blipFill>
        <p:spPr>
          <a:xfrm>
            <a:off x="1074878" y="4873041"/>
            <a:ext cx="3388968" cy="104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9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DACE-A60F-3D3E-9ACC-382396B4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C59BF-1E40-171A-1637-D3E33C74719A}"/>
              </a:ext>
            </a:extLst>
          </p:cNvPr>
          <p:cNvSpPr txBox="1"/>
          <p:nvPr/>
        </p:nvSpPr>
        <p:spPr>
          <a:xfrm>
            <a:off x="1074877" y="678432"/>
            <a:ext cx="78363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11. </a:t>
            </a:r>
            <a:r>
              <a:rPr lang="en-US" b="1" u="sng" dirty="0">
                <a:solidFill>
                  <a:schemeClr val="accent1"/>
                </a:solidFill>
              </a:rPr>
              <a:t>isArray()</a:t>
            </a:r>
          </a:p>
          <a:p>
            <a:r>
              <a:rPr lang="en-US" dirty="0"/>
              <a:t>It checks whether a value is an array or not.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4B90B1-2CDC-BFC3-FE41-D45513F2B83C}"/>
              </a:ext>
            </a:extLst>
          </p:cNvPr>
          <p:cNvGrpSpPr/>
          <p:nvPr/>
        </p:nvGrpSpPr>
        <p:grpSpPr>
          <a:xfrm>
            <a:off x="1219665" y="1418113"/>
            <a:ext cx="6695302" cy="4761455"/>
            <a:chOff x="1317988" y="824256"/>
            <a:chExt cx="6695302" cy="47614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E401CE-99E0-5599-BE5C-15446EB36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263"/>
            <a:stretch>
              <a:fillRect/>
            </a:stretch>
          </p:blipFill>
          <p:spPr>
            <a:xfrm>
              <a:off x="1317988" y="824256"/>
              <a:ext cx="6695302" cy="373642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243CDF-9194-6D1F-20C9-412D5738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7988" y="4706509"/>
              <a:ext cx="5171302" cy="879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469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740F-804A-0596-880B-CBAA4C1C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9BD9ED-395D-C2B6-0F3D-77D12AC43992}"/>
              </a:ext>
            </a:extLst>
          </p:cNvPr>
          <p:cNvSpPr txBox="1"/>
          <p:nvPr/>
        </p:nvSpPr>
        <p:spPr>
          <a:xfrm>
            <a:off x="1074877" y="678432"/>
            <a:ext cx="78363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12.</a:t>
            </a:r>
            <a:r>
              <a:rPr lang="en-US" b="1" dirty="0"/>
              <a:t> </a:t>
            </a:r>
            <a:r>
              <a:rPr lang="en-US" b="1" u="sng" dirty="0">
                <a:solidFill>
                  <a:schemeClr val="accent1"/>
                </a:solidFill>
              </a:rPr>
              <a:t>indexOf()</a:t>
            </a:r>
          </a:p>
          <a:p>
            <a:r>
              <a:rPr lang="en-US" dirty="0"/>
              <a:t>It returns the first index number of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6053C-9B18-CF60-4632-A83219FC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1" t="9704" r="11781"/>
          <a:stretch>
            <a:fillRect/>
          </a:stretch>
        </p:blipFill>
        <p:spPr>
          <a:xfrm>
            <a:off x="1074877" y="1480456"/>
            <a:ext cx="7698733" cy="357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9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1F7F-2595-66B4-75A8-E162649C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5F2929-2530-C059-1B1C-181E537D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3429000"/>
            <a:ext cx="5406363" cy="15863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B2747-5ACA-59DD-8FE2-EE0765770966}"/>
              </a:ext>
            </a:extLst>
          </p:cNvPr>
          <p:cNvSpPr txBox="1"/>
          <p:nvPr/>
        </p:nvSpPr>
        <p:spPr>
          <a:xfrm>
            <a:off x="1209368" y="1026912"/>
            <a:ext cx="75118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indexOf()</a:t>
            </a:r>
            <a:r>
              <a:rPr lang="en-US" dirty="0"/>
              <a:t> method finds the </a:t>
            </a:r>
            <a:r>
              <a:rPr lang="en-US" b="1" dirty="0"/>
              <a:t>first occurrence</a:t>
            </a:r>
            <a:r>
              <a:rPr lang="en-US" dirty="0"/>
              <a:t> of a specific value in an array and returns its </a:t>
            </a:r>
            <a:r>
              <a:rPr lang="en-US" b="1" dirty="0"/>
              <a:t>index (position)</a:t>
            </a:r>
            <a:r>
              <a:rPr lang="en-US" dirty="0"/>
              <a:t>. If the value is not found, it returns </a:t>
            </a:r>
            <a:r>
              <a:rPr lang="en-US" b="1" dirty="0"/>
              <a:t>-1</a:t>
            </a:r>
            <a:r>
              <a:rPr lang="en-US" dirty="0"/>
              <a:t>. In this example, the first indexOf("Banana") returns </a:t>
            </a:r>
            <a:r>
              <a:rPr lang="en-US" b="1" dirty="0"/>
              <a:t>1</a:t>
            </a:r>
            <a:r>
              <a:rPr lang="en-US" dirty="0"/>
              <a:t> because "Banana" first appears at index </a:t>
            </a:r>
            <a:r>
              <a:rPr lang="en-US" b="1" dirty="0"/>
              <a:t>1</a:t>
            </a:r>
            <a:r>
              <a:rPr lang="en-US" dirty="0"/>
              <a:t>. The second indexOf("Banana", 2) starts searching from </a:t>
            </a:r>
            <a:r>
              <a:rPr lang="en-US" b="1" dirty="0"/>
              <a:t>index 2</a:t>
            </a:r>
            <a:r>
              <a:rPr lang="en-US" dirty="0"/>
              <a:t>, so it finds the next "Banana" at </a:t>
            </a:r>
            <a:r>
              <a:rPr lang="en-US" b="1" dirty="0"/>
              <a:t>index 4</a:t>
            </a:r>
            <a:r>
              <a:rPr lang="en-US" dirty="0"/>
              <a:t>. When searching for "Pomegranate", the value is not in the array, so indexOf() returns </a:t>
            </a:r>
            <a:r>
              <a:rPr lang="en-US" b="1" dirty="0"/>
              <a:t>-1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044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88C4-A9D0-34DC-0A4C-03EC29B8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729C6B-275B-2E2A-F758-2F75C2CD74A5}"/>
              </a:ext>
            </a:extLst>
          </p:cNvPr>
          <p:cNvSpPr txBox="1"/>
          <p:nvPr/>
        </p:nvSpPr>
        <p:spPr>
          <a:xfrm>
            <a:off x="1074877" y="678432"/>
            <a:ext cx="783631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13.</a:t>
            </a:r>
            <a:r>
              <a:rPr lang="en-US" b="1" dirty="0"/>
              <a:t> </a:t>
            </a:r>
            <a:r>
              <a:rPr lang="en-US" b="1" u="sng" dirty="0">
                <a:solidFill>
                  <a:schemeClr val="accent1"/>
                </a:solidFill>
              </a:rPr>
              <a:t>lastIndexOf()</a:t>
            </a:r>
          </a:p>
          <a:p>
            <a:r>
              <a:rPr lang="en-US" dirty="0"/>
              <a:t>It returns the last index number of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lastIndexOf()</a:t>
            </a:r>
            <a:r>
              <a:rPr lang="en-US" dirty="0"/>
              <a:t> method finds the </a:t>
            </a:r>
            <a:r>
              <a:rPr lang="en-US" b="1" dirty="0"/>
              <a:t>last occurrence</a:t>
            </a:r>
            <a:r>
              <a:rPr lang="en-US" dirty="0"/>
              <a:t> of a specific value in an array and returns its index (position). If the value is not found, it returns </a:t>
            </a:r>
            <a:r>
              <a:rPr lang="en-US" b="1" dirty="0"/>
              <a:t>-1</a:t>
            </a:r>
            <a:r>
              <a:rPr lang="en-US" dirty="0"/>
              <a:t>. In this example, the first lastIndexOf("Alina") returns </a:t>
            </a:r>
            <a:r>
              <a:rPr lang="en-US" b="1" dirty="0"/>
              <a:t>6</a:t>
            </a:r>
            <a:r>
              <a:rPr lang="en-US" dirty="0"/>
              <a:t> because the last "Alina" is at index </a:t>
            </a:r>
            <a:r>
              <a:rPr lang="en-US" b="1" dirty="0"/>
              <a:t>6</a:t>
            </a:r>
            <a:r>
              <a:rPr lang="en-US" dirty="0"/>
              <a:t>. The second lastIndexOf("Alina", 5) starts searching </a:t>
            </a:r>
            <a:r>
              <a:rPr lang="en-US" b="1" dirty="0"/>
              <a:t>backwards from index 5</a:t>
            </a:r>
            <a:r>
              <a:rPr lang="en-US" dirty="0"/>
              <a:t>, so it finds the earlier "Alina" at </a:t>
            </a:r>
            <a:r>
              <a:rPr lang="en-US" b="1" dirty="0"/>
              <a:t>index 2</a:t>
            </a:r>
            <a:r>
              <a:rPr lang="en-US" dirty="0"/>
              <a:t> and returns </a:t>
            </a:r>
            <a:r>
              <a:rPr lang="en-US" b="1" dirty="0"/>
              <a:t>2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74F08-8FD2-C3DF-4A19-52F5FC75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10" r="4133"/>
          <a:stretch>
            <a:fillRect/>
          </a:stretch>
        </p:blipFill>
        <p:spPr>
          <a:xfrm>
            <a:off x="1211307" y="1579052"/>
            <a:ext cx="7569836" cy="2026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3FFE3-1892-46FF-8240-AAD9A96C71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911" b="43661"/>
          <a:stretch>
            <a:fillRect/>
          </a:stretch>
        </p:blipFill>
        <p:spPr>
          <a:xfrm>
            <a:off x="7530248" y="2729872"/>
            <a:ext cx="2022692" cy="8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96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2A24-8263-13A6-0EB7-F5F4D006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1DDC2-C8E1-A9EA-5B15-C37E4C295463}"/>
              </a:ext>
            </a:extLst>
          </p:cNvPr>
          <p:cNvSpPr txBox="1"/>
          <p:nvPr/>
        </p:nvSpPr>
        <p:spPr>
          <a:xfrm>
            <a:off x="1182624" y="751611"/>
            <a:ext cx="783631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14. </a:t>
            </a:r>
            <a:r>
              <a:rPr lang="en-US" b="1" u="sng" dirty="0">
                <a:solidFill>
                  <a:schemeClr val="accent1"/>
                </a:solidFill>
              </a:rPr>
              <a:t>includes()</a:t>
            </a:r>
          </a:p>
          <a:p>
            <a:endParaRPr lang="en-US" sz="500" b="1" u="sng" dirty="0">
              <a:solidFill>
                <a:schemeClr val="accent1"/>
              </a:solidFill>
            </a:endParaRPr>
          </a:p>
          <a:p>
            <a:r>
              <a:rPr lang="en-US" dirty="0"/>
              <a:t>It checks whether a value exists in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includes()</a:t>
            </a:r>
            <a:r>
              <a:rPr lang="en-US" dirty="0"/>
              <a:t> method checks whether a specific value exists in an array or not. If the value is found, it returns </a:t>
            </a:r>
            <a:r>
              <a:rPr lang="en-US" b="1" dirty="0"/>
              <a:t>true</a:t>
            </a:r>
            <a:r>
              <a:rPr lang="en-US" dirty="0"/>
              <a:t>. If the value is not found, it returns </a:t>
            </a:r>
            <a:r>
              <a:rPr lang="en-US" b="1" dirty="0"/>
              <a:t>false</a:t>
            </a:r>
            <a:r>
              <a:rPr lang="en-US" dirty="0"/>
              <a:t>. In this example, the array contains </a:t>
            </a:r>
            <a:r>
              <a:rPr lang="en-US" b="1" dirty="0"/>
              <a:t>"Romi"</a:t>
            </a:r>
            <a:r>
              <a:rPr lang="en-US" dirty="0"/>
              <a:t>, so includes("Romi") returns </a:t>
            </a:r>
            <a:r>
              <a:rPr lang="en-US" b="1" dirty="0"/>
              <a:t>true</a:t>
            </a:r>
            <a:r>
              <a:rPr lang="en-US" dirty="0"/>
              <a:t>, and the message </a:t>
            </a:r>
            <a:r>
              <a:rPr lang="en-US" b="1" dirty="0"/>
              <a:t>"Yes, it is included."</a:t>
            </a:r>
            <a:r>
              <a:rPr lang="en-US" dirty="0"/>
              <a:t> is displayed.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1F1E1-F1FF-3B20-EE0F-FD92C570E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24" r="4766"/>
          <a:stretch>
            <a:fillRect/>
          </a:stretch>
        </p:blipFill>
        <p:spPr>
          <a:xfrm>
            <a:off x="1182624" y="1589768"/>
            <a:ext cx="6445092" cy="249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209F09-600D-F9BA-1312-A6ED39B413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033" r="54624"/>
          <a:stretch>
            <a:fillRect/>
          </a:stretch>
        </p:blipFill>
        <p:spPr>
          <a:xfrm>
            <a:off x="7376042" y="3477091"/>
            <a:ext cx="2218657" cy="61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3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7E7C-A1E2-FD0E-F514-29217226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8EEE8-FDB8-C865-DAF4-13022398E152}"/>
              </a:ext>
            </a:extLst>
          </p:cNvPr>
          <p:cNvSpPr txBox="1"/>
          <p:nvPr/>
        </p:nvSpPr>
        <p:spPr>
          <a:xfrm>
            <a:off x="1074877" y="678432"/>
            <a:ext cx="7836310" cy="654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15. </a:t>
            </a:r>
            <a:r>
              <a:rPr lang="en-US" b="1" u="sng" dirty="0">
                <a:solidFill>
                  <a:schemeClr val="accent1"/>
                </a:solidFill>
              </a:rPr>
              <a:t>some()</a:t>
            </a:r>
          </a:p>
          <a:p>
            <a:endParaRPr lang="en-US" sz="500" b="1" u="sng" dirty="0">
              <a:solidFill>
                <a:schemeClr val="accent1"/>
              </a:solidFill>
            </a:endParaRPr>
          </a:p>
          <a:p>
            <a:r>
              <a:rPr lang="en-US" dirty="0"/>
              <a:t>It checks if at least one element passes a condition.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some()</a:t>
            </a:r>
            <a:r>
              <a:rPr lang="en-US" dirty="0"/>
              <a:t> method checks if </a:t>
            </a:r>
            <a:r>
              <a:rPr lang="en-US" b="1" dirty="0"/>
              <a:t>at least one value</a:t>
            </a:r>
            <a:r>
              <a:rPr lang="en-US" dirty="0"/>
              <a:t> in an array matches a condition. It looks at each element one by one, and as soon as it finds a matching value, it stops checking and returns </a:t>
            </a:r>
            <a:r>
              <a:rPr lang="en-US" b="1" dirty="0"/>
              <a:t>true</a:t>
            </a:r>
            <a:r>
              <a:rPr lang="en-US" dirty="0"/>
              <a:t>. If none of the values match the condition, it returns </a:t>
            </a:r>
            <a:r>
              <a:rPr lang="en-US" b="1" dirty="0"/>
              <a:t>false</a:t>
            </a:r>
            <a:r>
              <a:rPr lang="en-US" dirty="0"/>
              <a:t>. In this example, the condition is mark &gt;= 50. Since </a:t>
            </a:r>
            <a:r>
              <a:rPr lang="en-US" b="1" dirty="0"/>
              <a:t>78</a:t>
            </a:r>
            <a:r>
              <a:rPr lang="en-US" dirty="0"/>
              <a:t> and </a:t>
            </a:r>
            <a:r>
              <a:rPr lang="en-US" b="1" dirty="0"/>
              <a:t>90</a:t>
            </a:r>
            <a:r>
              <a:rPr lang="en-US" dirty="0"/>
              <a:t> are greater than or equal to </a:t>
            </a:r>
            <a:r>
              <a:rPr lang="en-US" b="1" dirty="0"/>
              <a:t>50</a:t>
            </a:r>
            <a:r>
              <a:rPr lang="en-US" dirty="0"/>
              <a:t>, the result is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A817F-9D93-166B-70F4-B66FCAA8D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1544978"/>
            <a:ext cx="7322209" cy="255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64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7841-6B53-FD09-FCC7-624EC67C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A29DE-E082-2C6D-C183-AFFF38FD5183}"/>
              </a:ext>
            </a:extLst>
          </p:cNvPr>
          <p:cNvSpPr txBox="1"/>
          <p:nvPr/>
        </p:nvSpPr>
        <p:spPr>
          <a:xfrm>
            <a:off x="1074877" y="678432"/>
            <a:ext cx="7836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16. </a:t>
            </a:r>
            <a:r>
              <a:rPr lang="en-US" b="1" u="sng" dirty="0">
                <a:solidFill>
                  <a:schemeClr val="accent1"/>
                </a:solidFill>
              </a:rPr>
              <a:t>every()</a:t>
            </a:r>
          </a:p>
          <a:p>
            <a:r>
              <a:rPr lang="en-US" dirty="0"/>
              <a:t>It checks if all elements pass a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6D1AA-64E7-E19D-BBAB-78932B2EE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854190"/>
            <a:ext cx="4839119" cy="1074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878B2E-6CF3-46C3-7469-96A59E981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593" y="2879535"/>
            <a:ext cx="6299410" cy="31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1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6826-96D3-93AC-C3AA-28181A17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8BC11A-B5F0-C3CF-8C61-84EC93456D6A}"/>
              </a:ext>
            </a:extLst>
          </p:cNvPr>
          <p:cNvSpPr txBox="1"/>
          <p:nvPr/>
        </p:nvSpPr>
        <p:spPr>
          <a:xfrm>
            <a:off x="963562" y="678432"/>
            <a:ext cx="80919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every()</a:t>
            </a:r>
            <a:r>
              <a:rPr lang="en-US" dirty="0"/>
              <a:t> method checks whether </a:t>
            </a:r>
            <a:r>
              <a:rPr lang="en-US" b="1" dirty="0"/>
              <a:t>all elements</a:t>
            </a:r>
            <a:r>
              <a:rPr lang="en-US" dirty="0"/>
              <a:t> in an array satisfy a given condition. If </a:t>
            </a:r>
            <a:r>
              <a:rPr lang="en-US" b="1" dirty="0"/>
              <a:t>every value</a:t>
            </a:r>
            <a:r>
              <a:rPr lang="en-US" dirty="0"/>
              <a:t> matches the condition, it returns </a:t>
            </a:r>
            <a:r>
              <a:rPr lang="en-US" b="1" dirty="0"/>
              <a:t>true</a:t>
            </a:r>
            <a:r>
              <a:rPr lang="en-US" dirty="0"/>
              <a:t>. If </a:t>
            </a:r>
            <a:r>
              <a:rPr lang="en-US" b="1" dirty="0"/>
              <a:t>even one value</a:t>
            </a:r>
            <a:r>
              <a:rPr lang="en-US" dirty="0"/>
              <a:t> does not match, it returns </a:t>
            </a:r>
            <a:r>
              <a:rPr lang="en-US" b="1" dirty="0"/>
              <a:t>false</a:t>
            </a:r>
            <a:r>
              <a:rPr lang="en-US" dirty="0"/>
              <a:t>. In this example, the condition is mark &gt;= 50. Since </a:t>
            </a:r>
            <a:r>
              <a:rPr lang="en-US" b="1" dirty="0"/>
              <a:t>65, 72, 88, and 91</a:t>
            </a:r>
            <a:r>
              <a:rPr lang="en-US" dirty="0"/>
              <a:t> are all greater than or equal to </a:t>
            </a:r>
            <a:r>
              <a:rPr lang="en-US" b="1" dirty="0"/>
              <a:t>50</a:t>
            </a:r>
            <a:r>
              <a:rPr lang="en-US" dirty="0"/>
              <a:t>, every() returns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r>
              <a:rPr lang="en-US" b="1" dirty="0">
                <a:solidFill>
                  <a:schemeClr val="accent1"/>
                </a:solidFill>
              </a:rPr>
              <a:t>17. </a:t>
            </a:r>
            <a:r>
              <a:rPr lang="en-US" b="1" u="sng" dirty="0">
                <a:solidFill>
                  <a:schemeClr val="accent1"/>
                </a:solidFill>
              </a:rPr>
              <a:t>find()</a:t>
            </a:r>
          </a:p>
          <a:p>
            <a:r>
              <a:rPr lang="en-US" dirty="0"/>
              <a:t>It returns the first element that matches a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C3CF9-81CA-8D52-35A0-F365572E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62" y="2479271"/>
            <a:ext cx="3741744" cy="92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4666C-0F8C-F6C0-D65E-A8E9BACB51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142"/>
          <a:stretch>
            <a:fillRect/>
          </a:stretch>
        </p:blipFill>
        <p:spPr>
          <a:xfrm>
            <a:off x="1063833" y="4369719"/>
            <a:ext cx="6300528" cy="171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95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B34C-0EE3-FDED-B88E-365AE27D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A19A2-4805-1589-3CE1-B0B51C4714CA}"/>
              </a:ext>
            </a:extLst>
          </p:cNvPr>
          <p:cNvSpPr txBox="1"/>
          <p:nvPr/>
        </p:nvSpPr>
        <p:spPr>
          <a:xfrm>
            <a:off x="1074877" y="678432"/>
            <a:ext cx="78363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find()</a:t>
            </a:r>
            <a:r>
              <a:rPr lang="en-US" dirty="0"/>
              <a:t> method searches an array and returns the </a:t>
            </a:r>
            <a:r>
              <a:rPr lang="en-US" b="1" dirty="0"/>
              <a:t>first value</a:t>
            </a:r>
            <a:r>
              <a:rPr lang="en-US" dirty="0"/>
              <a:t> that matches a given condition. It checks each element one by one and stops as soon as it finds a matching value. If no value matches the condition, it returns </a:t>
            </a:r>
            <a:r>
              <a:rPr lang="en-US" b="1" dirty="0"/>
              <a:t>undefined</a:t>
            </a:r>
            <a:r>
              <a:rPr lang="en-US" dirty="0"/>
              <a:t>. In this example, the condition is price &gt; 200. The array contains </a:t>
            </a:r>
            <a:r>
              <a:rPr lang="en-US" b="1" dirty="0"/>
              <a:t>250</a:t>
            </a:r>
            <a:r>
              <a:rPr lang="en-US" dirty="0"/>
              <a:t> and </a:t>
            </a:r>
            <a:r>
              <a:rPr lang="en-US" b="1" dirty="0"/>
              <a:t>300 but</a:t>
            </a:r>
            <a:r>
              <a:rPr lang="en-US" dirty="0"/>
              <a:t> find() returns </a:t>
            </a:r>
            <a:r>
              <a:rPr lang="en-US" b="1" dirty="0"/>
              <a:t>250</a:t>
            </a:r>
            <a:r>
              <a:rPr lang="en-US" dirty="0"/>
              <a:t> because it is the </a:t>
            </a:r>
            <a:r>
              <a:rPr lang="en-US" b="1" dirty="0"/>
              <a:t>first</a:t>
            </a:r>
            <a:r>
              <a:rPr lang="en-US" dirty="0"/>
              <a:t> value that is greater than </a:t>
            </a:r>
            <a:r>
              <a:rPr lang="en-US" b="1" dirty="0"/>
              <a:t>200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8B707B-2420-3F0F-33F5-0B5A2A81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833" b="-2703"/>
          <a:stretch>
            <a:fillRect/>
          </a:stretch>
        </p:blipFill>
        <p:spPr>
          <a:xfrm>
            <a:off x="1345608" y="1157468"/>
            <a:ext cx="7038302" cy="1441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C6F6B-401B-8B1A-841A-55CD72D6E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" y="4825615"/>
            <a:ext cx="2400508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03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9CC2-3901-69F0-36F7-A3D77031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1991B-9843-1651-842A-07467D8F4FB0}"/>
              </a:ext>
            </a:extLst>
          </p:cNvPr>
          <p:cNvSpPr txBox="1"/>
          <p:nvPr/>
        </p:nvSpPr>
        <p:spPr>
          <a:xfrm>
            <a:off x="838902" y="474345"/>
            <a:ext cx="79904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18. </a:t>
            </a:r>
            <a:r>
              <a:rPr lang="en-US" b="1" u="sng" dirty="0">
                <a:solidFill>
                  <a:schemeClr val="accent1"/>
                </a:solidFill>
              </a:rPr>
              <a:t>findIndex()</a:t>
            </a:r>
          </a:p>
          <a:p>
            <a:r>
              <a:rPr lang="en-US" dirty="0"/>
              <a:t>It returns the index of the first matching element.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r>
              <a:rPr lang="en-US" dirty="0"/>
              <a:t>The </a:t>
            </a:r>
            <a:r>
              <a:rPr lang="en-US" b="1" dirty="0"/>
              <a:t>findIndex()</a:t>
            </a:r>
            <a:r>
              <a:rPr lang="en-US" dirty="0"/>
              <a:t> method searches an array and returns the </a:t>
            </a:r>
            <a:r>
              <a:rPr lang="en-US" b="1" dirty="0"/>
              <a:t>index (position)</a:t>
            </a:r>
            <a:r>
              <a:rPr lang="en-US" dirty="0"/>
              <a:t> of the </a:t>
            </a:r>
            <a:r>
              <a:rPr lang="en-US" b="1" dirty="0"/>
              <a:t>first value</a:t>
            </a:r>
            <a:r>
              <a:rPr lang="en-US" dirty="0"/>
              <a:t> that matches a given condition. It checks each element one by one and stops as soon as it finds a matching value. If no value matches the condition, it returns </a:t>
            </a:r>
            <a:r>
              <a:rPr lang="en-US" b="1" dirty="0"/>
              <a:t>-1</a:t>
            </a:r>
            <a:r>
              <a:rPr lang="en-US" dirty="0"/>
              <a:t>. In this example, the condition is price &gt; 200. The first value that satisfies this condition is </a:t>
            </a:r>
            <a:r>
              <a:rPr lang="en-US" b="1" dirty="0"/>
              <a:t>800</a:t>
            </a:r>
            <a:r>
              <a:rPr lang="en-US" dirty="0"/>
              <a:t>, which is at </a:t>
            </a:r>
            <a:r>
              <a:rPr lang="en-US" b="1" dirty="0"/>
              <a:t>index 2</a:t>
            </a:r>
            <a:r>
              <a:rPr lang="en-US" dirty="0"/>
              <a:t>, so findIndex() returns </a:t>
            </a:r>
            <a:r>
              <a:rPr lang="en-US" b="1" dirty="0"/>
              <a:t>2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FB7C2-3D5C-7831-3197-EDFA5090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56" y="1267641"/>
            <a:ext cx="7103963" cy="269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6BA0-4C39-1322-4EE9-70F2B820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396E63-D638-D21E-6543-ECCD1486C5A2}"/>
              </a:ext>
            </a:extLst>
          </p:cNvPr>
          <p:cNvSpPr txBox="1"/>
          <p:nvPr/>
        </p:nvSpPr>
        <p:spPr>
          <a:xfrm>
            <a:off x="1264920" y="671691"/>
            <a:ext cx="783631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19. filter()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creates a new array containing elements that satisfy a condition.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0FA9C1-9CF9-9C1A-EA9C-1BE0AED63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" r="46532"/>
          <a:stretch>
            <a:fillRect/>
          </a:stretch>
        </p:blipFill>
        <p:spPr>
          <a:xfrm>
            <a:off x="1264920" y="877509"/>
            <a:ext cx="1615440" cy="1065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CA22C6-6CD1-042B-B55D-7EF1B2D94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076" y="2955182"/>
            <a:ext cx="7637689" cy="28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19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AB63-102A-8D2A-334E-3210C096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4FC55-3630-9499-EE33-F39FAA9A109A}"/>
              </a:ext>
            </a:extLst>
          </p:cNvPr>
          <p:cNvSpPr txBox="1"/>
          <p:nvPr/>
        </p:nvSpPr>
        <p:spPr>
          <a:xfrm>
            <a:off x="1264920" y="671691"/>
            <a:ext cx="76431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The </a:t>
            </a:r>
            <a:r>
              <a:rPr lang="en-US" b="1" dirty="0"/>
              <a:t>filter()</a:t>
            </a:r>
            <a:r>
              <a:rPr lang="en-US" dirty="0"/>
              <a:t> method creates a </a:t>
            </a:r>
            <a:r>
              <a:rPr lang="en-US" b="1" dirty="0"/>
              <a:t>new array</a:t>
            </a:r>
            <a:r>
              <a:rPr lang="en-US" dirty="0"/>
              <a:t> containing </a:t>
            </a:r>
            <a:r>
              <a:rPr lang="en-US" b="1" dirty="0"/>
              <a:t>all the values</a:t>
            </a:r>
            <a:r>
              <a:rPr lang="en-US" dirty="0"/>
              <a:t> that match a given condition. It checks every element in the array and keeps only the values that satisfy the condition. If no value matches, it returns an </a:t>
            </a:r>
            <a:r>
              <a:rPr lang="en-US" b="1" dirty="0"/>
              <a:t>empty array</a:t>
            </a:r>
            <a:r>
              <a:rPr lang="en-US" dirty="0"/>
              <a:t>. In this example, the condition is price &gt; 200. Since </a:t>
            </a:r>
            <a:r>
              <a:rPr lang="en-US" b="1" dirty="0"/>
              <a:t>800</a:t>
            </a:r>
            <a:r>
              <a:rPr lang="en-US" dirty="0"/>
              <a:t> and </a:t>
            </a:r>
            <a:r>
              <a:rPr lang="en-US" b="1" dirty="0"/>
              <a:t>300</a:t>
            </a:r>
            <a:r>
              <a:rPr lang="en-US" dirty="0"/>
              <a:t> are greater than </a:t>
            </a:r>
            <a:r>
              <a:rPr lang="en-US" b="1" dirty="0"/>
              <a:t>200</a:t>
            </a:r>
            <a:r>
              <a:rPr lang="en-US" dirty="0"/>
              <a:t>, filter() returns a new array containing </a:t>
            </a:r>
            <a:r>
              <a:rPr lang="en-US" b="1" dirty="0"/>
              <a:t>800</a:t>
            </a:r>
            <a:r>
              <a:rPr lang="en-US" dirty="0"/>
              <a:t> and </a:t>
            </a:r>
            <a:r>
              <a:rPr lang="en-US" b="1" dirty="0"/>
              <a:t>300</a:t>
            </a:r>
            <a:r>
              <a:rPr lang="en-US" dirty="0"/>
              <a:t>.</a:t>
            </a:r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855CF-3F4F-C5B8-851B-295C51B8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3638931"/>
            <a:ext cx="5288936" cy="136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49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D6A1-DEF2-E7FD-FB11-7BCB4590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DB4A74-A089-97ED-128F-9177752EE926}"/>
              </a:ext>
            </a:extLst>
          </p:cNvPr>
          <p:cNvSpPr txBox="1"/>
          <p:nvPr/>
        </p:nvSpPr>
        <p:spPr>
          <a:xfrm>
            <a:off x="1264920" y="671691"/>
            <a:ext cx="7836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20. toString()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converts an array into a string permanently..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toString()</a:t>
            </a:r>
            <a:r>
              <a:rPr lang="en-US" dirty="0"/>
              <a:t> method converts all the elements of an array into a </a:t>
            </a:r>
            <a:r>
              <a:rPr lang="en-US" b="1" dirty="0"/>
              <a:t>single string</a:t>
            </a:r>
            <a:r>
              <a:rPr lang="en-US" dirty="0"/>
              <a:t>. The values are joined together and separated by </a:t>
            </a:r>
            <a:r>
              <a:rPr lang="en-US" b="1" dirty="0"/>
              <a:t>commas (,)</a:t>
            </a:r>
            <a:r>
              <a:rPr lang="en-US" dirty="0"/>
              <a:t>. It does </a:t>
            </a:r>
            <a:r>
              <a:rPr lang="en-US" b="1" dirty="0"/>
              <a:t>not</a:t>
            </a:r>
            <a:r>
              <a:rPr lang="en-US" dirty="0"/>
              <a:t> change the original array; it only returns the string version of it. In this example, the array ["Maha", "Natasha", "Romi", "Alina"] is converted into the string </a:t>
            </a:r>
            <a:r>
              <a:rPr lang="en-US" b="1" dirty="0"/>
              <a:t>"</a:t>
            </a:r>
            <a:r>
              <a:rPr lang="en-US" b="1" dirty="0" err="1"/>
              <a:t>Maha,Natasha,Romi,Alina</a:t>
            </a:r>
            <a:r>
              <a:rPr lang="en-US" b="1" dirty="0"/>
              <a:t>"</a:t>
            </a:r>
            <a:r>
              <a:rPr lang="en-US" dirty="0"/>
              <a:t>, which is then displayed on the webpage.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A5557-D2EF-0C22-E387-17014280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63" y="1586319"/>
            <a:ext cx="7116204" cy="16287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E2AD9B-192E-544A-BBCE-B3FA70CB5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" y="5271681"/>
            <a:ext cx="4693237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95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14D8-966D-B4CC-0D8B-B707B1D9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1190A6-C692-31A8-9768-226DE60B4F98}"/>
              </a:ext>
            </a:extLst>
          </p:cNvPr>
          <p:cNvSpPr txBox="1"/>
          <p:nvPr/>
        </p:nvSpPr>
        <p:spPr>
          <a:xfrm>
            <a:off x="1264920" y="671691"/>
            <a:ext cx="783631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21. valueOf()</a:t>
            </a:r>
            <a:endParaRPr lang="en-US" b="1" u="sng" dirty="0">
              <a:solidFill>
                <a:schemeClr val="accent1"/>
              </a:solidFill>
            </a:endParaRPr>
          </a:p>
          <a:p>
            <a:r>
              <a:rPr lang="en-US" dirty="0"/>
              <a:t>It returns the original array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r>
              <a:rPr lang="en-US" dirty="0"/>
              <a:t>The </a:t>
            </a:r>
            <a:r>
              <a:rPr lang="en-US" b="1" dirty="0"/>
              <a:t>valueOf()</a:t>
            </a:r>
            <a:r>
              <a:rPr lang="en-US" dirty="0"/>
              <a:t> method returns the </a:t>
            </a:r>
            <a:r>
              <a:rPr lang="en-US" b="1" dirty="0"/>
              <a:t>original array</a:t>
            </a:r>
            <a:r>
              <a:rPr lang="en-US" dirty="0"/>
              <a:t> itself. It does not create a new array or change the existing one. In most cases, valueOf() and simply writing the array give the </a:t>
            </a:r>
            <a:r>
              <a:rPr lang="en-US" b="1" dirty="0"/>
              <a:t>same output</a:t>
            </a:r>
            <a:r>
              <a:rPr lang="en-US" dirty="0"/>
              <a:t>. In this example, both rom.valueOf() and rom display </a:t>
            </a:r>
            <a:r>
              <a:rPr lang="en-US" b="1" dirty="0"/>
              <a:t>Maha, Natasha, Romi, Alina</a:t>
            </a:r>
            <a:r>
              <a:rPr lang="en-US" dirty="0"/>
              <a:t>, because valueOf() returns the original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EB0F5-8C88-4C58-1AFE-B4E40366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07"/>
          <a:stretch>
            <a:fillRect/>
          </a:stretch>
        </p:blipFill>
        <p:spPr>
          <a:xfrm>
            <a:off x="1413619" y="1488977"/>
            <a:ext cx="6935192" cy="1613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7AECF5-6345-E669-9BF6-6E74ED156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" y="4986157"/>
            <a:ext cx="4682381" cy="10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82F1-DA7D-6EFB-8617-B53308A5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2968AD-0960-8469-717B-A9DA09180F35}"/>
              </a:ext>
            </a:extLst>
          </p:cNvPr>
          <p:cNvSpPr txBox="1"/>
          <p:nvPr/>
        </p:nvSpPr>
        <p:spPr>
          <a:xfrm>
            <a:off x="1264920" y="671691"/>
            <a:ext cx="78363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22. fill()</a:t>
            </a:r>
          </a:p>
          <a:p>
            <a:r>
              <a:rPr lang="en-US" dirty="0"/>
              <a:t>It replaces array elements with a specified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fill()</a:t>
            </a:r>
            <a:r>
              <a:rPr lang="en-US" dirty="0"/>
              <a:t> method replaces </a:t>
            </a:r>
            <a:r>
              <a:rPr lang="en-US" b="1" dirty="0"/>
              <a:t>all or selected elements</a:t>
            </a:r>
            <a:r>
              <a:rPr lang="en-US" dirty="0"/>
              <a:t> of an array with a new value. It changes the </a:t>
            </a:r>
            <a:r>
              <a:rPr lang="en-US" b="1" dirty="0"/>
              <a:t>original array</a:t>
            </a:r>
            <a:r>
              <a:rPr lang="en-US" dirty="0"/>
              <a:t> instead of creating a new one. In this example, rom.fill("Leena") replaces every name in the array with </a:t>
            </a:r>
            <a:r>
              <a:rPr lang="en-US" b="1" dirty="0"/>
              <a:t>"Leena"</a:t>
            </a:r>
            <a:r>
              <a:rPr lang="en-US" dirty="0"/>
              <a:t>, so the output becomes </a:t>
            </a:r>
            <a:r>
              <a:rPr lang="en-US" b="1" dirty="0"/>
              <a:t>Leena, Leena, Leena.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09E37-3533-7D86-357F-4789B9B1D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3" y="1568641"/>
            <a:ext cx="7107019" cy="1602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F8394B-A743-F678-D3DE-F8E3DF708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83" y="4990785"/>
            <a:ext cx="3827334" cy="77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01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1C7E-4E6E-7D90-FBCE-3BA7A834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E4326-0BEB-D272-4A6C-4ED8C9CBA825}"/>
              </a:ext>
            </a:extLst>
          </p:cNvPr>
          <p:cNvSpPr txBox="1"/>
          <p:nvPr/>
        </p:nvSpPr>
        <p:spPr>
          <a:xfrm>
            <a:off x="1264920" y="671691"/>
            <a:ext cx="78363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23. forEach()</a:t>
            </a:r>
          </a:p>
          <a:p>
            <a:r>
              <a:rPr lang="en-US" dirty="0"/>
              <a:t>It executes a function for every element of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FA5CA-8882-A860-E459-EBBC8E606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72"/>
          <a:stretch>
            <a:fillRect/>
          </a:stretch>
        </p:blipFill>
        <p:spPr>
          <a:xfrm>
            <a:off x="1264920" y="1526418"/>
            <a:ext cx="7352058" cy="40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07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77AE-EAD2-99A5-9E6F-B1D45DFD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14789-4E61-11AF-DBFE-1A88DF32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10"/>
          <a:stretch>
            <a:fillRect/>
          </a:stretch>
        </p:blipFill>
        <p:spPr>
          <a:xfrm>
            <a:off x="6248989" y="1023888"/>
            <a:ext cx="2232561" cy="4447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2540D2-0BD8-7A86-674C-04B6AA9DB0F8}"/>
              </a:ext>
            </a:extLst>
          </p:cNvPr>
          <p:cNvSpPr txBox="1"/>
          <p:nvPr/>
        </p:nvSpPr>
        <p:spPr>
          <a:xfrm>
            <a:off x="1460793" y="1539259"/>
            <a:ext cx="4035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forEach()</a:t>
            </a:r>
            <a:r>
              <a:rPr lang="en-US" dirty="0"/>
              <a:t> method is used to </a:t>
            </a:r>
            <a:r>
              <a:rPr lang="en-US" b="1" dirty="0"/>
              <a:t>go through each element</a:t>
            </a:r>
            <a:r>
              <a:rPr lang="en-US" dirty="0"/>
              <a:t> of an array one by one and perform an action on it. It does not return a new array; it is mainly used to display, print, or work with each element. In this example, the first forEach() prints only the names, while the second forEach() uses a separate function to print both the </a:t>
            </a:r>
            <a:r>
              <a:rPr lang="en-US" b="1" dirty="0"/>
              <a:t>index</a:t>
            </a:r>
            <a:r>
              <a:rPr lang="en-US" dirty="0"/>
              <a:t> and the </a:t>
            </a:r>
            <a:r>
              <a:rPr lang="en-US" b="1" dirty="0"/>
              <a:t>name</a:t>
            </a:r>
            <a:r>
              <a:rPr lang="en-US" dirty="0"/>
              <a:t>. The output shows each name along with its position in the array.</a:t>
            </a:r>
          </a:p>
        </p:txBody>
      </p:sp>
    </p:spTree>
    <p:extLst>
      <p:ext uri="{BB962C8B-B14F-4D97-AF65-F5344CB8AC3E}">
        <p14:creationId xmlns:p14="http://schemas.microsoft.com/office/powerpoint/2010/main" val="1948997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93DD-A595-E0B8-A4A1-ABE216B6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DCCF3A-06D0-4BA5-1F56-F03B80C53075}"/>
              </a:ext>
            </a:extLst>
          </p:cNvPr>
          <p:cNvSpPr txBox="1"/>
          <p:nvPr/>
        </p:nvSpPr>
        <p:spPr>
          <a:xfrm>
            <a:off x="1264920" y="671691"/>
            <a:ext cx="752511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4</a:t>
            </a:r>
            <a:r>
              <a:rPr lang="en-US" b="1">
                <a:solidFill>
                  <a:schemeClr val="accent1"/>
                </a:solidFill>
              </a:rPr>
              <a:t>. </a:t>
            </a:r>
            <a:r>
              <a:rPr lang="en-US" b="1" dirty="0">
                <a:solidFill>
                  <a:schemeClr val="accent1"/>
                </a:solidFill>
              </a:rPr>
              <a:t>map()</a:t>
            </a:r>
          </a:p>
          <a:p>
            <a:r>
              <a:rPr lang="en-US" dirty="0"/>
              <a:t>The </a:t>
            </a:r>
            <a:r>
              <a:rPr lang="en-US" b="1" dirty="0"/>
              <a:t>map()</a:t>
            </a:r>
            <a:r>
              <a:rPr lang="en-US" dirty="0"/>
              <a:t> method goes through each element of an array one by one, performs an operation on each element, and returns a </a:t>
            </a:r>
            <a:r>
              <a:rPr lang="en-US" b="1" dirty="0"/>
              <a:t>new array</a:t>
            </a:r>
            <a:r>
              <a:rPr lang="en-US" dirty="0"/>
              <a:t> with the updated values. It does </a:t>
            </a:r>
            <a:r>
              <a:rPr lang="en-US" b="1" dirty="0"/>
              <a:t>not</a:t>
            </a:r>
            <a:r>
              <a:rPr lang="en-US" dirty="0"/>
              <a:t> change the original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map() method visits each element in the numbers array one by one. Each number is passed to the function as num. The function multiplies the number by 2 and returns the result. After processing all the elements, map() creates a </a:t>
            </a:r>
            <a:r>
              <a:rPr lang="en-US" b="1" dirty="0"/>
              <a:t>new array</a:t>
            </a:r>
            <a:r>
              <a:rPr lang="en-US" dirty="0"/>
              <a:t> with the updated values. The original array remains unchanged.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1B15EA-CD75-DD1E-A3B5-3147DBD51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781" y="2006069"/>
            <a:ext cx="5916863" cy="234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54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01F4-262E-B2EA-BB7A-584FB578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30E154-E5EC-6817-F12B-B7EED7A9C727}"/>
              </a:ext>
            </a:extLst>
          </p:cNvPr>
          <p:cNvSpPr txBox="1"/>
          <p:nvPr/>
        </p:nvSpPr>
        <p:spPr>
          <a:xfrm>
            <a:off x="1185490" y="3643364"/>
            <a:ext cx="75553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/>
                </a:solidFill>
              </a:rPr>
              <a:t>Why do we need Array Methods?</a:t>
            </a:r>
          </a:p>
          <a:p>
            <a:r>
              <a:rPr lang="en-US" dirty="0"/>
              <a:t>Array methods are used to </a:t>
            </a:r>
            <a:r>
              <a:rPr lang="en-US" b="1" dirty="0"/>
              <a:t>easily work with arrays</a:t>
            </a:r>
            <a:r>
              <a:rPr lang="en-US" dirty="0"/>
              <a:t> in JavaScript. They help us </a:t>
            </a:r>
            <a:r>
              <a:rPr lang="en-US" b="1" dirty="0"/>
              <a:t>add, remove, search, sort, and modify data</a:t>
            </a:r>
            <a:r>
              <a:rPr lang="en-US" dirty="0"/>
              <a:t> without writing long codes. They save time, make programs shorter, and make the code easier to understand. For example, instead of using a loop to print every array value, we can use the forEach() method. Array methods are useful when handling large data like student records, products, or user information.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D8325-E806-9ABD-BF1F-F895197B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22"/>
          <a:stretch>
            <a:fillRect/>
          </a:stretch>
        </p:blipFill>
        <p:spPr>
          <a:xfrm>
            <a:off x="1185490" y="623370"/>
            <a:ext cx="4910510" cy="27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85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08511F-FD0E-AB7D-8E60-960761A64C26}"/>
              </a:ext>
            </a:extLst>
          </p:cNvPr>
          <p:cNvSpPr/>
          <p:nvPr/>
        </p:nvSpPr>
        <p:spPr>
          <a:xfrm>
            <a:off x="3680755" y="2810019"/>
            <a:ext cx="35326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639696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554</TotalTime>
  <Words>2149</Words>
  <Application>Microsoft Office PowerPoint</Application>
  <PresentationFormat>Widescreen</PresentationFormat>
  <Paragraphs>429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Romaisa Shahbaz</dc:creator>
  <cp:lastModifiedBy>Romaisa Shahbaz</cp:lastModifiedBy>
  <cp:revision>13</cp:revision>
  <dcterms:created xsi:type="dcterms:W3CDTF">2026-07-13T12:52:03Z</dcterms:created>
  <dcterms:modified xsi:type="dcterms:W3CDTF">2026-07-23T21:50:44Z</dcterms:modified>
</cp:coreProperties>
</file>